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</Types>
</file>

<file path=_rels/.rels><?xml version="1.0" encoding="UTF-8" standalone="yes"?>
<Relationships xmlns="http://schemas.openxmlformats.org/package/2006/relationships">
<Relationship Id="rId1" Type="http://schemas.openxmlformats.org/officeDocument/2006/relationships/officeDocument" Target="ppt/presentation.xml"/>
<Relationship Id="rId2" Type="http://schemas.openxmlformats.org/package/2006/relationships/metadata/core-properties" Target="docProps/core.xml"/>
<Relationship Id="rId3" Type="http://schemas.openxmlformats.org/officeDocument/2006/relationships/extended-properties" Target="docProps/app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</p:sldIdLst>
  <p:sldSz cx="12192000" cy="6858000" type="screen16x9"/>
  <p:notesSz cx="6858000" cy="9144000"/>
  <p:defaultTextStyle>
    <a:defPPr>
      <a:defRPr lang="en-US"/>
    </a:defPPr>
  </p:defaultTextStyle>
</p:presentation>
</file>

<file path=ppt/_rels/presentation.xml.rels><?xml version="1.0" encoding="UTF-8" standalone="yes"?>
<Relationships xmlns="http://schemas.openxmlformats.org/package/2006/relationships">
<Relationship Id="rId1" Type="http://schemas.openxmlformats.org/officeDocument/2006/relationships/slideMaster" Target="slideMasters/slideMaster1.xml"/>
<Relationship Id="rId2" Type="http://schemas.openxmlformats.org/officeDocument/2006/relationships/slide" Target="slides/slide1.xml"/>
<Relationship Id="rId3" Type="http://schemas.openxmlformats.org/officeDocument/2006/relationships/slide" Target="slides/slide2.xml"/>
<Relationship Id="rId4" Type="http://schemas.openxmlformats.org/officeDocument/2006/relationships/slide" Target="slides/slide3.xml"/>
<Relationship Id="rId5" Type="http://schemas.openxmlformats.org/officeDocument/2006/relationships/slide" Target="slides/slide4.xml"/>
<Relationship Id="rId6" Type="http://schemas.openxmlformats.org/officeDocument/2006/relationships/slide" Target="slides/slide5.xml"/>
<Relationship Id="rId7" Type="http://schemas.openxmlformats.org/officeDocument/2006/relationships/slide" Target="slides/slide6.xml"/>
<Relationship Id="rId8" Type="http://schemas.openxmlformats.org/officeDocument/2006/relationships/slide" Target="slides/slide7.xml"/>
<Relationship Id="rId9" Type="http://schemas.openxmlformats.org/officeDocument/2006/relationships/slide" Target="slides/slide8.xml"/>
<Relationship Id="rId10" Type="http://schemas.openxmlformats.org/officeDocument/2006/relationships/slide" Target="slides/slide9.xml"/>
<Relationship Id="rId11" Type="http://schemas.openxmlformats.org/officeDocument/2006/relationships/slide" Target="slides/slide10.xml"/>
<Relationship Id="rId12" Type="http://schemas.openxmlformats.org/officeDocument/2006/relationships/slide" Target="slides/slide11.xml"/>
<Relationship Id="rId13" Type="http://schemas.openxmlformats.org/officeDocument/2006/relationships/slide" Target="slides/slide12.xml"/>
<Relationship Id="rId14" Type="http://schemas.openxmlformats.org/officeDocument/2006/relationships/slide" Target="slides/slide13.xml"/>
<Relationship Id="rId15" Type="http://schemas.openxmlformats.org/officeDocument/2006/relationships/slide" Target="slides/slide14.xml"/>
<Relationship Id="rId16" Type="http://schemas.openxmlformats.org/officeDocument/2006/relationships/slide" Target="slides/slide15.xml"/>
<Relationship Id="rId17" Type="http://schemas.openxmlformats.org/officeDocument/2006/relationships/slide" Target="slides/slide16.xml"/>
<Relationship Id="rId18" Type="http://schemas.openxmlformats.org/officeDocument/2006/relationships/slide" Target="slides/slide17.xml"/>
<Relationship Id="rId19" Type="http://schemas.openxmlformats.org/officeDocument/2006/relationships/slide" Target="slides/slide18.xml"/>
<Relationship Id="rId20" Type="http://schemas.openxmlformats.org/officeDocument/2006/relationships/slide" Target="slides/slide19.xml"/>
<Relationship Id="rId21" Type="http://schemas.openxmlformats.org/officeDocument/2006/relationships/slide" Target="slides/slide20.xml"/>
<Relationship Id="rId22" Type="http://schemas.openxmlformats.org/officeDocument/2006/relationships/slide" Target="slides/slide21.xml"/>
<Relationship Id="rId23" Type="http://schemas.openxmlformats.org/officeDocument/2006/relationships/slide" Target="slides/slide22.xml"/>
<Relationship Id="rId24" Type="http://schemas.openxmlformats.org/officeDocument/2006/relationships/slide" Target="slides/slide23.xml"/>
<Relationship Id="rId25" Type="http://schemas.openxmlformats.org/officeDocument/2006/relationships/slide" Target="slides/slide24.xml"/>
<Relationship Id="rId26" Type="http://schemas.openxmlformats.org/officeDocument/2006/relationships/slide" Target="slides/slide25.xml"/>
<Relationship Id="rId27" Type="http://schemas.openxmlformats.org/officeDocument/2006/relationships/slide" Target="slides/slide26.xml"/>
<Relationship Id="rId28" Type="http://schemas.openxmlformats.org/officeDocument/2006/relationships/slide" Target="slides/slide27.xml"/>
<Relationship Id="rId29" Type="http://schemas.openxmlformats.org/officeDocument/2006/relationships/slide" Target="slides/slide28.xml"/>
<Relationship Id="rId30" Type="http://schemas.openxmlformats.org/officeDocument/2006/relationships/slide" Target="slides/slide29.xml"/>
<Relationship Id="rId31" Type="http://schemas.openxmlformats.org/officeDocument/2006/relationships/slide" Target="slides/slide30.xml"/>
<Relationship Id="rId32" Type="http://schemas.openxmlformats.org/officeDocument/2006/relationships/slide" Target="slides/slide31.xml"/>
<Relationship Id="rId33" Type="http://schemas.openxmlformats.org/officeDocument/2006/relationships/slide" Target="slides/slide32.xml"/>
<Relationship Id="rId34" Type="http://schemas.openxmlformats.org/officeDocument/2006/relationships/slide" Target="slides/slide33.xml"/>
<Relationship Id="rId35" Type="http://schemas.openxmlformats.org/officeDocument/2006/relationships/slide" Target="slides/slide34.xml"/>
<Relationship Id="rId36" Type="http://schemas.openxmlformats.org/officeDocument/2006/relationships/slide" Target="slides/slide35.xml"/>
<Relationship Id="rId37" Type="http://schemas.openxmlformats.org/officeDocument/2006/relationships/slide" Target="slides/slide36.xml"/>
<Relationship Id="rId38" Type="http://schemas.openxmlformats.org/officeDocument/2006/relationships/slide" Target="slides/slide37.xml"/>
<Relationship Id="rId39" Type="http://schemas.openxmlformats.org/officeDocument/2006/relationships/slide" Target="slides/slide38.xml"/>
<Relationship Id="rId40" Type="http://schemas.openxmlformats.org/officeDocument/2006/relationships/slide" Target="slides/slide39.xml"/>
<Relationship Id="rId41" Type="http://schemas.openxmlformats.org/officeDocument/2006/relationships/slide" Target="slides/slide40.xml"/>
<Relationship Id="rId42" Type="http://schemas.openxmlformats.org/officeDocument/2006/relationships/slide" Target="slides/slide41.xml"/>
<Relationship Id="rId43" Type="http://schemas.openxmlformats.org/officeDocument/2006/relationships/slide" Target="slides/slide42.xml"/>
<Relationship Id="rId44" Type="http://schemas.openxmlformats.org/officeDocument/2006/relationships/slide" Target="slides/slide43.xml"/>
<Relationship Id="rId45" Type="http://schemas.openxmlformats.org/officeDocument/2006/relationships/slide" Target="slides/slide44.xml"/>
<Relationship Id="rId46" Type="http://schemas.openxmlformats.org/officeDocument/2006/relationships/notesMaster" Target="notesMasters/notesMaster1.xml"/>
<Relationship Id="rId47" Type="http://schemas.openxmlformats.org/officeDocument/2006/relationships/theme" Target="theme/theme1.xml"/>
</Relationships>
</file>

<file path=ppt/notesMasters/_rels/notesMaster1.xml.rels><?xml version="1.0" encoding="UTF-8" standalone="yes"?>
<Relationships xmlns="http://schemas.openxmlformats.org/package/2006/relationships">
<Relationship Id="rId1" Type="http://schemas.openxmlformats.org/officeDocument/2006/relationships/theme" Target="../theme/theme1.xml"/>
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>
      <a:defRPr sz="1200">
        <a:solidFill>
          <a:srgbClr val="1F2937"/>
        </a:solidFill>
        <a:latin typeface="Calibri"/>
      </a:defRPr>
    </a:lvl1pPr>
  </p:notesStyle>
</p:notesMaster>
</file>

<file path=ppt/notesSlides/_rels/notesSlide34.xml.rels><?xml version="1.0" encoding="UTF-8" standalone="yes"?>
<Relationships xmlns="http://schemas.openxmlformats.org/package/2006/relationships">
<Relationship Id="rId1" Type="http://schemas.openxmlformats.org/officeDocument/2006/relationships/slide" Target="../slides/slide34.xml"/>
<Relationship Id="rId2" Type="http://schemas.openxmlformats.org/officeDocument/2006/relationships/notesMaster" Target="../notesMasters/notesMaster1.xml"/>
</Relationships>
</file>

<file path=ppt/notesSlides/_rels/notesSlide35.xml.rels><?xml version="1.0" encoding="UTF-8" standalone="yes"?>
<Relationships xmlns="http://schemas.openxmlformats.org/package/2006/relationships">
<Relationship Id="rId1" Type="http://schemas.openxmlformats.org/officeDocument/2006/relationships/slide" Target="../slides/slide35.xml"/>
<Relationship Id="rId2" Type="http://schemas.openxmlformats.org/officeDocument/2006/relationships/notesMaster" Target="../notesMasters/notesMaster1.xml"/>
</Relationship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 lang="en-US" sz="1400">
                <a:solidFill>
                  <a:srgbClr val="1F2937"/>
                </a:solidFill>
                <a:latin typeface="Calibri"/>
              </a:rPr>
              <a:t>Every slide in this demo deck has speaker notes attached. Open the deck in PowerPoint and switch to Presenter View to see them.</a:t>
            </a:r>
          </a:p>
          <a:p>
            <a:endParaRPr lang="en-US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 lang="en-US" sz="1400">
                <a:solidFill>
                  <a:srgbClr val="1F2937"/>
                </a:solidFill>
                <a:latin typeface="Calibri"/>
              </a:rPr>
              <a:t>First note - mention the dev cycle.</a:t>
            </a:r>
          </a:p>
          <a:p>
            <a:endParaRPr lang="en-US"/>
          </a:p>
          <a:p>
            <a:pPr/>
            <a:r>
              <a:rPr lang="en-US" sz="1400">
                <a:solidFill>
                  <a:srgbClr val="1F2937"/>
                </a:solidFill>
                <a:latin typeface="Calibri"/>
              </a:rPr>
              <a:t>Second note - acknowledge that PowerPoint and Keynote both render these correctly, but Google Slides drops them on import.</a:t>
            </a:r>
          </a:p>
          <a:p>
            <a:endParaRPr lang="en-US"/>
          </a:p>
          <a:p>
            <a:pPr/>
            <a:r>
              <a:rPr lang="en-US" sz="1400">
                <a:solidFill>
                  <a:srgbClr val="1F2937"/>
                </a:solidFill>
                <a:latin typeface="Calibri"/>
              </a:rPr>
              <a:t>Third note - rehearse this slide twice before going live.</a:t>
            </a:r>
          </a:p>
          <a:p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
<Relationships xmlns="http://schemas.openxmlformats.org/package/2006/relationships">
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2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rtl="0">
        <a:defRPr sz="3200" b="1">
          <a:solidFill>
            <a:srgbClr val="0F172A"/>
          </a:solidFill>
          <a:latin typeface="Calibri Light"/>
        </a:defRPr>
      </a:lvl1pPr>
    </p:titleStyle>
    <p:bodyStyle>
      <a:lvl1pPr>
        <a:defRPr sz="1800">
          <a:solidFill>
            <a:srgbClr val="334155"/>
          </a:solidFill>
          <a:latin typeface="Calibri"/>
        </a:defRPr>
      </a:lvl1pPr>
      <a:lvl2pPr>
        <a:defRPr sz="1600">
          <a:solidFill>
            <a:srgbClr val="334155"/>
          </a:solidFill>
          <a:latin typeface="Calibri"/>
        </a:defRPr>
      </a:lvl2pPr>
      <a:lvl3pPr>
        <a:defRPr sz="1500">
          <a:solidFill>
            <a:srgbClr val="334155"/>
          </a:solidFill>
          <a:latin typeface="Calibri"/>
        </a:defRPr>
      </a:lvl3pPr>
    </p:bodyStyle>
    <p:otherStyle>
      <a:lvl1pPr>
        <a:defRPr sz="1800">
          <a:latin typeface="Calibri"/>
        </a:defRPr>
      </a:lvl1pPr>
    </p:otherStyle>
  </p:txStyles>
</p:sldMaster>
</file>

<file path=ppt/slides/_rels/slide1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2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3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4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2" Type="http://schemas.openxmlformats.org/officeDocument/2006/relationships/hyperlink" Target="https://example.com" TargetMode="External"/>
</Relationships>
</file>

<file path=ppt/slides/_rels/slide5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6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7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8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9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10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11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12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13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14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15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16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17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18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19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20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21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22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23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24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25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26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27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28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29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30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31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2" Type="http://schemas.openxmlformats.org/officeDocument/2006/relationships/image" Target="../media/image1.png"/>
</Relationships>
</file>

<file path=ppt/slides/_rels/slide32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2" Type="http://schemas.openxmlformats.org/officeDocument/2006/relationships/image" Target="../media/image2.png"/>
</Relationships>
</file>

<file path=ppt/slides/_rels/slide33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34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2" Type="http://schemas.openxmlformats.org/officeDocument/2006/relationships/notesSlide" Target="../notesSlides/notesSlide34.xml"/>
</Relationships>
</file>

<file path=ppt/slides/_rels/slide35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2" Type="http://schemas.openxmlformats.org/officeDocument/2006/relationships/notesSlide" Target="../notesSlides/notesSlide35.xml"/>
</Relationships>
</file>

<file path=ppt/slides/_rels/slide36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37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38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39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40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41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42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43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44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TopStripe100"/>
          <p:cNvSpPr/>
          <p:nvPr/>
        </p:nvSpPr>
        <p:spPr>
          <a:xfrm>
            <a:off x="0" y="0"/>
            <a:ext cx="12192000" cy="36000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txBody>
          <a:bodyPr wrap="square" anchor="ctr"/>
          <a:lstStyle/>
          <a:p>
            <a:endParaRPr lang="en-US"/>
          </a:p>
        </p:txBody>
      </p:sp>
      <p:sp>
        <p:nvSpPr>
          <p:cNvPr id="101" name="AccentBar101"/>
          <p:cNvSpPr/>
          <p:nvPr/>
        </p:nvSpPr>
        <p:spPr>
          <a:xfrm>
            <a:off x="600000" y="1729000"/>
            <a:ext cx="100000" cy="60000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txBody>
          <a:bodyPr wrap="square" anchor="ctr"/>
          <a:lstStyle/>
          <a:p>
            <a:endParaRPr lang="en-US"/>
          </a:p>
        </p:txBody>
      </p:sp>
      <p:sp>
        <p:nvSpPr>
          <p:cNvPr id="102" name="Title102"/>
          <p:cNvSpPr txBox="1"/>
          <p:nvPr/>
        </p:nvSpPr>
        <p:spPr>
          <a:xfrm>
            <a:off x="800000" y="1829000"/>
            <a:ext cx="10992000" cy="140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US" sz="5400" dirty="0" b="1">
                <a:solidFill>
                  <a:srgbClr val="0F172A"/>
                </a:solidFill>
                <a:latin typeface="Calibri Light"/>
                <a:ea typeface="Calibri Light"/>
                <a:cs typeface="Calibri Light"/>
              </a:rPr>
              <a:t>md2any</a:t>
            </a:r>
          </a:p>
        </p:txBody>
      </p:sp>
      <p:sp>
        <p:nvSpPr>
          <p:cNvPr id="103" name="Subtitle103"/>
          <p:cNvSpPr txBox="1"/>
          <p:nvPr/>
        </p:nvSpPr>
        <p:spPr>
          <a:xfrm>
            <a:off x="800000" y="3229000"/>
            <a:ext cx="10992000" cy="70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US" sz="2400" dirty="0">
                <a:solidFill>
                  <a:srgbClr val="0EA5E9"/>
                </a:solidFill>
                <a:latin typeface="Calibri"/>
                <a:ea typeface="Calibri"/>
                <a:cs typeface="Calibri"/>
              </a:rPr>
              <a:t>Markdown to PowerPoint, the fast way</a:t>
            </a:r>
          </a:p>
        </p:txBody>
      </p:sp>
      <p:sp>
        <p:nvSpPr>
          <p:cNvPr id="104" name="TitleFooter104"/>
          <p:cNvSpPr txBox="1"/>
          <p:nvPr/>
        </p:nvSpPr>
        <p:spPr>
          <a:xfrm>
            <a:off x="800000" y="6158000"/>
            <a:ext cx="10992000" cy="40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US" sz="1400" dirty="0">
                <a:solidFill>
                  <a:srgbClr val="94A3B8"/>
                </a:solidFill>
                <a:latin typeface="Calibri"/>
                <a:ea typeface="Calibri"/>
                <a:cs typeface="Calibri"/>
              </a:rPr>
              <a:t>Paul Anderson  ·  2026-05-22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Marker100"/>
          <p:cNvSpPr/>
          <p:nvPr/>
        </p:nvSpPr>
        <p:spPr>
          <a:xfrm>
            <a:off x="5496000" y="2429000"/>
            <a:ext cx="1200000" cy="60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wrap="square" anchor="ctr"/>
          <a:lstStyle/>
          <a:p>
            <a:endParaRPr lang="en-US"/>
          </a:p>
        </p:txBody>
      </p:sp>
      <p:sp>
        <p:nvSpPr>
          <p:cNvPr id="101" name="SectionTitle101"/>
          <p:cNvSpPr txBox="1"/>
          <p:nvPr/>
        </p:nvSpPr>
        <p:spPr>
          <a:xfrm>
            <a:off x="800000" y="2729000"/>
            <a:ext cx="10592000" cy="150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</a:pPr>
            <a:r>
              <a:rPr lang="en-US" sz="5400" dirty="0" b="1">
                <a:solidFill>
                  <a:srgbClr val="F8FAFC"/>
                </a:solidFill>
                <a:latin typeface="Calibri Light"/>
                <a:ea typeface="Calibri Light"/>
                <a:cs typeface="Calibri Light"/>
              </a:rPr>
              <a:t>Why this exists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Title100"/>
          <p:cNvSpPr txBox="1"/>
          <p:nvPr/>
        </p:nvSpPr>
        <p:spPr>
          <a:xfrm>
            <a:off x="533400" y="360000"/>
            <a:ext cx="11125200" cy="72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US" sz="2800" dirty="0" b="1">
                <a:solidFill>
                  <a:srgbClr val="0F172A"/>
                </a:solidFill>
                <a:latin typeface="Calibri Light"/>
                <a:ea typeface="Calibri Light"/>
                <a:cs typeface="Calibri Light"/>
              </a:rPr>
              <a:t>Why this exists</a:t>
            </a:r>
          </a:p>
        </p:txBody>
      </p:sp>
      <p:sp>
        <p:nvSpPr>
          <p:cNvPr id="101" name="TitleAccent101"/>
          <p:cNvSpPr/>
          <p:nvPr/>
        </p:nvSpPr>
        <p:spPr>
          <a:xfrm>
            <a:off x="533400" y="1110000"/>
            <a:ext cx="400000" cy="5000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txBody>
          <a:bodyPr wrap="square" anchor="ctr"/>
          <a:lstStyle/>
          <a:p>
            <a:endParaRPr lang="en-US"/>
          </a:p>
        </p:txBody>
      </p:sp>
      <p:sp>
        <p:nvSpPr>
          <p:cNvPr id="102" name="TitleDivider102"/>
          <p:cNvSpPr/>
          <p:nvPr/>
        </p:nvSpPr>
        <p:spPr>
          <a:xfrm>
            <a:off x="953400" y="1128000"/>
            <a:ext cx="10705200" cy="140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wrap="square" anchor="ctr"/>
          <a:lstStyle/>
          <a:p>
            <a:endParaRPr lang="en-US"/>
          </a:p>
        </p:txBody>
      </p:sp>
      <p:sp>
        <p:nvSpPr>
          <p:cNvPr id="103" name="Para103"/>
          <p:cNvSpPr txBox="1"/>
          <p:nvPr/>
        </p:nvSpPr>
        <p:spPr>
          <a:xfrm>
            <a:off x="533400" y="1310000"/>
            <a:ext cx="11125200" cy="60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US" sz="1800" dirty="0">
                <a:solidFill>
                  <a:srgbClr val="334155"/>
                </a:solidFill>
                <a:latin typeface="Calibri"/>
                <a:ea typeface="Calibri"/>
                <a:cs typeface="Calibri"/>
              </a:rPr>
              <a:t>Slide tools are heavy, hand-coded HTML decks rot, and PowerPoint refuses to die.</a:t>
            </a:r>
          </a:p>
        </p:txBody>
      </p:sp>
      <p:sp>
        <p:nvSpPr>
          <p:cNvPr id="104" name="Para104"/>
          <p:cNvSpPr txBox="1"/>
          <p:nvPr/>
        </p:nvSpPr>
        <p:spPr>
          <a:xfrm>
            <a:off x="533400" y="1990000"/>
            <a:ext cx="11125200" cy="60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US" sz="1800" dirty="0">
                <a:solidFill>
                  <a:srgbClr val="334155"/>
                </a:solidFill>
                <a:latin typeface="Calibri"/>
                <a:ea typeface="Calibri"/>
                <a:cs typeface="Calibri"/>
              </a:rPr>
              <a:t>A single Rust binary that turns plain Markdown into a clean </a:t>
            </a:r>
            <a:r>
              <a:rPr lang="en-US" sz="1800" dirty="0">
                <a:solidFill>
                  <a:srgbClr val="0369A1"/>
                </a:solidFill>
                <a:latin typeface="Consolas"/>
                <a:ea typeface="Consolas"/>
                <a:cs typeface="Consolas"/>
              </a:rPr>
              <a:t>.pptx</a:t>
            </a:r>
            <a:r>
              <a:rPr lang="en-US" sz="1800" dirty="0">
                <a:solidFill>
                  <a:srgbClr val="334155"/>
                </a:solidFill>
                <a:latin typeface="Calibri"/>
                <a:ea typeface="Calibri"/>
                <a:cs typeface="Calibri"/>
              </a:rPr>
              <a:t> file is the right shape for the job. Edit in your favorite editor. Render in a heartbeat. Ship.</a:t>
            </a:r>
          </a:p>
        </p:txBody>
      </p:sp>
      <p:sp>
        <p:nvSpPr>
          <p:cNvPr id="105" name="DeckFooter105"/>
          <p:cNvSpPr txBox="1"/>
          <p:nvPr/>
        </p:nvSpPr>
        <p:spPr>
          <a:xfrm>
            <a:off x="533400" y="6458000"/>
            <a:ext cx="10325200" cy="30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US" sz="1000" dirty="0">
                <a:solidFill>
                  <a:srgbClr val="94A3B8"/>
                </a:solidFill>
                <a:latin typeface="Calibri"/>
                <a:ea typeface="Calibri"/>
                <a:cs typeface="Calibri"/>
              </a:rPr>
              <a:t>md2any</a:t>
            </a:r>
          </a:p>
        </p:txBody>
      </p:sp>
      <p:sp>
        <p:nvSpPr>
          <p:cNvPr id="106" name="PageNum106"/>
          <p:cNvSpPr txBox="1"/>
          <p:nvPr/>
        </p:nvSpPr>
        <p:spPr>
          <a:xfrm>
            <a:off x="10858600" y="6458000"/>
            <a:ext cx="800000" cy="30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buNone/>
            </a:pPr>
            <a:r>
              <a:rPr lang="en-US" sz="1000" dirty="0">
                <a:solidFill>
                  <a:srgbClr val="94A3B8"/>
                </a:solidFill>
                <a:latin typeface="Calibri"/>
                <a:ea typeface="Calibri"/>
                <a:cs typeface="Calibri"/>
              </a:rPr>
              <a:t>3 / 44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Title100"/>
          <p:cNvSpPr txBox="1"/>
          <p:nvPr/>
        </p:nvSpPr>
        <p:spPr>
          <a:xfrm>
            <a:off x="533400" y="360000"/>
            <a:ext cx="11125200" cy="72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US" sz="2800" dirty="0" b="1">
                <a:solidFill>
                  <a:srgbClr val="0F172A"/>
                </a:solidFill>
                <a:latin typeface="Calibri Light"/>
                <a:ea typeface="Calibri Light"/>
                <a:cs typeface="Calibri Light"/>
              </a:rPr>
              <a:t>What you get</a:t>
            </a:r>
          </a:p>
        </p:txBody>
      </p:sp>
      <p:sp>
        <p:nvSpPr>
          <p:cNvPr id="101" name="TitleAccent101"/>
          <p:cNvSpPr/>
          <p:nvPr/>
        </p:nvSpPr>
        <p:spPr>
          <a:xfrm>
            <a:off x="533400" y="1110000"/>
            <a:ext cx="400000" cy="5000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txBody>
          <a:bodyPr wrap="square" anchor="ctr"/>
          <a:lstStyle/>
          <a:p>
            <a:endParaRPr lang="en-US"/>
          </a:p>
        </p:txBody>
      </p:sp>
      <p:sp>
        <p:nvSpPr>
          <p:cNvPr id="102" name="TitleDivider102"/>
          <p:cNvSpPr/>
          <p:nvPr/>
        </p:nvSpPr>
        <p:spPr>
          <a:xfrm>
            <a:off x="953400" y="1128000"/>
            <a:ext cx="10705200" cy="140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wrap="square" anchor="ctr"/>
          <a:lstStyle/>
          <a:p>
            <a:endParaRPr lang="en-US"/>
          </a:p>
        </p:txBody>
      </p:sp>
      <p:sp>
        <p:nvSpPr>
          <p:cNvPr id="103" name="List103"/>
          <p:cNvSpPr txBox="1"/>
          <p:nvPr/>
        </p:nvSpPr>
        <p:spPr>
          <a:xfrm>
            <a:off x="533400" y="1310000"/>
            <a:ext cx="11125200" cy="5048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228600" indent="-228600" lvl="0" algn="l">
              <a:buClr>
                <a:srgbClr val="0EA5E9"/>
              </a:buClr>
              <a:buFont typeface="Arial"/>
              <a:buChar char="●"/>
            </a:pPr>
            <a:r>
              <a:rPr lang="en-US" sz="1800" dirty="0">
                <a:solidFill>
                  <a:srgbClr val="334155"/>
                </a:solidFill>
                <a:latin typeface="Calibri"/>
                <a:ea typeface="Calibri"/>
                <a:cs typeface="Calibri"/>
              </a:rPr>
              <a:t>Real </a:t>
            </a:r>
            <a:r>
              <a:rPr lang="en-US" sz="1800" dirty="0">
                <a:solidFill>
                  <a:srgbClr val="0369A1"/>
                </a:solidFill>
                <a:latin typeface="Consolas"/>
                <a:ea typeface="Consolas"/>
                <a:cs typeface="Consolas"/>
              </a:rPr>
              <a:t>.pptx</a:t>
            </a:r>
            <a:r>
              <a:rPr lang="en-US" sz="1800" dirty="0">
                <a:solidFill>
                  <a:srgbClr val="334155"/>
                </a:solidFill>
                <a:latin typeface="Calibri"/>
                <a:ea typeface="Calibri"/>
                <a:cs typeface="Calibri"/>
              </a:rPr>
              <a:t> output — opens in PowerPoint, Keynote, LibreOffice, Google Slides</a:t>
            </a:r>
          </a:p>
          <a:p>
            <a:pPr marL="228600" indent="-228600" lvl="0" algn="l">
              <a:buClr>
                <a:srgbClr val="0EA5E9"/>
              </a:buClr>
              <a:buFont typeface="Arial"/>
              <a:buChar char="●"/>
            </a:pPr>
            <a:r>
              <a:rPr lang="en-US" sz="1800" dirty="0">
                <a:solidFill>
                  <a:srgbClr val="334155"/>
                </a:solidFill>
                <a:latin typeface="Calibri"/>
                <a:ea typeface="Calibri"/>
                <a:cs typeface="Calibri"/>
              </a:rPr>
              <a:t>Light and dark themes, 16:9, 4:3, and portrait</a:t>
            </a:r>
          </a:p>
          <a:p>
            <a:pPr marL="228600" indent="-228600" lvl="0" algn="l">
              <a:buClr>
                <a:srgbClr val="0EA5E9"/>
              </a:buClr>
              <a:buFont typeface="Arial"/>
              <a:buChar char="●"/>
            </a:pPr>
            <a:r>
              <a:rPr lang="en-US" sz="1800" dirty="0">
                <a:solidFill>
                  <a:srgbClr val="334155"/>
                </a:solidFill>
                <a:latin typeface="Calibri"/>
                <a:ea typeface="Calibri"/>
                <a:cs typeface="Calibri"/>
              </a:rPr>
              <a:t>Auto-pagination of long content into continuation slides</a:t>
            </a:r>
          </a:p>
          <a:p>
            <a:pPr marL="228600" indent="-228600" lvl="0" algn="l">
              <a:buClr>
                <a:srgbClr val="0EA5E9"/>
              </a:buClr>
              <a:buFont typeface="Arial"/>
              <a:buChar char="●"/>
            </a:pPr>
            <a:r>
              <a:rPr lang="en-US" sz="1800" dirty="0">
                <a:solidFill>
                  <a:srgbClr val="334155"/>
                </a:solidFill>
                <a:latin typeface="Calibri"/>
                <a:ea typeface="Calibri"/>
                <a:cs typeface="Calibri"/>
              </a:rPr>
              <a:t>Side-by-side columns with </a:t>
            </a:r>
            <a:r>
              <a:rPr lang="en-US" sz="1800" dirty="0">
                <a:solidFill>
                  <a:srgbClr val="0369A1"/>
                </a:solidFill>
                <a:latin typeface="Consolas"/>
                <a:ea typeface="Consolas"/>
                <a:cs typeface="Consolas"/>
              </a:rPr>
              <a:t>:::</a:t>
            </a:r>
          </a:p>
          <a:p>
            <a:pPr marL="228600" indent="-228600" lvl="0" algn="l">
              <a:buClr>
                <a:srgbClr val="0EA5E9"/>
              </a:buClr>
              <a:buFont typeface="Arial"/>
              <a:buChar char="●"/>
            </a:pPr>
            <a:r>
              <a:rPr lang="en-US" sz="1800" dirty="0">
                <a:solidFill>
                  <a:srgbClr val="334155"/>
                </a:solidFill>
                <a:latin typeface="Calibri"/>
                <a:ea typeface="Calibri"/>
                <a:cs typeface="Calibri"/>
              </a:rPr>
              <a:t>Auto two-column layout for long lists</a:t>
            </a:r>
          </a:p>
          <a:p>
            <a:pPr marL="228600" indent="-228600" lvl="0" algn="l">
              <a:buClr>
                <a:srgbClr val="0EA5E9"/>
              </a:buClr>
              <a:buFont typeface="Arial"/>
              <a:buChar char="●"/>
            </a:pPr>
            <a:r>
              <a:rPr lang="en-US" sz="1800" dirty="0">
                <a:solidFill>
                  <a:srgbClr val="334155"/>
                </a:solidFill>
                <a:latin typeface="Calibri"/>
                <a:ea typeface="Calibri"/>
                <a:cs typeface="Calibri"/>
              </a:rPr>
              <a:t>Code listings with filenames, line numbers, language tags</a:t>
            </a:r>
          </a:p>
          <a:p>
            <a:pPr marL="228600" indent="-228600" lvl="0" algn="l">
              <a:buClr>
                <a:srgbClr val="0EA5E9"/>
              </a:buClr>
              <a:buFont typeface="Arial"/>
              <a:buChar char="●"/>
            </a:pPr>
            <a:r>
              <a:rPr lang="en-US" sz="1800" dirty="0">
                <a:solidFill>
                  <a:srgbClr val="334155"/>
                </a:solidFill>
                <a:latin typeface="Calibri"/>
                <a:ea typeface="Calibri"/>
                <a:cs typeface="Calibri"/>
              </a:rPr>
              <a:t>Bullets, nested lists, code blocks, tables, blockquotes</a:t>
            </a:r>
          </a:p>
          <a:p>
            <a:pPr marL="228600" indent="-228600" lvl="0" algn="l">
              <a:buClr>
                <a:srgbClr val="0EA5E9"/>
              </a:buClr>
              <a:buFont typeface="Arial"/>
              <a:buChar char="●"/>
            </a:pPr>
            <a:r>
              <a:rPr lang="en-US" sz="1800" dirty="0">
                <a:solidFill>
                  <a:srgbClr val="334155"/>
                </a:solidFill>
                <a:latin typeface="Calibri"/>
                <a:ea typeface="Calibri"/>
                <a:cs typeface="Calibri"/>
              </a:rPr>
              <a:t>Bold, </a:t>
            </a:r>
            <a:r>
              <a:rPr lang="en-US" sz="1800" dirty="0" i="1">
                <a:solidFill>
                  <a:srgbClr val="334155"/>
                </a:solidFill>
                <a:latin typeface="Calibri"/>
                <a:ea typeface="Calibri"/>
                <a:cs typeface="Calibri"/>
              </a:rPr>
              <a:t>italic</a:t>
            </a:r>
            <a:r>
              <a:rPr lang="en-US" sz="1800" dirty="0">
                <a:solidFill>
                  <a:srgbClr val="334155"/>
                </a:solidFill>
                <a:latin typeface="Calibri"/>
                <a:ea typeface="Calibri"/>
                <a:cs typeface="Calibri"/>
              </a:rPr>
              <a:t>, </a:t>
            </a:r>
            <a:r>
              <a:rPr lang="en-US" sz="1800" dirty="0">
                <a:solidFill>
                  <a:srgbClr val="0369A1"/>
                </a:solidFill>
                <a:latin typeface="Consolas"/>
                <a:ea typeface="Consolas"/>
                <a:cs typeface="Consolas"/>
              </a:rPr>
              <a:t>inline code</a:t>
            </a:r>
            <a:r>
              <a:rPr lang="en-US" sz="1800" dirty="0">
                <a:solidFill>
                  <a:srgbClr val="334155"/>
                </a:solidFill>
                <a:latin typeface="Calibri"/>
                <a:ea typeface="Calibri"/>
                <a:cs typeface="Calibri"/>
              </a:rPr>
              <a:t>, </a:t>
            </a:r>
            <a:r>
              <a:rPr lang="en-US" sz="1800" dirty="0" strike="sngStrike">
                <a:solidFill>
                  <a:srgbClr val="334155"/>
                </a:solidFill>
                <a:latin typeface="Calibri"/>
                <a:ea typeface="Calibri"/>
                <a:cs typeface="Calibri"/>
              </a:rPr>
              <a:t>strikethrough</a:t>
            </a:r>
            <a:r>
              <a:rPr lang="en-US" sz="1800" dirty="0">
                <a:solidFill>
                  <a:srgbClr val="334155"/>
                </a:solidFill>
                <a:latin typeface="Calibri"/>
                <a:ea typeface="Calibri"/>
                <a:cs typeface="Calibri"/>
              </a:rPr>
              <a:t>, </a:t>
            </a:r>
            <a:r>
              <a:rPr lang="en-US" sz="1800" dirty="0" u="sng">
                <a:solidFill>
                  <a:srgbClr val="0EA5E9"/>
                </a:solidFill>
                <a:latin typeface="Calibri"/>
                <a:ea typeface="Calibri"/>
                <a:cs typeface="Calibri"/>
                <a:hlinkClick r:id="rId2"/>
              </a:rPr>
              <a:t>links</a:t>
            </a:r>
          </a:p>
          <a:p>
            <a:pPr marL="228600" indent="-228600" lvl="0" algn="l">
              <a:buClr>
                <a:srgbClr val="0EA5E9"/>
              </a:buClr>
              <a:buFont typeface="Arial"/>
              <a:buChar char="●"/>
            </a:pPr>
            <a:r>
              <a:rPr lang="en-US" sz="1800" dirty="0">
                <a:solidFill>
                  <a:srgbClr val="334155"/>
                </a:solidFill>
                <a:latin typeface="Calibri"/>
                <a:ea typeface="Calibri"/>
                <a:cs typeface="Calibri"/>
              </a:rPr>
              <a:t>Front-matter YAML for deck metadata</a:t>
            </a:r>
          </a:p>
          <a:p>
            <a:pPr marL="228600" indent="-228600" lvl="0" algn="l">
              <a:buClr>
                <a:srgbClr val="0EA5E9"/>
              </a:buClr>
              <a:buFont typeface="Arial"/>
              <a:buChar char="●"/>
            </a:pPr>
            <a:r>
              <a:rPr lang="en-US" sz="1800" dirty="0">
                <a:solidFill>
                  <a:srgbClr val="334155"/>
                </a:solidFill>
                <a:latin typeface="Calibri"/>
                <a:ea typeface="Calibri"/>
                <a:cs typeface="Calibri"/>
              </a:rPr>
              <a:t>A single binary, no runtime dependencies</a:t>
            </a:r>
          </a:p>
        </p:txBody>
      </p:sp>
      <p:sp>
        <p:nvSpPr>
          <p:cNvPr id="104" name="DeckFooter104"/>
          <p:cNvSpPr txBox="1"/>
          <p:nvPr/>
        </p:nvSpPr>
        <p:spPr>
          <a:xfrm>
            <a:off x="533400" y="6458000"/>
            <a:ext cx="10325200" cy="30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US" sz="1000" dirty="0">
                <a:solidFill>
                  <a:srgbClr val="94A3B8"/>
                </a:solidFill>
                <a:latin typeface="Calibri"/>
                <a:ea typeface="Calibri"/>
                <a:cs typeface="Calibri"/>
              </a:rPr>
              <a:t>md2any</a:t>
            </a:r>
          </a:p>
        </p:txBody>
      </p:sp>
      <p:sp>
        <p:nvSpPr>
          <p:cNvPr id="105" name="PageNum105"/>
          <p:cNvSpPr txBox="1"/>
          <p:nvPr/>
        </p:nvSpPr>
        <p:spPr>
          <a:xfrm>
            <a:off x="10858600" y="6458000"/>
            <a:ext cx="800000" cy="30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buNone/>
            </a:pPr>
            <a:r>
              <a:rPr lang="en-US" sz="1000" dirty="0">
                <a:solidFill>
                  <a:srgbClr val="94A3B8"/>
                </a:solidFill>
                <a:latin typeface="Calibri"/>
                <a:ea typeface="Calibri"/>
                <a:cs typeface="Calibri"/>
              </a:rPr>
              <a:t>4 / 44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Marker100"/>
          <p:cNvSpPr/>
          <p:nvPr/>
        </p:nvSpPr>
        <p:spPr>
          <a:xfrm>
            <a:off x="5496000" y="2429000"/>
            <a:ext cx="1200000" cy="60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wrap="square" anchor="ctr"/>
          <a:lstStyle/>
          <a:p>
            <a:endParaRPr lang="en-US"/>
          </a:p>
        </p:txBody>
      </p:sp>
      <p:sp>
        <p:nvSpPr>
          <p:cNvPr id="101" name="SectionTitle101"/>
          <p:cNvSpPr txBox="1"/>
          <p:nvPr/>
        </p:nvSpPr>
        <p:spPr>
          <a:xfrm>
            <a:off x="800000" y="2729000"/>
            <a:ext cx="10592000" cy="150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</a:pPr>
            <a:r>
              <a:rPr lang="en-US" sz="5400" dirty="0" b="1">
                <a:solidFill>
                  <a:srgbClr val="F8FAFC"/>
                </a:solidFill>
                <a:latin typeface="Calibri Light"/>
                <a:ea typeface="Calibri Light"/>
                <a:cs typeface="Calibri Light"/>
              </a:rPr>
              <a:t>Layout features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Title100"/>
          <p:cNvSpPr txBox="1"/>
          <p:nvPr/>
        </p:nvSpPr>
        <p:spPr>
          <a:xfrm>
            <a:off x="533400" y="360000"/>
            <a:ext cx="11125200" cy="72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US" sz="2800" dirty="0" b="1">
                <a:solidFill>
                  <a:srgbClr val="0F172A"/>
                </a:solidFill>
                <a:latin typeface="Calibri Light"/>
                <a:ea typeface="Calibri Light"/>
                <a:cs typeface="Calibri Light"/>
              </a:rPr>
              <a:t>Side-by-side columns</a:t>
            </a:r>
          </a:p>
        </p:txBody>
      </p:sp>
      <p:sp>
        <p:nvSpPr>
          <p:cNvPr id="101" name="TitleAccent101"/>
          <p:cNvSpPr/>
          <p:nvPr/>
        </p:nvSpPr>
        <p:spPr>
          <a:xfrm>
            <a:off x="533400" y="1110000"/>
            <a:ext cx="400000" cy="5000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txBody>
          <a:bodyPr wrap="square" anchor="ctr"/>
          <a:lstStyle/>
          <a:p>
            <a:endParaRPr lang="en-US"/>
          </a:p>
        </p:txBody>
      </p:sp>
      <p:sp>
        <p:nvSpPr>
          <p:cNvPr id="102" name="TitleDivider102"/>
          <p:cNvSpPr/>
          <p:nvPr/>
        </p:nvSpPr>
        <p:spPr>
          <a:xfrm>
            <a:off x="953400" y="1128000"/>
            <a:ext cx="10705200" cy="140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wrap="square" anchor="ctr"/>
          <a:lstStyle/>
          <a:p>
            <a:endParaRPr lang="en-US"/>
          </a:p>
        </p:txBody>
      </p:sp>
      <p:sp>
        <p:nvSpPr>
          <p:cNvPr id="103" name="Para103"/>
          <p:cNvSpPr txBox="1"/>
          <p:nvPr/>
        </p:nvSpPr>
        <p:spPr>
          <a:xfrm>
            <a:off x="533400" y="1310000"/>
            <a:ext cx="11125200" cy="60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US" sz="1800" dirty="0">
                <a:solidFill>
                  <a:srgbClr val="334155"/>
                </a:solidFill>
                <a:latin typeface="Calibri"/>
                <a:ea typeface="Calibri"/>
                <a:cs typeface="Calibri"/>
              </a:rPr>
              <a:t>Put </a:t>
            </a:r>
            <a:r>
              <a:rPr lang="en-US" sz="1800" dirty="0">
                <a:solidFill>
                  <a:srgbClr val="0369A1"/>
                </a:solidFill>
                <a:latin typeface="Consolas"/>
                <a:ea typeface="Consolas"/>
                <a:cs typeface="Consolas"/>
              </a:rPr>
              <a:t>:::</a:t>
            </a:r>
            <a:r>
              <a:rPr lang="en-US" sz="1800" dirty="0">
                <a:solidFill>
                  <a:srgbClr val="334155"/>
                </a:solidFill>
                <a:latin typeface="Calibri"/>
                <a:ea typeface="Calibri"/>
                <a:cs typeface="Calibri"/>
              </a:rPr>
              <a:t> on a line by itself to split a slide horizontally.</a:t>
            </a:r>
          </a:p>
        </p:txBody>
      </p:sp>
      <p:sp>
        <p:nvSpPr>
          <p:cNvPr id="104" name="Heading104"/>
          <p:cNvSpPr txBox="1"/>
          <p:nvPr/>
        </p:nvSpPr>
        <p:spPr>
          <a:xfrm>
            <a:off x="533400" y="1990000"/>
            <a:ext cx="11125200" cy="52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US" sz="2400" dirty="0" b="1">
                <a:solidFill>
                  <a:srgbClr val="0F172A"/>
                </a:solidFill>
                <a:latin typeface="Calibri Light"/>
                <a:ea typeface="Calibri Light"/>
                <a:cs typeface="Calibri Light"/>
              </a:rPr>
              <a:t>Markdown</a:t>
            </a:r>
          </a:p>
        </p:txBody>
      </p:sp>
      <p:sp>
        <p:nvSpPr>
          <p:cNvPr id="105" name="CodeBox105"/>
          <p:cNvSpPr/>
          <p:nvPr/>
        </p:nvSpPr>
        <p:spPr>
          <a:xfrm>
            <a:off x="533400" y="2590000"/>
            <a:ext cx="11125200" cy="2280000"/>
          </a:xfrm>
          <a:prstGeom prst="roundRect">
            <a:avLst>
              <a:gd name="adj" fmla="val 4500"/>
            </a:avLst>
          </a:prstGeom>
          <a:solidFill>
            <a:srgbClr val="F1F5F9"/>
          </a:solidFill>
          <a:ln w="6350">
            <a:solidFill>
              <a:srgbClr val="E2E8F0"/>
            </a:solidFill>
          </a:ln>
        </p:spPr>
        <p:txBody>
          <a:bodyPr wrap="square" lIns="180000" tIns="120000" rIns="180000" bIns="12000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dirty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1  </a:t>
            </a:r>
            <a:r>
              <a:rPr lang="en-US" sz="1500" dirty="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## Slide title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dirty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2  </a:t>
            </a:r>
            <a:r>
              <a:rPr lang="en-US" sz="1500" dirty="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dirty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3  </a:t>
            </a:r>
            <a:r>
              <a:rPr lang="en-US" sz="1500" dirty="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Left column content here.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dirty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4  </a:t>
            </a:r>
            <a:r>
              <a:rPr lang="en-US" sz="1500" dirty="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dirty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5  </a:t>
            </a:r>
            <a:r>
              <a:rPr lang="en-US" sz="1500" dirty="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:::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dirty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6  </a:t>
            </a:r>
            <a:r>
              <a:rPr lang="en-US" sz="1500" dirty="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dirty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7  </a:t>
            </a:r>
            <a:r>
              <a:rPr lang="en-US" sz="1500" dirty="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Right column content here.</a:t>
            </a:r>
          </a:p>
        </p:txBody>
      </p:sp>
      <p:sp>
        <p:nvSpPr>
          <p:cNvPr id="106" name="Heading106"/>
          <p:cNvSpPr txBox="1"/>
          <p:nvPr/>
        </p:nvSpPr>
        <p:spPr>
          <a:xfrm>
            <a:off x="533400" y="4950000"/>
            <a:ext cx="11125200" cy="52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US" sz="2400" dirty="0" b="1">
                <a:solidFill>
                  <a:srgbClr val="0F172A"/>
                </a:solidFill>
                <a:latin typeface="Calibri Light"/>
                <a:ea typeface="Calibri Light"/>
                <a:cs typeface="Calibri Light"/>
              </a:rPr>
              <a:t>Rendered</a:t>
            </a:r>
          </a:p>
        </p:txBody>
      </p:sp>
      <p:sp>
        <p:nvSpPr>
          <p:cNvPr id="107" name="Para107"/>
          <p:cNvSpPr txBox="1"/>
          <p:nvPr/>
        </p:nvSpPr>
        <p:spPr>
          <a:xfrm>
            <a:off x="533400" y="5550000"/>
            <a:ext cx="11125200" cy="60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US" sz="1800" dirty="0">
                <a:solidFill>
                  <a:srgbClr val="334155"/>
                </a:solidFill>
                <a:latin typeface="Calibri"/>
                <a:ea typeface="Calibri"/>
                <a:cs typeface="Calibri"/>
              </a:rPr>
              <a:t>Everything before the marker is the left column. Everything after is the right.</a:t>
            </a:r>
          </a:p>
        </p:txBody>
      </p:sp>
      <p:sp>
        <p:nvSpPr>
          <p:cNvPr id="108" name="DeckFooter108"/>
          <p:cNvSpPr txBox="1"/>
          <p:nvPr/>
        </p:nvSpPr>
        <p:spPr>
          <a:xfrm>
            <a:off x="533400" y="6458000"/>
            <a:ext cx="10325200" cy="30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US" sz="1000" dirty="0">
                <a:solidFill>
                  <a:srgbClr val="94A3B8"/>
                </a:solidFill>
                <a:latin typeface="Calibri"/>
                <a:ea typeface="Calibri"/>
                <a:cs typeface="Calibri"/>
              </a:rPr>
              <a:t>md2any</a:t>
            </a:r>
          </a:p>
        </p:txBody>
      </p:sp>
      <p:sp>
        <p:nvSpPr>
          <p:cNvPr id="109" name="PageNum109"/>
          <p:cNvSpPr txBox="1"/>
          <p:nvPr/>
        </p:nvSpPr>
        <p:spPr>
          <a:xfrm>
            <a:off x="10858600" y="6458000"/>
            <a:ext cx="800000" cy="30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buNone/>
            </a:pPr>
            <a:r>
              <a:rPr lang="en-US" sz="1000" dirty="0">
                <a:solidFill>
                  <a:srgbClr val="94A3B8"/>
                </a:solidFill>
                <a:latin typeface="Calibri"/>
                <a:ea typeface="Calibri"/>
                <a:cs typeface="Calibri"/>
              </a:rPr>
              <a:t>6 / 44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Title100"/>
          <p:cNvSpPr txBox="1"/>
          <p:nvPr/>
        </p:nvSpPr>
        <p:spPr>
          <a:xfrm>
            <a:off x="533400" y="360000"/>
            <a:ext cx="11125200" cy="72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US" sz="2800" dirty="0" b="1">
                <a:solidFill>
                  <a:srgbClr val="0F172A"/>
                </a:solidFill>
                <a:latin typeface="Calibri Light"/>
                <a:ea typeface="Calibri Light"/>
                <a:cs typeface="Calibri Light"/>
              </a:rPr>
              <a:t>Side-by-side in practice</a:t>
            </a:r>
          </a:p>
        </p:txBody>
      </p:sp>
      <p:sp>
        <p:nvSpPr>
          <p:cNvPr id="101" name="TitleAccent101"/>
          <p:cNvSpPr/>
          <p:nvPr/>
        </p:nvSpPr>
        <p:spPr>
          <a:xfrm>
            <a:off x="533400" y="1110000"/>
            <a:ext cx="400000" cy="5000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txBody>
          <a:bodyPr wrap="square" anchor="ctr"/>
          <a:lstStyle/>
          <a:p>
            <a:endParaRPr lang="en-US"/>
          </a:p>
        </p:txBody>
      </p:sp>
      <p:sp>
        <p:nvSpPr>
          <p:cNvPr id="102" name="TitleDivider102"/>
          <p:cNvSpPr/>
          <p:nvPr/>
        </p:nvSpPr>
        <p:spPr>
          <a:xfrm>
            <a:off x="953400" y="1128000"/>
            <a:ext cx="10705200" cy="140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wrap="square" anchor="ctr"/>
          <a:lstStyle/>
          <a:p>
            <a:endParaRPr lang="en-US"/>
          </a:p>
        </p:txBody>
      </p:sp>
      <p:sp>
        <p:nvSpPr>
          <p:cNvPr id="103" name="Para103"/>
          <p:cNvSpPr txBox="1"/>
          <p:nvPr/>
        </p:nvSpPr>
        <p:spPr>
          <a:xfrm>
            <a:off x="533400" y="1310000"/>
            <a:ext cx="5422600" cy="60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US" sz="1800" dirty="0" b="1">
                <a:solidFill>
                  <a:srgbClr val="334155"/>
                </a:solidFill>
                <a:latin typeface="Calibri"/>
                <a:ea typeface="Calibri"/>
                <a:cs typeface="Calibri"/>
              </a:rPr>
              <a:t>Why this matters</a:t>
            </a:r>
          </a:p>
        </p:txBody>
      </p:sp>
      <p:sp>
        <p:nvSpPr>
          <p:cNvPr id="104" name="Para104"/>
          <p:cNvSpPr txBox="1"/>
          <p:nvPr/>
        </p:nvSpPr>
        <p:spPr>
          <a:xfrm>
            <a:off x="533400" y="1990000"/>
            <a:ext cx="5422600" cy="141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US" sz="1800" dirty="0">
                <a:solidFill>
                  <a:srgbClr val="334155"/>
                </a:solidFill>
                <a:latin typeface="Calibri"/>
                <a:ea typeface="Calibri"/>
                <a:cs typeface="Calibri"/>
              </a:rPr>
              <a:t>Two things you want to compare belong next to each other, not on consecutive slides. Side-by-side preserves the comparison; consecutive slides force the audience to remember the first half.</a:t>
            </a:r>
          </a:p>
        </p:txBody>
      </p:sp>
      <p:sp>
        <p:nvSpPr>
          <p:cNvPr id="105" name="Para105"/>
          <p:cNvSpPr txBox="1"/>
          <p:nvPr/>
        </p:nvSpPr>
        <p:spPr>
          <a:xfrm>
            <a:off x="533400" y="3480000"/>
            <a:ext cx="5422600" cy="60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US" sz="1800" dirty="0">
                <a:solidFill>
                  <a:srgbClr val="334155"/>
                </a:solidFill>
                <a:latin typeface="Calibri"/>
                <a:ea typeface="Calibri"/>
                <a:cs typeface="Calibri"/>
              </a:rPr>
              <a:t>Use it for: before/after, cause/effect, do/don't, problem/solution, code/explanation.</a:t>
            </a:r>
          </a:p>
        </p:txBody>
      </p:sp>
      <p:sp>
        <p:nvSpPr>
          <p:cNvPr id="106" name="Para106"/>
          <p:cNvSpPr txBox="1"/>
          <p:nvPr/>
        </p:nvSpPr>
        <p:spPr>
          <a:xfrm>
            <a:off x="6236000" y="1310000"/>
            <a:ext cx="5422600" cy="60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US" sz="1800" dirty="0" b="1">
                <a:solidFill>
                  <a:srgbClr val="334155"/>
                </a:solidFill>
                <a:latin typeface="Calibri"/>
                <a:ea typeface="Calibri"/>
                <a:cs typeface="Calibri"/>
              </a:rPr>
              <a:t>How to use it</a:t>
            </a:r>
          </a:p>
        </p:txBody>
      </p:sp>
      <p:sp>
        <p:nvSpPr>
          <p:cNvPr id="107" name="CodeBox107"/>
          <p:cNvSpPr/>
          <p:nvPr/>
        </p:nvSpPr>
        <p:spPr>
          <a:xfrm>
            <a:off x="6236000" y="1990000"/>
            <a:ext cx="5422600" cy="1160000"/>
          </a:xfrm>
          <a:prstGeom prst="roundRect">
            <a:avLst>
              <a:gd name="adj" fmla="val 4500"/>
            </a:avLst>
          </a:prstGeom>
          <a:solidFill>
            <a:srgbClr val="F1F5F9"/>
          </a:solidFill>
          <a:ln w="6350">
            <a:solidFill>
              <a:srgbClr val="E2E8F0"/>
            </a:solidFill>
          </a:ln>
        </p:spPr>
        <p:txBody>
          <a:bodyPr wrap="square" lIns="180000" tIns="120000" rIns="180000" bIns="12000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dirty="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Left side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dirty="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:::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dirty="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Right side</a:t>
            </a:r>
          </a:p>
        </p:txBody>
      </p:sp>
      <p:sp>
        <p:nvSpPr>
          <p:cNvPr id="108" name="Para108"/>
          <p:cNvSpPr txBox="1"/>
          <p:nvPr/>
        </p:nvSpPr>
        <p:spPr>
          <a:xfrm>
            <a:off x="6236000" y="3230000"/>
            <a:ext cx="5422600" cy="114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US" sz="1800" dirty="0">
                <a:solidFill>
                  <a:srgbClr val="334155"/>
                </a:solidFill>
                <a:latin typeface="Calibri"/>
                <a:ea typeface="Calibri"/>
                <a:cs typeface="Calibri"/>
              </a:rPr>
              <a:t>Both columns paginate within themselves. You don't have to balance the heights manually — md2any scales each column to fit the available area independently.</a:t>
            </a:r>
          </a:p>
        </p:txBody>
      </p:sp>
      <p:sp>
        <p:nvSpPr>
          <p:cNvPr id="109" name="DeckFooter109"/>
          <p:cNvSpPr txBox="1"/>
          <p:nvPr/>
        </p:nvSpPr>
        <p:spPr>
          <a:xfrm>
            <a:off x="533400" y="6458000"/>
            <a:ext cx="10325200" cy="30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US" sz="1000" dirty="0">
                <a:solidFill>
                  <a:srgbClr val="94A3B8"/>
                </a:solidFill>
                <a:latin typeface="Calibri"/>
                <a:ea typeface="Calibri"/>
                <a:cs typeface="Calibri"/>
              </a:rPr>
              <a:t>md2any</a:t>
            </a:r>
          </a:p>
        </p:txBody>
      </p:sp>
      <p:sp>
        <p:nvSpPr>
          <p:cNvPr id="110" name="PageNum110"/>
          <p:cNvSpPr txBox="1"/>
          <p:nvPr/>
        </p:nvSpPr>
        <p:spPr>
          <a:xfrm>
            <a:off x="10858600" y="6458000"/>
            <a:ext cx="800000" cy="30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buNone/>
            </a:pPr>
            <a:r>
              <a:rPr lang="en-US" sz="1000" dirty="0">
                <a:solidFill>
                  <a:srgbClr val="94A3B8"/>
                </a:solidFill>
                <a:latin typeface="Calibri"/>
                <a:ea typeface="Calibri"/>
                <a:cs typeface="Calibri"/>
              </a:rPr>
              <a:t>7 / 44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Title100"/>
          <p:cNvSpPr txBox="1"/>
          <p:nvPr/>
        </p:nvSpPr>
        <p:spPr>
          <a:xfrm>
            <a:off x="533400" y="360000"/>
            <a:ext cx="11125200" cy="72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US" sz="2800" dirty="0" b="1">
                <a:solidFill>
                  <a:srgbClr val="0F172A"/>
                </a:solidFill>
                <a:latin typeface="Calibri Light"/>
                <a:ea typeface="Calibri Light"/>
                <a:cs typeface="Calibri Light"/>
              </a:rPr>
              <a:t>Long lists auto-flow</a:t>
            </a:r>
          </a:p>
        </p:txBody>
      </p:sp>
      <p:sp>
        <p:nvSpPr>
          <p:cNvPr id="101" name="TitleAccent101"/>
          <p:cNvSpPr/>
          <p:nvPr/>
        </p:nvSpPr>
        <p:spPr>
          <a:xfrm>
            <a:off x="533400" y="1110000"/>
            <a:ext cx="400000" cy="5000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txBody>
          <a:bodyPr wrap="square" anchor="ctr"/>
          <a:lstStyle/>
          <a:p>
            <a:endParaRPr lang="en-US"/>
          </a:p>
        </p:txBody>
      </p:sp>
      <p:sp>
        <p:nvSpPr>
          <p:cNvPr id="102" name="TitleDivider102"/>
          <p:cNvSpPr/>
          <p:nvPr/>
        </p:nvSpPr>
        <p:spPr>
          <a:xfrm>
            <a:off x="953400" y="1128000"/>
            <a:ext cx="10705200" cy="140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wrap="square" anchor="ctr"/>
          <a:lstStyle/>
          <a:p>
            <a:endParaRPr lang="en-US"/>
          </a:p>
        </p:txBody>
      </p:sp>
      <p:sp>
        <p:nvSpPr>
          <p:cNvPr id="103" name="Para103"/>
          <p:cNvSpPr txBox="1"/>
          <p:nvPr/>
        </p:nvSpPr>
        <p:spPr>
          <a:xfrm>
            <a:off x="533400" y="1310000"/>
            <a:ext cx="11125200" cy="56088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US" sz="1800" dirty="0">
                <a:solidFill>
                  <a:srgbClr val="334155"/>
                </a:solidFill>
                <a:latin typeface="Calibri"/>
                <a:ea typeface="Calibri"/>
                <a:cs typeface="Calibri"/>
              </a:rPr>
              <a:t>Lists with more than 12 items wrap into two columns automatically. No marker needed.</a:t>
            </a:r>
          </a:p>
        </p:txBody>
      </p:sp>
      <p:sp>
        <p:nvSpPr>
          <p:cNvPr id="104" name="ListL104"/>
          <p:cNvSpPr txBox="1"/>
          <p:nvPr/>
        </p:nvSpPr>
        <p:spPr>
          <a:xfrm>
            <a:off x="533400" y="1950888"/>
            <a:ext cx="5462600" cy="441232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228600" indent="-228600" lvl="0" algn="l">
              <a:buClr>
                <a:srgbClr val="0EA5E9"/>
              </a:buClr>
              <a:buFont typeface="Arial"/>
              <a:buChar char="●"/>
            </a:pPr>
            <a:r>
              <a:rPr lang="en-US" sz="1800" dirty="0">
                <a:solidFill>
                  <a:srgbClr val="334155"/>
                </a:solidFill>
                <a:latin typeface="Calibri"/>
                <a:ea typeface="Calibri"/>
                <a:cs typeface="Calibri"/>
              </a:rPr>
              <a:t>First item in the long list</a:t>
            </a:r>
          </a:p>
          <a:p>
            <a:pPr marL="228600" indent="-228600" lvl="0" algn="l">
              <a:buClr>
                <a:srgbClr val="0EA5E9"/>
              </a:buClr>
              <a:buFont typeface="Arial"/>
              <a:buChar char="●"/>
            </a:pPr>
            <a:r>
              <a:rPr lang="en-US" sz="1800" dirty="0">
                <a:solidFill>
                  <a:srgbClr val="334155"/>
                </a:solidFill>
                <a:latin typeface="Calibri"/>
                <a:ea typeface="Calibri"/>
                <a:cs typeface="Calibri"/>
              </a:rPr>
              <a:t>Second item with some text</a:t>
            </a:r>
          </a:p>
          <a:p>
            <a:pPr marL="228600" indent="-228600" lvl="0" algn="l">
              <a:buClr>
                <a:srgbClr val="0EA5E9"/>
              </a:buClr>
              <a:buFont typeface="Arial"/>
              <a:buChar char="●"/>
            </a:pPr>
            <a:r>
              <a:rPr lang="en-US" sz="1800" dirty="0">
                <a:solidFill>
                  <a:srgbClr val="334155"/>
                </a:solidFill>
                <a:latin typeface="Calibri"/>
                <a:ea typeface="Calibri"/>
                <a:cs typeface="Calibri"/>
              </a:rPr>
              <a:t>Third item demonstrating wrap</a:t>
            </a:r>
          </a:p>
          <a:p>
            <a:pPr marL="228600" indent="-228600" lvl="0" algn="l">
              <a:buClr>
                <a:srgbClr val="0EA5E9"/>
              </a:buClr>
              <a:buFont typeface="Arial"/>
              <a:buChar char="●"/>
            </a:pPr>
            <a:r>
              <a:rPr lang="en-US" sz="1800" dirty="0">
                <a:solidFill>
                  <a:srgbClr val="334155"/>
                </a:solidFill>
                <a:latin typeface="Calibri"/>
                <a:ea typeface="Calibri"/>
                <a:cs typeface="Calibri"/>
              </a:rPr>
              <a:t>Fourth item keeps going</a:t>
            </a:r>
          </a:p>
          <a:p>
            <a:pPr marL="228600" indent="-228600" lvl="0" algn="l">
              <a:buClr>
                <a:srgbClr val="0EA5E9"/>
              </a:buClr>
              <a:buFont typeface="Arial"/>
              <a:buChar char="●"/>
            </a:pPr>
            <a:r>
              <a:rPr lang="en-US" sz="1800" dirty="0">
                <a:solidFill>
                  <a:srgbClr val="334155"/>
                </a:solidFill>
                <a:latin typeface="Calibri"/>
                <a:ea typeface="Calibri"/>
                <a:cs typeface="Calibri"/>
              </a:rPr>
              <a:t>Fifth item adds variety</a:t>
            </a:r>
          </a:p>
          <a:p>
            <a:pPr marL="228600" indent="-228600" lvl="0" algn="l">
              <a:buClr>
                <a:srgbClr val="0EA5E9"/>
              </a:buClr>
              <a:buFont typeface="Arial"/>
              <a:buChar char="●"/>
            </a:pPr>
            <a:r>
              <a:rPr lang="en-US" sz="1800" dirty="0">
                <a:solidFill>
                  <a:srgbClr val="334155"/>
                </a:solidFill>
                <a:latin typeface="Calibri"/>
                <a:ea typeface="Calibri"/>
                <a:cs typeface="Calibri"/>
              </a:rPr>
              <a:t>Sixth item with </a:t>
            </a:r>
            <a:r>
              <a:rPr lang="en-US" sz="1800" dirty="0" b="1">
                <a:solidFill>
                  <a:srgbClr val="334155"/>
                </a:solidFill>
                <a:latin typeface="Calibri"/>
                <a:ea typeface="Calibri"/>
                <a:cs typeface="Calibri"/>
              </a:rPr>
              <a:t>bold</a:t>
            </a:r>
            <a:r>
              <a:rPr lang="en-US" sz="1800" dirty="0">
                <a:solidFill>
                  <a:srgbClr val="334155"/>
                </a:solidFill>
                <a:latin typeface="Calibri"/>
                <a:ea typeface="Calibri"/>
                <a:cs typeface="Calibri"/>
              </a:rPr>
              <a:t> text</a:t>
            </a:r>
          </a:p>
          <a:p>
            <a:pPr marL="228600" indent="-228600" lvl="0" algn="l">
              <a:buClr>
                <a:srgbClr val="0EA5E9"/>
              </a:buClr>
              <a:buFont typeface="Arial"/>
              <a:buChar char="●"/>
            </a:pPr>
            <a:r>
              <a:rPr lang="en-US" sz="1800" dirty="0">
                <a:solidFill>
                  <a:srgbClr val="334155"/>
                </a:solidFill>
                <a:latin typeface="Calibri"/>
                <a:ea typeface="Calibri"/>
                <a:cs typeface="Calibri"/>
              </a:rPr>
              <a:t>Seventh has </a:t>
            </a:r>
            <a:r>
              <a:rPr lang="en-US" sz="1800" dirty="0">
                <a:solidFill>
                  <a:srgbClr val="0369A1"/>
                </a:solidFill>
                <a:latin typeface="Consolas"/>
                <a:ea typeface="Consolas"/>
                <a:cs typeface="Consolas"/>
              </a:rPr>
              <a:t>inline code</a:t>
            </a:r>
          </a:p>
          <a:p>
            <a:pPr marL="228600" indent="-228600" lvl="0" algn="l">
              <a:buClr>
                <a:srgbClr val="0EA5E9"/>
              </a:buClr>
              <a:buFont typeface="Arial"/>
              <a:buChar char="●"/>
            </a:pPr>
            <a:r>
              <a:rPr lang="en-US" sz="1800" dirty="0">
                <a:solidFill>
                  <a:srgbClr val="334155"/>
                </a:solidFill>
                <a:latin typeface="Calibri"/>
                <a:ea typeface="Calibri"/>
                <a:cs typeface="Calibri"/>
              </a:rPr>
              <a:t>Eighth item is short</a:t>
            </a:r>
          </a:p>
        </p:txBody>
      </p:sp>
      <p:sp>
        <p:nvSpPr>
          <p:cNvPr id="105" name="ListR105"/>
          <p:cNvSpPr txBox="1"/>
          <p:nvPr/>
        </p:nvSpPr>
        <p:spPr>
          <a:xfrm>
            <a:off x="6196000" y="1950888"/>
            <a:ext cx="5462600" cy="441232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228600" indent="-228600" lvl="0" algn="l">
              <a:buClr>
                <a:srgbClr val="0EA5E9"/>
              </a:buClr>
              <a:buFont typeface="Arial"/>
              <a:buChar char="●"/>
            </a:pPr>
            <a:r>
              <a:rPr lang="en-US" sz="1800" dirty="0">
                <a:solidFill>
                  <a:srgbClr val="334155"/>
                </a:solidFill>
                <a:latin typeface="Calibri"/>
                <a:ea typeface="Calibri"/>
                <a:cs typeface="Calibri"/>
              </a:rPr>
              <a:t>Ninth item continues</a:t>
            </a:r>
          </a:p>
          <a:p>
            <a:pPr marL="228600" indent="-228600" lvl="0" algn="l">
              <a:buClr>
                <a:srgbClr val="0EA5E9"/>
              </a:buClr>
              <a:buFont typeface="Arial"/>
              <a:buChar char="●"/>
            </a:pPr>
            <a:r>
              <a:rPr lang="en-US" sz="1800" dirty="0">
                <a:solidFill>
                  <a:srgbClr val="334155"/>
                </a:solidFill>
                <a:latin typeface="Calibri"/>
                <a:ea typeface="Calibri"/>
                <a:cs typeface="Calibri"/>
              </a:rPr>
              <a:t>Tenth item is here</a:t>
            </a:r>
          </a:p>
          <a:p>
            <a:pPr marL="228600" indent="-228600" lvl="0" algn="l">
              <a:buClr>
                <a:srgbClr val="0EA5E9"/>
              </a:buClr>
              <a:buFont typeface="Arial"/>
              <a:buChar char="●"/>
            </a:pPr>
            <a:r>
              <a:rPr lang="en-US" sz="1800" dirty="0">
                <a:solidFill>
                  <a:srgbClr val="334155"/>
                </a:solidFill>
                <a:latin typeface="Calibri"/>
                <a:ea typeface="Calibri"/>
                <a:cs typeface="Calibri"/>
              </a:rPr>
              <a:t>Eleventh item — getting long</a:t>
            </a:r>
          </a:p>
          <a:p>
            <a:pPr marL="228600" indent="-228600" lvl="0" algn="l">
              <a:buClr>
                <a:srgbClr val="0EA5E9"/>
              </a:buClr>
              <a:buFont typeface="Arial"/>
              <a:buChar char="●"/>
            </a:pPr>
            <a:r>
              <a:rPr lang="en-US" sz="1800" dirty="0">
                <a:solidFill>
                  <a:srgbClr val="334155"/>
                </a:solidFill>
                <a:latin typeface="Calibri"/>
                <a:ea typeface="Calibri"/>
                <a:cs typeface="Calibri"/>
              </a:rPr>
              <a:t>Twelfth — last in the first column</a:t>
            </a:r>
          </a:p>
          <a:p>
            <a:pPr marL="228600" indent="-228600" lvl="0" algn="l">
              <a:buClr>
                <a:srgbClr val="0EA5E9"/>
              </a:buClr>
              <a:buFont typeface="Arial"/>
              <a:buChar char="●"/>
            </a:pPr>
            <a:r>
              <a:rPr lang="en-US" sz="1800" dirty="0">
                <a:solidFill>
                  <a:srgbClr val="334155"/>
                </a:solidFill>
                <a:latin typeface="Calibri"/>
                <a:ea typeface="Calibri"/>
                <a:cs typeface="Calibri"/>
              </a:rPr>
              <a:t>Thirteenth starts the second column</a:t>
            </a:r>
          </a:p>
          <a:p>
            <a:pPr marL="228600" indent="-228600" lvl="0" algn="l">
              <a:buClr>
                <a:srgbClr val="0EA5E9"/>
              </a:buClr>
              <a:buFont typeface="Arial"/>
              <a:buChar char="●"/>
            </a:pPr>
            <a:r>
              <a:rPr lang="en-US" sz="1800" dirty="0">
                <a:solidFill>
                  <a:srgbClr val="334155"/>
                </a:solidFill>
                <a:latin typeface="Calibri"/>
                <a:ea typeface="Calibri"/>
                <a:cs typeface="Calibri"/>
              </a:rPr>
              <a:t>Fourteenth item</a:t>
            </a:r>
          </a:p>
          <a:p>
            <a:pPr marL="228600" indent="-228600" lvl="0" algn="l">
              <a:buClr>
                <a:srgbClr val="0EA5E9"/>
              </a:buClr>
              <a:buFont typeface="Arial"/>
              <a:buChar char="●"/>
            </a:pPr>
            <a:r>
              <a:rPr lang="en-US" sz="1800" dirty="0">
                <a:solidFill>
                  <a:srgbClr val="334155"/>
                </a:solidFill>
                <a:latin typeface="Calibri"/>
                <a:ea typeface="Calibri"/>
                <a:cs typeface="Calibri"/>
              </a:rPr>
              <a:t>Fifteenth item</a:t>
            </a:r>
          </a:p>
          <a:p>
            <a:pPr marL="228600" indent="-228600" lvl="0" algn="l">
              <a:buClr>
                <a:srgbClr val="0EA5E9"/>
              </a:buClr>
              <a:buFont typeface="Arial"/>
              <a:buChar char="●"/>
            </a:pPr>
            <a:r>
              <a:rPr lang="en-US" sz="1800" dirty="0">
                <a:solidFill>
                  <a:srgbClr val="334155"/>
                </a:solidFill>
                <a:latin typeface="Calibri"/>
                <a:ea typeface="Calibri"/>
                <a:cs typeface="Calibri"/>
              </a:rPr>
              <a:t>Sixteenth item</a:t>
            </a:r>
          </a:p>
        </p:txBody>
      </p:sp>
      <p:sp>
        <p:nvSpPr>
          <p:cNvPr id="106" name="DeckFooter106"/>
          <p:cNvSpPr txBox="1"/>
          <p:nvPr/>
        </p:nvSpPr>
        <p:spPr>
          <a:xfrm>
            <a:off x="533400" y="6458000"/>
            <a:ext cx="10325200" cy="30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US" sz="1000" dirty="0">
                <a:solidFill>
                  <a:srgbClr val="94A3B8"/>
                </a:solidFill>
                <a:latin typeface="Calibri"/>
                <a:ea typeface="Calibri"/>
                <a:cs typeface="Calibri"/>
              </a:rPr>
              <a:t>md2any</a:t>
            </a:r>
          </a:p>
        </p:txBody>
      </p:sp>
      <p:sp>
        <p:nvSpPr>
          <p:cNvPr id="107" name="PageNum107"/>
          <p:cNvSpPr txBox="1"/>
          <p:nvPr/>
        </p:nvSpPr>
        <p:spPr>
          <a:xfrm>
            <a:off x="10858600" y="6458000"/>
            <a:ext cx="800000" cy="30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buNone/>
            </a:pPr>
            <a:r>
              <a:rPr lang="en-US" sz="1000" dirty="0">
                <a:solidFill>
                  <a:srgbClr val="94A3B8"/>
                </a:solidFill>
                <a:latin typeface="Calibri"/>
                <a:ea typeface="Calibri"/>
                <a:cs typeface="Calibri"/>
              </a:rPr>
              <a:t>8 / 44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Marker100"/>
          <p:cNvSpPr/>
          <p:nvPr/>
        </p:nvSpPr>
        <p:spPr>
          <a:xfrm>
            <a:off x="5496000" y="2429000"/>
            <a:ext cx="1200000" cy="60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wrap="square" anchor="ctr"/>
          <a:lstStyle/>
          <a:p>
            <a:endParaRPr lang="en-US"/>
          </a:p>
        </p:txBody>
      </p:sp>
      <p:sp>
        <p:nvSpPr>
          <p:cNvPr id="101" name="SectionTitle101"/>
          <p:cNvSpPr txBox="1"/>
          <p:nvPr/>
        </p:nvSpPr>
        <p:spPr>
          <a:xfrm>
            <a:off x="800000" y="2729000"/>
            <a:ext cx="10592000" cy="150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</a:pPr>
            <a:r>
              <a:rPr lang="en-US" sz="5400" dirty="0" b="1">
                <a:solidFill>
                  <a:srgbClr val="F8FAFC"/>
                </a:solidFill>
                <a:latin typeface="Calibri Light"/>
                <a:ea typeface="Calibri Light"/>
                <a:cs typeface="Calibri Light"/>
              </a:rPr>
              <a:t>Code listings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Title100"/>
          <p:cNvSpPr txBox="1"/>
          <p:nvPr/>
        </p:nvSpPr>
        <p:spPr>
          <a:xfrm>
            <a:off x="533400" y="360000"/>
            <a:ext cx="11125200" cy="72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US" sz="2800" dirty="0" b="1">
                <a:solidFill>
                  <a:srgbClr val="0F172A"/>
                </a:solidFill>
                <a:latin typeface="Calibri Light"/>
                <a:ea typeface="Calibri Light"/>
                <a:cs typeface="Calibri Light"/>
              </a:rPr>
              <a:t>Inline language tag</a:t>
            </a:r>
          </a:p>
        </p:txBody>
      </p:sp>
      <p:sp>
        <p:nvSpPr>
          <p:cNvPr id="101" name="TitleAccent101"/>
          <p:cNvSpPr/>
          <p:nvPr/>
        </p:nvSpPr>
        <p:spPr>
          <a:xfrm>
            <a:off x="533400" y="1110000"/>
            <a:ext cx="400000" cy="5000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txBody>
          <a:bodyPr wrap="square" anchor="ctr"/>
          <a:lstStyle/>
          <a:p>
            <a:endParaRPr lang="en-US"/>
          </a:p>
        </p:txBody>
      </p:sp>
      <p:sp>
        <p:nvSpPr>
          <p:cNvPr id="102" name="TitleDivider102"/>
          <p:cNvSpPr/>
          <p:nvPr/>
        </p:nvSpPr>
        <p:spPr>
          <a:xfrm>
            <a:off x="953400" y="1128000"/>
            <a:ext cx="10705200" cy="140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wrap="square" anchor="ctr"/>
          <a:lstStyle/>
          <a:p>
            <a:endParaRPr lang="en-US"/>
          </a:p>
        </p:txBody>
      </p:sp>
      <p:sp>
        <p:nvSpPr>
          <p:cNvPr id="103" name="Para103"/>
          <p:cNvSpPr txBox="1"/>
          <p:nvPr/>
        </p:nvSpPr>
        <p:spPr>
          <a:xfrm>
            <a:off x="533400" y="1310000"/>
            <a:ext cx="11125200" cy="60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US" sz="1800" dirty="0">
                <a:solidFill>
                  <a:srgbClr val="334155"/>
                </a:solidFill>
                <a:latin typeface="Calibri"/>
                <a:ea typeface="Calibri"/>
                <a:cs typeface="Calibri"/>
              </a:rPr>
              <a:t>A code fence with just a language gets a small language label.</a:t>
            </a:r>
          </a:p>
        </p:txBody>
      </p:sp>
      <p:sp>
        <p:nvSpPr>
          <p:cNvPr id="104" name="CodeTitle104"/>
          <p:cNvSpPr/>
          <p:nvPr/>
        </p:nvSpPr>
        <p:spPr>
          <a:xfrm>
            <a:off x="533400" y="1990000"/>
            <a:ext cx="11125200" cy="320000"/>
          </a:xfrm>
          <a:custGeom>
            <a:avLst/>
            <a:gdLst/>
            <a:ahLst/>
            <a:cxnLst/>
            <a:rect l="0" t="0" r="0" b="0"/>
            <a:pathLst>
              <a:path w="100000" h="100000">
                <a:moveTo>
                  <a:pt x="4500" y="0"/>
                </a:moveTo>
                <a:lnTo>
                  <a:pt x="95500" y="0"/>
                </a:lnTo>
                <a:cubicBezTo>
                  <a:pt x="97983" y="0"/>
                  <a:pt x="100000" y="2017"/>
                  <a:pt x="100000" y="4500"/>
                </a:cubicBezTo>
                <a:lnTo>
                  <a:pt x="100000" y="100000"/>
                </a:lnTo>
                <a:lnTo>
                  <a:pt x="0" y="100000"/>
                </a:lnTo>
                <a:lnTo>
                  <a:pt x="0" y="4500"/>
                </a:lnTo>
                <a:cubicBezTo>
                  <a:pt x="0" y="2017"/>
                  <a:pt x="2017" y="0"/>
                  <a:pt x="4500" y="0"/>
                </a:cubicBezTo>
                <a:close/>
              </a:path>
            </a:pathLst>
          </a:custGeom>
          <a:solidFill>
            <a:srgbClr val="E2E8F0"/>
          </a:solidFill>
          <a:ln w="6350">
            <a:solidFill>
              <a:srgbClr val="E2E8F0"/>
            </a:solidFill>
          </a:ln>
        </p:spPr>
        <p:txBody>
          <a:bodyPr wrap="square" lIns="180000" tIns="50000" rIns="180000" bIns="50000" anchor="ctr"/>
          <a:lstStyle/>
          <a:p>
            <a:pPr algn="l">
              <a:buNone/>
            </a:pPr>
            <a:r>
              <a:rPr lang="en-US" sz="1100" b="1" dirty="0">
                <a:solidFill>
                  <a:srgbClr val="94A3B8"/>
                </a:solidFill>
                <a:latin typeface="Calibri"/>
              </a:rPr>
              <a:t>rust</a:t>
            </a:r>
          </a:p>
        </p:txBody>
      </p:sp>
      <p:sp>
        <p:nvSpPr>
          <p:cNvPr id="105" name="CodeBox105"/>
          <p:cNvSpPr/>
          <p:nvPr/>
        </p:nvSpPr>
        <p:spPr>
          <a:xfrm>
            <a:off x="533400" y="2310000"/>
            <a:ext cx="11125200" cy="1160000"/>
          </a:xfrm>
          <a:custGeom>
            <a:avLst/>
            <a:gdLst/>
            <a:ahLst/>
            <a:cxnLst/>
            <a:rect l="0" t="0" r="0" b="0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95500"/>
                </a:lnTo>
                <a:cubicBezTo>
                  <a:pt x="100000" y="97983"/>
                  <a:pt x="97983" y="100000"/>
                  <a:pt x="95500" y="100000"/>
                </a:cubicBezTo>
                <a:lnTo>
                  <a:pt x="4500" y="100000"/>
                </a:lnTo>
                <a:cubicBezTo>
                  <a:pt x="2017" y="100000"/>
                  <a:pt x="0" y="97983"/>
                  <a:pt x="0" y="95500"/>
                </a:cubicBezTo>
                <a:close/>
              </a:path>
            </a:pathLst>
          </a:custGeom>
          <a:solidFill>
            <a:srgbClr val="F1F5F9"/>
          </a:solidFill>
          <a:ln w="6350">
            <a:solidFill>
              <a:srgbClr val="E2E8F0"/>
            </a:solidFill>
          </a:ln>
        </p:spPr>
        <p:txBody>
          <a:bodyPr wrap="square" lIns="180000" tIns="120000" rIns="180000" bIns="12000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dirty="0" b="1">
                <a:solidFill>
                  <a:srgbClr val="9333EA"/>
                </a:solidFill>
                <a:latin typeface="Consolas"/>
                <a:ea typeface="Consolas"/>
                <a:cs typeface="Consolas"/>
              </a:rPr>
              <a:t>fn</a:t>
            </a:r>
            <a:r>
              <a:rPr lang="en-US" sz="1500" dirty="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 </a:t>
            </a:r>
            <a:r>
              <a:rPr lang="en-US" sz="1500" dirty="0">
                <a:solidFill>
                  <a:srgbClr val="2563EB"/>
                </a:solidFill>
                <a:latin typeface="Consolas"/>
                <a:ea typeface="Consolas"/>
                <a:cs typeface="Consolas"/>
              </a:rPr>
              <a:t>main</a:t>
            </a:r>
            <a:r>
              <a:rPr lang="en-US" sz="1500" dirty="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() {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dirty="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    </a:t>
            </a:r>
            <a:r>
              <a:rPr lang="en-US" sz="1500" dirty="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println</a:t>
            </a:r>
            <a:r>
              <a:rPr lang="en-US" sz="1500" dirty="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!(</a:t>
            </a:r>
            <a:r>
              <a:rPr lang="en-US" sz="1500" dirty="0">
                <a:solidFill>
                  <a:srgbClr val="16A34A"/>
                </a:solidFill>
                <a:latin typeface="Consolas"/>
                <a:ea typeface="Consolas"/>
                <a:cs typeface="Consolas"/>
              </a:rPr>
              <a:t>"Hello, slides!"</a:t>
            </a:r>
            <a:r>
              <a:rPr lang="en-US" sz="1500" dirty="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);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dirty="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  <p:sp>
        <p:nvSpPr>
          <p:cNvPr id="106" name="DeckFooter106"/>
          <p:cNvSpPr txBox="1"/>
          <p:nvPr/>
        </p:nvSpPr>
        <p:spPr>
          <a:xfrm>
            <a:off x="533400" y="6458000"/>
            <a:ext cx="10325200" cy="30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US" sz="1000" dirty="0">
                <a:solidFill>
                  <a:srgbClr val="94A3B8"/>
                </a:solidFill>
                <a:latin typeface="Calibri"/>
                <a:ea typeface="Calibri"/>
                <a:cs typeface="Calibri"/>
              </a:rPr>
              <a:t>md2any</a:t>
            </a:r>
          </a:p>
        </p:txBody>
      </p:sp>
      <p:sp>
        <p:nvSpPr>
          <p:cNvPr id="107" name="PageNum107"/>
          <p:cNvSpPr txBox="1"/>
          <p:nvPr/>
        </p:nvSpPr>
        <p:spPr>
          <a:xfrm>
            <a:off x="10858600" y="6458000"/>
            <a:ext cx="800000" cy="30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buNone/>
            </a:pPr>
            <a:r>
              <a:rPr lang="en-US" sz="1000" dirty="0">
                <a:solidFill>
                  <a:srgbClr val="94A3B8"/>
                </a:solidFill>
                <a:latin typeface="Calibri"/>
                <a:ea typeface="Calibri"/>
                <a:cs typeface="Calibri"/>
              </a:rPr>
              <a:t>10 / 44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Title100"/>
          <p:cNvSpPr txBox="1"/>
          <p:nvPr/>
        </p:nvSpPr>
        <p:spPr>
          <a:xfrm>
            <a:off x="533400" y="360000"/>
            <a:ext cx="11125200" cy="72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US" sz="2800" dirty="0" b="1">
                <a:solidFill>
                  <a:srgbClr val="0F172A"/>
                </a:solidFill>
                <a:latin typeface="Calibri Light"/>
                <a:ea typeface="Calibri Light"/>
                <a:cs typeface="Calibri Light"/>
              </a:rPr>
              <a:t>With a filename caption</a:t>
            </a:r>
          </a:p>
        </p:txBody>
      </p:sp>
      <p:sp>
        <p:nvSpPr>
          <p:cNvPr id="101" name="TitleAccent101"/>
          <p:cNvSpPr/>
          <p:nvPr/>
        </p:nvSpPr>
        <p:spPr>
          <a:xfrm>
            <a:off x="533400" y="1110000"/>
            <a:ext cx="400000" cy="5000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txBody>
          <a:bodyPr wrap="square" anchor="ctr"/>
          <a:lstStyle/>
          <a:p>
            <a:endParaRPr lang="en-US"/>
          </a:p>
        </p:txBody>
      </p:sp>
      <p:sp>
        <p:nvSpPr>
          <p:cNvPr id="102" name="TitleDivider102"/>
          <p:cNvSpPr/>
          <p:nvPr/>
        </p:nvSpPr>
        <p:spPr>
          <a:xfrm>
            <a:off x="953400" y="1128000"/>
            <a:ext cx="10705200" cy="140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wrap="square" anchor="ctr"/>
          <a:lstStyle/>
          <a:p>
            <a:endParaRPr lang="en-US"/>
          </a:p>
        </p:txBody>
      </p:sp>
      <p:sp>
        <p:nvSpPr>
          <p:cNvPr id="103" name="Para103"/>
          <p:cNvSpPr txBox="1"/>
          <p:nvPr/>
        </p:nvSpPr>
        <p:spPr>
          <a:xfrm>
            <a:off x="533400" y="1310000"/>
            <a:ext cx="11125200" cy="60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US" sz="1800" dirty="0">
                <a:solidFill>
                  <a:srgbClr val="334155"/>
                </a:solidFill>
                <a:latin typeface="Calibri"/>
                <a:ea typeface="Calibri"/>
                <a:cs typeface="Calibri"/>
              </a:rPr>
              <a:t>Put a filename after the language: </a:t>
            </a:r>
            <a:r>
              <a:rPr lang="en-US" sz="1800" dirty="0">
                <a:solidFill>
                  <a:srgbClr val="0369A1"/>
                </a:solidFill>
                <a:latin typeface="Consolas"/>
                <a:ea typeface="Consolas"/>
                <a:cs typeface="Consolas"/>
              </a:rPr>
              <a:t>```rust src/main.rs</a:t>
            </a:r>
            <a:r>
              <a:rPr lang="en-US" sz="1800" dirty="0">
                <a:solidFill>
                  <a:srgbClr val="334155"/>
                </a:solidFill>
                <a:latin typeface="Calibri"/>
                <a:ea typeface="Calibri"/>
                <a:cs typeface="Calibri"/>
              </a:rPr>
              <a:t>. The filename appears in a header bar above the code, with the language tag to its right.</a:t>
            </a:r>
          </a:p>
        </p:txBody>
      </p:sp>
      <p:sp>
        <p:nvSpPr>
          <p:cNvPr id="104" name="CodeTitle104"/>
          <p:cNvSpPr/>
          <p:nvPr/>
        </p:nvSpPr>
        <p:spPr>
          <a:xfrm>
            <a:off x="533400" y="1990000"/>
            <a:ext cx="11125200" cy="320000"/>
          </a:xfrm>
          <a:custGeom>
            <a:avLst/>
            <a:gdLst/>
            <a:ahLst/>
            <a:cxnLst/>
            <a:rect l="0" t="0" r="0" b="0"/>
            <a:pathLst>
              <a:path w="100000" h="100000">
                <a:moveTo>
                  <a:pt x="4500" y="0"/>
                </a:moveTo>
                <a:lnTo>
                  <a:pt x="95500" y="0"/>
                </a:lnTo>
                <a:cubicBezTo>
                  <a:pt x="97983" y="0"/>
                  <a:pt x="100000" y="2017"/>
                  <a:pt x="100000" y="4500"/>
                </a:cubicBezTo>
                <a:lnTo>
                  <a:pt x="100000" y="100000"/>
                </a:lnTo>
                <a:lnTo>
                  <a:pt x="0" y="100000"/>
                </a:lnTo>
                <a:lnTo>
                  <a:pt x="0" y="4500"/>
                </a:lnTo>
                <a:cubicBezTo>
                  <a:pt x="0" y="2017"/>
                  <a:pt x="2017" y="0"/>
                  <a:pt x="4500" y="0"/>
                </a:cubicBezTo>
                <a:close/>
              </a:path>
            </a:pathLst>
          </a:custGeom>
          <a:solidFill>
            <a:srgbClr val="E2E8F0"/>
          </a:solidFill>
          <a:ln w="6350">
            <a:solidFill>
              <a:srgbClr val="E2E8F0"/>
            </a:solidFill>
          </a:ln>
        </p:spPr>
        <p:txBody>
          <a:bodyPr wrap="square" lIns="180000" tIns="50000" rIns="180000" bIns="50000" anchor="ctr"/>
          <a:lstStyle/>
          <a:p>
            <a:pPr algn="l">
              <a:buNone/>
            </a:pPr>
            <a:r>
              <a:rPr lang="en-US" sz="1200" b="1" dirty="0">
                <a:solidFill>
                  <a:srgbClr val="0F172A"/>
                </a:solidFill>
                <a:latin typeface="Consolas"/>
                <a:ea typeface="Consolas"/>
                <a:cs typeface="Consolas"/>
              </a:rPr>
              <a:t>src/main.rs</a:t>
            </a:r>
            <a:r>
              <a:rPr lang="en-US" sz="1100" dirty="0">
                <a:solidFill>
                  <a:srgbClr val="94A3B8"/>
                </a:solidFill>
                <a:latin typeface="Calibri"/>
              </a:rPr>
              <a:t>  ·  rust</a:t>
            </a:r>
          </a:p>
        </p:txBody>
      </p:sp>
      <p:sp>
        <p:nvSpPr>
          <p:cNvPr id="105" name="CodeBox105"/>
          <p:cNvSpPr/>
          <p:nvPr/>
        </p:nvSpPr>
        <p:spPr>
          <a:xfrm>
            <a:off x="533400" y="2310000"/>
            <a:ext cx="11125200" cy="3960000"/>
          </a:xfrm>
          <a:custGeom>
            <a:avLst/>
            <a:gdLst/>
            <a:ahLst/>
            <a:cxnLst/>
            <a:rect l="0" t="0" r="0" b="0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95500"/>
                </a:lnTo>
                <a:cubicBezTo>
                  <a:pt x="100000" y="97983"/>
                  <a:pt x="97983" y="100000"/>
                  <a:pt x="95500" y="100000"/>
                </a:cubicBezTo>
                <a:lnTo>
                  <a:pt x="4500" y="100000"/>
                </a:lnTo>
                <a:cubicBezTo>
                  <a:pt x="2017" y="100000"/>
                  <a:pt x="0" y="97983"/>
                  <a:pt x="0" y="95500"/>
                </a:cubicBezTo>
                <a:close/>
              </a:path>
            </a:pathLst>
          </a:custGeom>
          <a:solidFill>
            <a:srgbClr val="F1F5F9"/>
          </a:solidFill>
          <a:ln w="6350">
            <a:solidFill>
              <a:srgbClr val="E2E8F0"/>
            </a:solidFill>
          </a:ln>
        </p:spPr>
        <p:txBody>
          <a:bodyPr wrap="square" lIns="180000" tIns="120000" rIns="180000" bIns="12000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dirty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 1  </a:t>
            </a:r>
            <a:r>
              <a:rPr lang="en-US" sz="1500" dirty="0" b="1">
                <a:solidFill>
                  <a:srgbClr val="9333EA"/>
                </a:solidFill>
                <a:latin typeface="Consolas"/>
                <a:ea typeface="Consolas"/>
                <a:cs typeface="Consolas"/>
              </a:rPr>
              <a:t>use</a:t>
            </a:r>
            <a:r>
              <a:rPr lang="en-US" sz="1500" dirty="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 </a:t>
            </a:r>
            <a:r>
              <a:rPr lang="en-US" sz="1500" dirty="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anyhow</a:t>
            </a:r>
            <a:r>
              <a:rPr lang="en-US" sz="1500" dirty="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::</a:t>
            </a:r>
            <a:r>
              <a:rPr lang="en-US" sz="1500" dirty="0">
                <a:solidFill>
                  <a:srgbClr val="0891B2"/>
                </a:solidFill>
                <a:latin typeface="Consolas"/>
                <a:ea typeface="Consolas"/>
                <a:cs typeface="Consolas"/>
              </a:rPr>
              <a:t>Result</a:t>
            </a:r>
            <a:r>
              <a:rPr lang="en-US" sz="1500" dirty="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;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dirty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 2  </a:t>
            </a:r>
            <a:r>
              <a:rPr lang="en-US" sz="1500" dirty="0" b="1">
                <a:solidFill>
                  <a:srgbClr val="9333EA"/>
                </a:solidFill>
                <a:latin typeface="Consolas"/>
                <a:ea typeface="Consolas"/>
                <a:cs typeface="Consolas"/>
              </a:rPr>
              <a:t>use</a:t>
            </a:r>
            <a:r>
              <a:rPr lang="en-US" sz="1500" dirty="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 </a:t>
            </a:r>
            <a:r>
              <a:rPr lang="en-US" sz="1500" dirty="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clap</a:t>
            </a:r>
            <a:r>
              <a:rPr lang="en-US" sz="1500" dirty="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::</a:t>
            </a:r>
            <a:r>
              <a:rPr lang="en-US" sz="1500" dirty="0">
                <a:solidFill>
                  <a:srgbClr val="0891B2"/>
                </a:solidFill>
                <a:latin typeface="Consolas"/>
                <a:ea typeface="Consolas"/>
                <a:cs typeface="Consolas"/>
              </a:rPr>
              <a:t>Parser</a:t>
            </a:r>
            <a:r>
              <a:rPr lang="en-US" sz="1500" dirty="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;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dirty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 3  </a:t>
            </a:r>
            <a:r>
              <a:rPr lang="en-US" sz="1500" dirty="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dirty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 4  </a:t>
            </a:r>
            <a:r>
              <a:rPr lang="en-US" sz="1500" dirty="0">
                <a:solidFill>
                  <a:srgbClr val="DC2626"/>
                </a:solidFill>
                <a:latin typeface="Consolas"/>
                <a:ea typeface="Consolas"/>
                <a:cs typeface="Consolas"/>
              </a:rPr>
              <a:t>#[derive(Parser)]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dirty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 5  </a:t>
            </a:r>
            <a:r>
              <a:rPr lang="en-US" sz="1500" dirty="0" b="1">
                <a:solidFill>
                  <a:srgbClr val="9333EA"/>
                </a:solidFill>
                <a:latin typeface="Consolas"/>
                <a:ea typeface="Consolas"/>
                <a:cs typeface="Consolas"/>
              </a:rPr>
              <a:t>struct</a:t>
            </a:r>
            <a:r>
              <a:rPr lang="en-US" sz="1500" dirty="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 </a:t>
            </a:r>
            <a:r>
              <a:rPr lang="en-US" sz="1500" dirty="0">
                <a:solidFill>
                  <a:srgbClr val="0891B2"/>
                </a:solidFill>
                <a:latin typeface="Consolas"/>
                <a:ea typeface="Consolas"/>
                <a:cs typeface="Consolas"/>
              </a:rPr>
              <a:t>Cli</a:t>
            </a:r>
            <a:r>
              <a:rPr lang="en-US" sz="1500" dirty="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 {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dirty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 6  </a:t>
            </a:r>
            <a:r>
              <a:rPr lang="en-US" sz="1500" dirty="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    </a:t>
            </a:r>
            <a:r>
              <a:rPr lang="en-US" sz="1500" dirty="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input</a:t>
            </a:r>
            <a:r>
              <a:rPr lang="en-US" sz="1500" dirty="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: </a:t>
            </a:r>
            <a:r>
              <a:rPr lang="en-US" sz="1500" dirty="0">
                <a:solidFill>
                  <a:srgbClr val="0891B2"/>
                </a:solidFill>
                <a:latin typeface="Consolas"/>
                <a:ea typeface="Consolas"/>
                <a:cs typeface="Consolas"/>
              </a:rPr>
              <a:t>String</a:t>
            </a:r>
            <a:r>
              <a:rPr lang="en-US" sz="1500" dirty="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,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dirty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 7  </a:t>
            </a:r>
            <a:r>
              <a:rPr lang="en-US" sz="1500" dirty="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}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dirty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 8  </a:t>
            </a:r>
            <a:r>
              <a:rPr lang="en-US" sz="1500" dirty="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dirty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 9  </a:t>
            </a:r>
            <a:r>
              <a:rPr lang="en-US" sz="1500" dirty="0" b="1">
                <a:solidFill>
                  <a:srgbClr val="9333EA"/>
                </a:solidFill>
                <a:latin typeface="Consolas"/>
                <a:ea typeface="Consolas"/>
                <a:cs typeface="Consolas"/>
              </a:rPr>
              <a:t>fn</a:t>
            </a:r>
            <a:r>
              <a:rPr lang="en-US" sz="1500" dirty="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 </a:t>
            </a:r>
            <a:r>
              <a:rPr lang="en-US" sz="1500" dirty="0">
                <a:solidFill>
                  <a:srgbClr val="2563EB"/>
                </a:solidFill>
                <a:latin typeface="Consolas"/>
                <a:ea typeface="Consolas"/>
                <a:cs typeface="Consolas"/>
              </a:rPr>
              <a:t>main</a:t>
            </a:r>
            <a:r>
              <a:rPr lang="en-US" sz="1500" dirty="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() -&gt; </a:t>
            </a:r>
            <a:r>
              <a:rPr lang="en-US" sz="1500" dirty="0">
                <a:solidFill>
                  <a:srgbClr val="0891B2"/>
                </a:solidFill>
                <a:latin typeface="Consolas"/>
                <a:ea typeface="Consolas"/>
                <a:cs typeface="Consolas"/>
              </a:rPr>
              <a:t>Result</a:t>
            </a:r>
            <a:r>
              <a:rPr lang="en-US" sz="1500" dirty="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&lt;()&gt; {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dirty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10  </a:t>
            </a:r>
            <a:r>
              <a:rPr lang="en-US" sz="1500" dirty="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    </a:t>
            </a:r>
            <a:r>
              <a:rPr lang="en-US" sz="1500" dirty="0" b="1">
                <a:solidFill>
                  <a:srgbClr val="9333EA"/>
                </a:solidFill>
                <a:latin typeface="Consolas"/>
                <a:ea typeface="Consolas"/>
                <a:cs typeface="Consolas"/>
              </a:rPr>
              <a:t>let</a:t>
            </a:r>
            <a:r>
              <a:rPr lang="en-US" sz="1500" dirty="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 </a:t>
            </a:r>
            <a:r>
              <a:rPr lang="en-US" sz="1500" dirty="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cli</a:t>
            </a:r>
            <a:r>
              <a:rPr lang="en-US" sz="1500" dirty="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 = </a:t>
            </a:r>
            <a:r>
              <a:rPr lang="en-US" sz="1500" dirty="0">
                <a:solidFill>
                  <a:srgbClr val="0891B2"/>
                </a:solidFill>
                <a:latin typeface="Consolas"/>
                <a:ea typeface="Consolas"/>
                <a:cs typeface="Consolas"/>
              </a:rPr>
              <a:t>Cli</a:t>
            </a:r>
            <a:r>
              <a:rPr lang="en-US" sz="1500" dirty="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::</a:t>
            </a:r>
            <a:r>
              <a:rPr lang="en-US" sz="1500" dirty="0">
                <a:solidFill>
                  <a:srgbClr val="2563EB"/>
                </a:solidFill>
                <a:latin typeface="Consolas"/>
                <a:ea typeface="Consolas"/>
                <a:cs typeface="Consolas"/>
              </a:rPr>
              <a:t>parse</a:t>
            </a:r>
            <a:r>
              <a:rPr lang="en-US" sz="1500" dirty="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();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dirty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11  </a:t>
            </a:r>
            <a:r>
              <a:rPr lang="en-US" sz="1500" dirty="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    </a:t>
            </a:r>
            <a:r>
              <a:rPr lang="en-US" sz="1500" dirty="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println</a:t>
            </a:r>
            <a:r>
              <a:rPr lang="en-US" sz="1500" dirty="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!(</a:t>
            </a:r>
            <a:r>
              <a:rPr lang="en-US" sz="1500" dirty="0">
                <a:solidFill>
                  <a:srgbClr val="16A34A"/>
                </a:solidFill>
                <a:latin typeface="Consolas"/>
                <a:ea typeface="Consolas"/>
                <a:cs typeface="Consolas"/>
              </a:rPr>
              <a:t>"converting {}"</a:t>
            </a:r>
            <a:r>
              <a:rPr lang="en-US" sz="1500" dirty="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, </a:t>
            </a:r>
            <a:r>
              <a:rPr lang="en-US" sz="1500" dirty="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cli</a:t>
            </a:r>
            <a:r>
              <a:rPr lang="en-US" sz="1500" dirty="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.</a:t>
            </a:r>
            <a:r>
              <a:rPr lang="en-US" sz="1500" dirty="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input</a:t>
            </a:r>
            <a:r>
              <a:rPr lang="en-US" sz="1500" dirty="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);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dirty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12  </a:t>
            </a:r>
            <a:r>
              <a:rPr lang="en-US" sz="1500" dirty="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    </a:t>
            </a:r>
            <a:r>
              <a:rPr lang="en-US" sz="1500" dirty="0" b="1">
                <a:solidFill>
                  <a:srgbClr val="9333EA"/>
                </a:solidFill>
                <a:latin typeface="Consolas"/>
                <a:ea typeface="Consolas"/>
                <a:cs typeface="Consolas"/>
              </a:rPr>
              <a:t>Ok</a:t>
            </a:r>
            <a:r>
              <a:rPr lang="en-US" sz="1500" dirty="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(())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dirty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13  </a:t>
            </a:r>
            <a:r>
              <a:rPr lang="en-US" sz="1500" dirty="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  <p:sp>
        <p:nvSpPr>
          <p:cNvPr id="106" name="DeckFooter106"/>
          <p:cNvSpPr txBox="1"/>
          <p:nvPr/>
        </p:nvSpPr>
        <p:spPr>
          <a:xfrm>
            <a:off x="533400" y="6458000"/>
            <a:ext cx="10325200" cy="30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US" sz="1000" dirty="0">
                <a:solidFill>
                  <a:srgbClr val="94A3B8"/>
                </a:solidFill>
                <a:latin typeface="Calibri"/>
                <a:ea typeface="Calibri"/>
                <a:cs typeface="Calibri"/>
              </a:rPr>
              <a:t>md2any</a:t>
            </a:r>
          </a:p>
        </p:txBody>
      </p:sp>
      <p:sp>
        <p:nvSpPr>
          <p:cNvPr id="107" name="PageNum107"/>
          <p:cNvSpPr txBox="1"/>
          <p:nvPr/>
        </p:nvSpPr>
        <p:spPr>
          <a:xfrm>
            <a:off x="10858600" y="6458000"/>
            <a:ext cx="800000" cy="30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buNone/>
            </a:pPr>
            <a:r>
              <a:rPr lang="en-US" sz="1000" dirty="0">
                <a:solidFill>
                  <a:srgbClr val="94A3B8"/>
                </a:solidFill>
                <a:latin typeface="Calibri"/>
                <a:ea typeface="Calibri"/>
                <a:cs typeface="Calibri"/>
              </a:rPr>
              <a:t>11 / 44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Title100"/>
          <p:cNvSpPr txBox="1"/>
          <p:nvPr/>
        </p:nvSpPr>
        <p:spPr>
          <a:xfrm>
            <a:off x="533400" y="360000"/>
            <a:ext cx="11125200" cy="72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US" sz="2800" dirty="0" b="1">
                <a:solidFill>
                  <a:srgbClr val="0F172A"/>
                </a:solidFill>
                <a:latin typeface="Calibri Light"/>
                <a:ea typeface="Calibri Light"/>
                <a:cs typeface="Calibri Light"/>
              </a:rPr>
              <a:t>With line numbers</a:t>
            </a:r>
          </a:p>
        </p:txBody>
      </p:sp>
      <p:sp>
        <p:nvSpPr>
          <p:cNvPr id="101" name="TitleAccent101"/>
          <p:cNvSpPr/>
          <p:nvPr/>
        </p:nvSpPr>
        <p:spPr>
          <a:xfrm>
            <a:off x="533400" y="1110000"/>
            <a:ext cx="400000" cy="5000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txBody>
          <a:bodyPr wrap="square" anchor="ctr"/>
          <a:lstStyle/>
          <a:p>
            <a:endParaRPr lang="en-US"/>
          </a:p>
        </p:txBody>
      </p:sp>
      <p:sp>
        <p:nvSpPr>
          <p:cNvPr id="102" name="TitleDivider102"/>
          <p:cNvSpPr/>
          <p:nvPr/>
        </p:nvSpPr>
        <p:spPr>
          <a:xfrm>
            <a:off x="953400" y="1128000"/>
            <a:ext cx="10705200" cy="140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wrap="square" anchor="ctr"/>
          <a:lstStyle/>
          <a:p>
            <a:endParaRPr lang="en-US"/>
          </a:p>
        </p:txBody>
      </p:sp>
      <p:sp>
        <p:nvSpPr>
          <p:cNvPr id="103" name="Para103"/>
          <p:cNvSpPr txBox="1"/>
          <p:nvPr/>
        </p:nvSpPr>
        <p:spPr>
          <a:xfrm>
            <a:off x="533400" y="1310000"/>
            <a:ext cx="11125200" cy="60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US" sz="1800" dirty="0">
                <a:solidFill>
                  <a:srgbClr val="334155"/>
                </a:solidFill>
                <a:latin typeface="Calibri"/>
                <a:ea typeface="Calibri"/>
                <a:cs typeface="Calibri"/>
              </a:rPr>
              <a:t>Code blocks longer than five lines get line numbers automatically.</a:t>
            </a:r>
          </a:p>
        </p:txBody>
      </p:sp>
      <p:sp>
        <p:nvSpPr>
          <p:cNvPr id="104" name="CodeTitle104"/>
          <p:cNvSpPr/>
          <p:nvPr/>
        </p:nvSpPr>
        <p:spPr>
          <a:xfrm>
            <a:off x="533400" y="1990000"/>
            <a:ext cx="11125200" cy="320000"/>
          </a:xfrm>
          <a:custGeom>
            <a:avLst/>
            <a:gdLst/>
            <a:ahLst/>
            <a:cxnLst/>
            <a:rect l="0" t="0" r="0" b="0"/>
            <a:pathLst>
              <a:path w="100000" h="100000">
                <a:moveTo>
                  <a:pt x="4500" y="0"/>
                </a:moveTo>
                <a:lnTo>
                  <a:pt x="95500" y="0"/>
                </a:lnTo>
                <a:cubicBezTo>
                  <a:pt x="97983" y="0"/>
                  <a:pt x="100000" y="2017"/>
                  <a:pt x="100000" y="4500"/>
                </a:cubicBezTo>
                <a:lnTo>
                  <a:pt x="100000" y="100000"/>
                </a:lnTo>
                <a:lnTo>
                  <a:pt x="0" y="100000"/>
                </a:lnTo>
                <a:lnTo>
                  <a:pt x="0" y="4500"/>
                </a:lnTo>
                <a:cubicBezTo>
                  <a:pt x="0" y="2017"/>
                  <a:pt x="2017" y="0"/>
                  <a:pt x="4500" y="0"/>
                </a:cubicBezTo>
                <a:close/>
              </a:path>
            </a:pathLst>
          </a:custGeom>
          <a:solidFill>
            <a:srgbClr val="E2E8F0"/>
          </a:solidFill>
          <a:ln w="6350">
            <a:solidFill>
              <a:srgbClr val="E2E8F0"/>
            </a:solidFill>
          </a:ln>
        </p:spPr>
        <p:txBody>
          <a:bodyPr wrap="square" lIns="180000" tIns="50000" rIns="180000" bIns="50000" anchor="ctr"/>
          <a:lstStyle/>
          <a:p>
            <a:pPr algn="l">
              <a:buNone/>
            </a:pPr>
            <a:r>
              <a:rPr lang="en-US" sz="1200" b="1" dirty="0">
                <a:solidFill>
                  <a:srgbClr val="0F172A"/>
                </a:solidFill>
                <a:latin typeface="Consolas"/>
                <a:ea typeface="Consolas"/>
                <a:cs typeface="Consolas"/>
              </a:rPr>
              <a:t>pipeline.py</a:t>
            </a:r>
            <a:r>
              <a:rPr lang="en-US" sz="1100" dirty="0">
                <a:solidFill>
                  <a:srgbClr val="94A3B8"/>
                </a:solidFill>
                <a:latin typeface="Calibri"/>
              </a:rPr>
              <a:t>  ·  python</a:t>
            </a:r>
          </a:p>
        </p:txBody>
      </p:sp>
      <p:sp>
        <p:nvSpPr>
          <p:cNvPr id="105" name="CodeBox105"/>
          <p:cNvSpPr/>
          <p:nvPr/>
        </p:nvSpPr>
        <p:spPr>
          <a:xfrm>
            <a:off x="533400" y="2310000"/>
            <a:ext cx="11125200" cy="3120000"/>
          </a:xfrm>
          <a:custGeom>
            <a:avLst/>
            <a:gdLst/>
            <a:ahLst/>
            <a:cxnLst/>
            <a:rect l="0" t="0" r="0" b="0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95500"/>
                </a:lnTo>
                <a:cubicBezTo>
                  <a:pt x="100000" y="97983"/>
                  <a:pt x="97983" y="100000"/>
                  <a:pt x="95500" y="100000"/>
                </a:cubicBezTo>
                <a:lnTo>
                  <a:pt x="4500" y="100000"/>
                </a:lnTo>
                <a:cubicBezTo>
                  <a:pt x="2017" y="100000"/>
                  <a:pt x="0" y="97983"/>
                  <a:pt x="0" y="95500"/>
                </a:cubicBezTo>
                <a:close/>
              </a:path>
            </a:pathLst>
          </a:custGeom>
          <a:solidFill>
            <a:srgbClr val="F1F5F9"/>
          </a:solidFill>
          <a:ln w="6350">
            <a:solidFill>
              <a:srgbClr val="E2E8F0"/>
            </a:solidFill>
          </a:ln>
        </p:spPr>
        <p:txBody>
          <a:bodyPr wrap="square" lIns="180000" tIns="120000" rIns="180000" bIns="12000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dirty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 1  </a:t>
            </a:r>
            <a:r>
              <a:rPr lang="en-US" sz="1500" dirty="0" b="1">
                <a:solidFill>
                  <a:srgbClr val="9333EA"/>
                </a:solidFill>
                <a:latin typeface="Consolas"/>
                <a:ea typeface="Consolas"/>
                <a:cs typeface="Consolas"/>
              </a:rPr>
              <a:t>def</a:t>
            </a:r>
            <a:r>
              <a:rPr lang="en-US" sz="1500" dirty="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 </a:t>
            </a:r>
            <a:r>
              <a:rPr lang="en-US" sz="1500" dirty="0">
                <a:solidFill>
                  <a:srgbClr val="2563EB"/>
                </a:solidFill>
                <a:latin typeface="Consolas"/>
                <a:ea typeface="Consolas"/>
                <a:cs typeface="Consolas"/>
              </a:rPr>
              <a:t>transform</a:t>
            </a:r>
            <a:r>
              <a:rPr lang="en-US" sz="1500" dirty="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(</a:t>
            </a:r>
            <a:r>
              <a:rPr lang="en-US" sz="1500" dirty="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rows</a:t>
            </a:r>
            <a:r>
              <a:rPr lang="en-US" sz="1500" dirty="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):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dirty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 2  </a:t>
            </a:r>
            <a:r>
              <a:rPr lang="en-US" sz="1500" dirty="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    </a:t>
            </a:r>
            <a:r>
              <a:rPr lang="en-US" sz="1500" dirty="0" b="1">
                <a:solidFill>
                  <a:srgbClr val="9333EA"/>
                </a:solidFill>
                <a:latin typeface="Consolas"/>
                <a:ea typeface="Consolas"/>
                <a:cs typeface="Consolas"/>
              </a:rPr>
              <a:t>for</a:t>
            </a:r>
            <a:r>
              <a:rPr lang="en-US" sz="1500" dirty="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 </a:t>
            </a:r>
            <a:r>
              <a:rPr lang="en-US" sz="1500" dirty="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row</a:t>
            </a:r>
            <a:r>
              <a:rPr lang="en-US" sz="1500" dirty="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 </a:t>
            </a:r>
            <a:r>
              <a:rPr lang="en-US" sz="1500" dirty="0" b="1">
                <a:solidFill>
                  <a:srgbClr val="9333EA"/>
                </a:solidFill>
                <a:latin typeface="Consolas"/>
                <a:ea typeface="Consolas"/>
                <a:cs typeface="Consolas"/>
              </a:rPr>
              <a:t>in</a:t>
            </a:r>
            <a:r>
              <a:rPr lang="en-US" sz="1500" dirty="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 </a:t>
            </a:r>
            <a:r>
              <a:rPr lang="en-US" sz="1500" dirty="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rows</a:t>
            </a:r>
            <a:r>
              <a:rPr lang="en-US" sz="1500" dirty="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: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dirty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 3  </a:t>
            </a:r>
            <a:r>
              <a:rPr lang="en-US" sz="1500" dirty="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        </a:t>
            </a:r>
            <a:r>
              <a:rPr lang="en-US" sz="1500" dirty="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row</a:t>
            </a:r>
            <a:r>
              <a:rPr lang="en-US" sz="1500" dirty="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[</a:t>
            </a:r>
            <a:r>
              <a:rPr lang="en-US" sz="1500" dirty="0">
                <a:solidFill>
                  <a:srgbClr val="16A34A"/>
                </a:solidFill>
                <a:latin typeface="Consolas"/>
                <a:ea typeface="Consolas"/>
                <a:cs typeface="Consolas"/>
              </a:rPr>
              <a:t>"price"</a:t>
            </a:r>
            <a:r>
              <a:rPr lang="en-US" sz="1500" dirty="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] = </a:t>
            </a:r>
            <a:r>
              <a:rPr lang="en-US" sz="1500" dirty="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row</a:t>
            </a:r>
            <a:r>
              <a:rPr lang="en-US" sz="1500" dirty="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[</a:t>
            </a:r>
            <a:r>
              <a:rPr lang="en-US" sz="1500" dirty="0">
                <a:solidFill>
                  <a:srgbClr val="16A34A"/>
                </a:solidFill>
                <a:latin typeface="Consolas"/>
                <a:ea typeface="Consolas"/>
                <a:cs typeface="Consolas"/>
              </a:rPr>
              <a:t>"price"</a:t>
            </a:r>
            <a:r>
              <a:rPr lang="en-US" sz="1500" dirty="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] * </a:t>
            </a:r>
            <a:r>
              <a:rPr lang="en-US" sz="1500" dirty="0">
                <a:solidFill>
                  <a:srgbClr val="C2410C"/>
                </a:solidFill>
                <a:latin typeface="Consolas"/>
                <a:ea typeface="Consolas"/>
                <a:cs typeface="Consolas"/>
              </a:rPr>
              <a:t>1.1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dirty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 4  </a:t>
            </a:r>
            <a:r>
              <a:rPr lang="en-US" sz="1500" dirty="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        </a:t>
            </a:r>
            <a:r>
              <a:rPr lang="en-US" sz="1500" dirty="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row</a:t>
            </a:r>
            <a:r>
              <a:rPr lang="en-US" sz="1500" dirty="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[</a:t>
            </a:r>
            <a:r>
              <a:rPr lang="en-US" sz="1500" dirty="0">
                <a:solidFill>
                  <a:srgbClr val="16A34A"/>
                </a:solidFill>
                <a:latin typeface="Consolas"/>
                <a:ea typeface="Consolas"/>
                <a:cs typeface="Consolas"/>
              </a:rPr>
              <a:t>"currency"</a:t>
            </a:r>
            <a:r>
              <a:rPr lang="en-US" sz="1500" dirty="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] = </a:t>
            </a:r>
            <a:r>
              <a:rPr lang="en-US" sz="1500" dirty="0">
                <a:solidFill>
                  <a:srgbClr val="16A34A"/>
                </a:solidFill>
                <a:latin typeface="Consolas"/>
                <a:ea typeface="Consolas"/>
                <a:cs typeface="Consolas"/>
              </a:rPr>
              <a:t>"EUR"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dirty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 5  </a:t>
            </a:r>
            <a:r>
              <a:rPr lang="en-US" sz="1500" dirty="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        </a:t>
            </a:r>
            <a:r>
              <a:rPr lang="en-US" sz="1500" dirty="0" b="1">
                <a:solidFill>
                  <a:srgbClr val="9333EA"/>
                </a:solidFill>
                <a:latin typeface="Consolas"/>
                <a:ea typeface="Consolas"/>
                <a:cs typeface="Consolas"/>
              </a:rPr>
              <a:t>yield</a:t>
            </a:r>
            <a:r>
              <a:rPr lang="en-US" sz="1500" dirty="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 </a:t>
            </a:r>
            <a:r>
              <a:rPr lang="en-US" sz="1500" dirty="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row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dirty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 6  </a:t>
            </a:r>
            <a:r>
              <a:rPr lang="en-US" sz="1500" dirty="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dirty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 7  </a:t>
            </a:r>
            <a:r>
              <a:rPr lang="en-US" sz="1500" dirty="0" b="1">
                <a:solidFill>
                  <a:srgbClr val="9333EA"/>
                </a:solidFill>
                <a:latin typeface="Consolas"/>
                <a:ea typeface="Consolas"/>
                <a:cs typeface="Consolas"/>
              </a:rPr>
              <a:t>def</a:t>
            </a:r>
            <a:r>
              <a:rPr lang="en-US" sz="1500" dirty="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 </a:t>
            </a:r>
            <a:r>
              <a:rPr lang="en-US" sz="1500" dirty="0">
                <a:solidFill>
                  <a:srgbClr val="2563EB"/>
                </a:solidFill>
                <a:latin typeface="Consolas"/>
                <a:ea typeface="Consolas"/>
                <a:cs typeface="Consolas"/>
              </a:rPr>
              <a:t>write_jsonl</a:t>
            </a:r>
            <a:r>
              <a:rPr lang="en-US" sz="1500" dirty="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(</a:t>
            </a:r>
            <a:r>
              <a:rPr lang="en-US" sz="1500" dirty="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rows</a:t>
            </a:r>
            <a:r>
              <a:rPr lang="en-US" sz="1500" dirty="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, </a:t>
            </a:r>
            <a:r>
              <a:rPr lang="en-US" sz="1500" dirty="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path</a:t>
            </a:r>
            <a:r>
              <a:rPr lang="en-US" sz="1500" dirty="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):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dirty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 8  </a:t>
            </a:r>
            <a:r>
              <a:rPr lang="en-US" sz="1500" dirty="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    </a:t>
            </a:r>
            <a:r>
              <a:rPr lang="en-US" sz="1500" dirty="0" b="1">
                <a:solidFill>
                  <a:srgbClr val="9333EA"/>
                </a:solidFill>
                <a:latin typeface="Consolas"/>
                <a:ea typeface="Consolas"/>
                <a:cs typeface="Consolas"/>
              </a:rPr>
              <a:t>with</a:t>
            </a:r>
            <a:r>
              <a:rPr lang="en-US" sz="1500" dirty="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 </a:t>
            </a:r>
            <a:r>
              <a:rPr lang="en-US" sz="1500" dirty="0">
                <a:solidFill>
                  <a:srgbClr val="2563EB"/>
                </a:solidFill>
                <a:latin typeface="Consolas"/>
                <a:ea typeface="Consolas"/>
                <a:cs typeface="Consolas"/>
              </a:rPr>
              <a:t>open</a:t>
            </a:r>
            <a:r>
              <a:rPr lang="en-US" sz="1500" dirty="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(</a:t>
            </a:r>
            <a:r>
              <a:rPr lang="en-US" sz="1500" dirty="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path</a:t>
            </a:r>
            <a:r>
              <a:rPr lang="en-US" sz="1500" dirty="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, </a:t>
            </a:r>
            <a:r>
              <a:rPr lang="en-US" sz="1500" dirty="0">
                <a:solidFill>
                  <a:srgbClr val="16A34A"/>
                </a:solidFill>
                <a:latin typeface="Consolas"/>
                <a:ea typeface="Consolas"/>
                <a:cs typeface="Consolas"/>
              </a:rPr>
              <a:t>"w"</a:t>
            </a:r>
            <a:r>
              <a:rPr lang="en-US" sz="1500" dirty="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) </a:t>
            </a:r>
            <a:r>
              <a:rPr lang="en-US" sz="1500" dirty="0" b="1">
                <a:solidFill>
                  <a:srgbClr val="9333EA"/>
                </a:solidFill>
                <a:latin typeface="Consolas"/>
                <a:ea typeface="Consolas"/>
                <a:cs typeface="Consolas"/>
              </a:rPr>
              <a:t>as</a:t>
            </a:r>
            <a:r>
              <a:rPr lang="en-US" sz="1500" dirty="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 </a:t>
            </a:r>
            <a:r>
              <a:rPr lang="en-US" sz="1500" dirty="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f</a:t>
            </a:r>
            <a:r>
              <a:rPr lang="en-US" sz="1500" dirty="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: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dirty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 9  </a:t>
            </a:r>
            <a:r>
              <a:rPr lang="en-US" sz="1500" dirty="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        </a:t>
            </a:r>
            <a:r>
              <a:rPr lang="en-US" sz="1500" dirty="0" b="1">
                <a:solidFill>
                  <a:srgbClr val="9333EA"/>
                </a:solidFill>
                <a:latin typeface="Consolas"/>
                <a:ea typeface="Consolas"/>
                <a:cs typeface="Consolas"/>
              </a:rPr>
              <a:t>for</a:t>
            </a:r>
            <a:r>
              <a:rPr lang="en-US" sz="1500" dirty="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 </a:t>
            </a:r>
            <a:r>
              <a:rPr lang="en-US" sz="1500" dirty="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row</a:t>
            </a:r>
            <a:r>
              <a:rPr lang="en-US" sz="1500" dirty="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 </a:t>
            </a:r>
            <a:r>
              <a:rPr lang="en-US" sz="1500" dirty="0" b="1">
                <a:solidFill>
                  <a:srgbClr val="9333EA"/>
                </a:solidFill>
                <a:latin typeface="Consolas"/>
                <a:ea typeface="Consolas"/>
                <a:cs typeface="Consolas"/>
              </a:rPr>
              <a:t>in</a:t>
            </a:r>
            <a:r>
              <a:rPr lang="en-US" sz="1500" dirty="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 </a:t>
            </a:r>
            <a:r>
              <a:rPr lang="en-US" sz="1500" dirty="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rows</a:t>
            </a:r>
            <a:r>
              <a:rPr lang="en-US" sz="1500" dirty="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: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dirty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10  </a:t>
            </a:r>
            <a:r>
              <a:rPr lang="en-US" sz="1500" dirty="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            </a:t>
            </a:r>
            <a:r>
              <a:rPr lang="en-US" sz="1500" dirty="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f</a:t>
            </a:r>
            <a:r>
              <a:rPr lang="en-US" sz="1500" dirty="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.</a:t>
            </a:r>
            <a:r>
              <a:rPr lang="en-US" sz="1500" dirty="0">
                <a:solidFill>
                  <a:srgbClr val="2563EB"/>
                </a:solidFill>
                <a:latin typeface="Consolas"/>
                <a:ea typeface="Consolas"/>
                <a:cs typeface="Consolas"/>
              </a:rPr>
              <a:t>write</a:t>
            </a:r>
            <a:r>
              <a:rPr lang="en-US" sz="1500" dirty="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(</a:t>
            </a:r>
            <a:r>
              <a:rPr lang="en-US" sz="1500" dirty="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json</a:t>
            </a:r>
            <a:r>
              <a:rPr lang="en-US" sz="1500" dirty="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.</a:t>
            </a:r>
            <a:r>
              <a:rPr lang="en-US" sz="1500" dirty="0">
                <a:solidFill>
                  <a:srgbClr val="2563EB"/>
                </a:solidFill>
                <a:latin typeface="Consolas"/>
                <a:ea typeface="Consolas"/>
                <a:cs typeface="Consolas"/>
              </a:rPr>
              <a:t>dumps</a:t>
            </a:r>
            <a:r>
              <a:rPr lang="en-US" sz="1500" dirty="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(</a:t>
            </a:r>
            <a:r>
              <a:rPr lang="en-US" sz="1500" dirty="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row</a:t>
            </a:r>
            <a:r>
              <a:rPr lang="en-US" sz="1500" dirty="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) + </a:t>
            </a:r>
            <a:r>
              <a:rPr lang="en-US" sz="1500" dirty="0">
                <a:solidFill>
                  <a:srgbClr val="16A34A"/>
                </a:solidFill>
                <a:latin typeface="Consolas"/>
                <a:ea typeface="Consolas"/>
                <a:cs typeface="Consolas"/>
              </a:rPr>
              <a:t>"\n"</a:t>
            </a:r>
            <a:r>
              <a:rPr lang="en-US" sz="1500" dirty="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)</a:t>
            </a:r>
          </a:p>
        </p:txBody>
      </p:sp>
      <p:sp>
        <p:nvSpPr>
          <p:cNvPr id="106" name="DeckFooter106"/>
          <p:cNvSpPr txBox="1"/>
          <p:nvPr/>
        </p:nvSpPr>
        <p:spPr>
          <a:xfrm>
            <a:off x="533400" y="6458000"/>
            <a:ext cx="10325200" cy="30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US" sz="1000" dirty="0">
                <a:solidFill>
                  <a:srgbClr val="94A3B8"/>
                </a:solidFill>
                <a:latin typeface="Calibri"/>
                <a:ea typeface="Calibri"/>
                <a:cs typeface="Calibri"/>
              </a:rPr>
              <a:t>md2any</a:t>
            </a:r>
          </a:p>
        </p:txBody>
      </p:sp>
      <p:sp>
        <p:nvSpPr>
          <p:cNvPr id="107" name="PageNum107"/>
          <p:cNvSpPr txBox="1"/>
          <p:nvPr/>
        </p:nvSpPr>
        <p:spPr>
          <a:xfrm>
            <a:off x="10858600" y="6458000"/>
            <a:ext cx="800000" cy="30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buNone/>
            </a:pPr>
            <a:r>
              <a:rPr lang="en-US" sz="1000" dirty="0">
                <a:solidFill>
                  <a:srgbClr val="94A3B8"/>
                </a:solidFill>
                <a:latin typeface="Calibri"/>
                <a:ea typeface="Calibri"/>
                <a:cs typeface="Calibri"/>
              </a:rPr>
              <a:t>12 / 44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Marker100"/>
          <p:cNvSpPr/>
          <p:nvPr/>
        </p:nvSpPr>
        <p:spPr>
          <a:xfrm>
            <a:off x="5496000" y="2429000"/>
            <a:ext cx="1200000" cy="60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wrap="square" anchor="ctr"/>
          <a:lstStyle/>
          <a:p>
            <a:endParaRPr lang="en-US"/>
          </a:p>
        </p:txBody>
      </p:sp>
      <p:sp>
        <p:nvSpPr>
          <p:cNvPr id="101" name="SectionTitle101"/>
          <p:cNvSpPr txBox="1"/>
          <p:nvPr/>
        </p:nvSpPr>
        <p:spPr>
          <a:xfrm>
            <a:off x="800000" y="2729000"/>
            <a:ext cx="10592000" cy="150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</a:pPr>
            <a:r>
              <a:rPr lang="en-US" sz="5400" dirty="0" b="1">
                <a:solidFill>
                  <a:srgbClr val="F8FAFC"/>
                </a:solidFill>
                <a:latin typeface="Calibri Light"/>
                <a:ea typeface="Calibri Light"/>
                <a:cs typeface="Calibri Light"/>
              </a:rPr>
              <a:t>Layouts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Title100"/>
          <p:cNvSpPr txBox="1"/>
          <p:nvPr/>
        </p:nvSpPr>
        <p:spPr>
          <a:xfrm>
            <a:off x="533400" y="360000"/>
            <a:ext cx="11125200" cy="72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US" sz="2800" dirty="0" b="1">
                <a:solidFill>
                  <a:srgbClr val="0F172A"/>
                </a:solidFill>
                <a:latin typeface="Calibri Light"/>
                <a:ea typeface="Calibri Light"/>
                <a:cs typeface="Calibri Light"/>
              </a:rPr>
              <a:t>Four ways to dress the same deck</a:t>
            </a:r>
          </a:p>
        </p:txBody>
      </p:sp>
      <p:sp>
        <p:nvSpPr>
          <p:cNvPr id="101" name="TitleAccent101"/>
          <p:cNvSpPr/>
          <p:nvPr/>
        </p:nvSpPr>
        <p:spPr>
          <a:xfrm>
            <a:off x="533400" y="1110000"/>
            <a:ext cx="400000" cy="5000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txBody>
          <a:bodyPr wrap="square" anchor="ctr"/>
          <a:lstStyle/>
          <a:p>
            <a:endParaRPr lang="en-US"/>
          </a:p>
        </p:txBody>
      </p:sp>
      <p:sp>
        <p:nvSpPr>
          <p:cNvPr id="102" name="TitleDivider102"/>
          <p:cNvSpPr/>
          <p:nvPr/>
        </p:nvSpPr>
        <p:spPr>
          <a:xfrm>
            <a:off x="953400" y="1128000"/>
            <a:ext cx="10705200" cy="140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wrap="square" anchor="ctr"/>
          <a:lstStyle/>
          <a:p>
            <a:endParaRPr lang="en-US"/>
          </a:p>
        </p:txBody>
      </p:sp>
      <p:sp>
        <p:nvSpPr>
          <p:cNvPr id="103" name="Para103"/>
          <p:cNvSpPr txBox="1"/>
          <p:nvPr/>
        </p:nvSpPr>
        <p:spPr>
          <a:xfrm>
            <a:off x="533400" y="1310000"/>
            <a:ext cx="11125200" cy="79705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US" sz="1800" dirty="0">
                <a:solidFill>
                  <a:srgbClr val="334155"/>
                </a:solidFill>
                <a:latin typeface="Calibri"/>
                <a:ea typeface="Calibri"/>
                <a:cs typeface="Calibri"/>
              </a:rPr>
              <a:t>md2any ships with four built-in layouts. Pick one with </a:t>
            </a:r>
            <a:r>
              <a:rPr lang="en-US" sz="1800" dirty="0">
                <a:solidFill>
                  <a:srgbClr val="0369A1"/>
                </a:solidFill>
                <a:latin typeface="Consolas"/>
                <a:ea typeface="Consolas"/>
                <a:cs typeface="Consolas"/>
              </a:rPr>
              <a:t>--layout</a:t>
            </a:r>
            <a:r>
              <a:rPr lang="en-US" sz="1800" dirty="0">
                <a:solidFill>
                  <a:srgbClr val="334155"/>
                </a:solidFill>
                <a:latin typeface="Calibri"/>
                <a:ea typeface="Calibri"/>
                <a:cs typeface="Calibri"/>
              </a:rPr>
              <a:t> or set </a:t>
            </a:r>
            <a:r>
              <a:rPr lang="en-US" sz="1800" dirty="0">
                <a:solidFill>
                  <a:srgbClr val="0369A1"/>
                </a:solidFill>
                <a:latin typeface="Consolas"/>
                <a:ea typeface="Consolas"/>
                <a:cs typeface="Consolas"/>
              </a:rPr>
              <a:t>layout:</a:t>
            </a:r>
            <a:r>
              <a:rPr lang="en-US" sz="1800" dirty="0">
                <a:solidFill>
                  <a:srgbClr val="334155"/>
                </a:solidFill>
                <a:latin typeface="Calibri"/>
                <a:ea typeface="Calibri"/>
                <a:cs typeface="Calibri"/>
              </a:rPr>
              <a:t> in front matter. Each one is a coordinated treatment — background, title style, section dividers, and title slide all change together.</a:t>
            </a:r>
          </a:p>
        </p:txBody>
      </p:sp>
      <p:sp>
        <p:nvSpPr>
          <p:cNvPr id="104" name="List104"/>
          <p:cNvSpPr txBox="1"/>
          <p:nvPr/>
        </p:nvSpPr>
        <p:spPr>
          <a:xfrm>
            <a:off x="533400" y="2187052"/>
            <a:ext cx="11125200" cy="2125473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228600" indent="-228600" lvl="0" algn="l">
              <a:buClr>
                <a:srgbClr val="0EA5E9"/>
              </a:buClr>
              <a:buFont typeface="Arial"/>
              <a:buChar char="●"/>
            </a:pPr>
            <a:r>
              <a:rPr lang="en-US" sz="1800" dirty="0">
                <a:solidFill>
                  <a:srgbClr val="0369A1"/>
                </a:solidFill>
                <a:latin typeface="Consolas"/>
                <a:ea typeface="Consolas"/>
                <a:cs typeface="Consolas"/>
              </a:rPr>
              <a:t>clean</a:t>
            </a:r>
            <a:r>
              <a:rPr lang="en-US" sz="1800" dirty="0">
                <a:solidFill>
                  <a:srgbClr val="334155"/>
                </a:solidFill>
                <a:latin typeface="Calibri"/>
                <a:ea typeface="Calibri"/>
                <a:cs typeface="Calibri"/>
              </a:rPr>
              <a:t> — minimal title underline, full-bleed content (default)</a:t>
            </a:r>
          </a:p>
          <a:p>
            <a:pPr marL="228600" indent="-228600" lvl="0" algn="l">
              <a:buClr>
                <a:srgbClr val="0EA5E9"/>
              </a:buClr>
              <a:buFont typeface="Arial"/>
              <a:buChar char="●"/>
            </a:pPr>
            <a:r>
              <a:rPr lang="en-US" sz="1800" dirty="0">
                <a:solidFill>
                  <a:srgbClr val="0369A1"/>
                </a:solidFill>
                <a:latin typeface="Consolas"/>
                <a:ea typeface="Consolas"/>
                <a:cs typeface="Consolas"/>
              </a:rPr>
              <a:t>studio</a:t>
            </a:r>
            <a:r>
              <a:rPr lang="en-US" sz="1800" dirty="0">
                <a:solidFill>
                  <a:srgbClr val="334155"/>
                </a:solidFill>
                <a:latin typeface="Calibri"/>
                <a:ea typeface="Calibri"/>
                <a:cs typeface="Calibri"/>
              </a:rPr>
              <a:t> — vertical accent rail, italic titles, big background numerals on sections</a:t>
            </a:r>
          </a:p>
          <a:p>
            <a:pPr marL="228600" indent="-228600" lvl="0" algn="l">
              <a:buClr>
                <a:srgbClr val="0EA5E9"/>
              </a:buClr>
              <a:buFont typeface="Arial"/>
              <a:buChar char="●"/>
            </a:pPr>
            <a:r>
              <a:rPr lang="en-US" sz="1800" dirty="0">
                <a:solidFill>
                  <a:srgbClr val="0369A1"/>
                </a:solidFill>
                <a:latin typeface="Consolas"/>
                <a:ea typeface="Consolas"/>
                <a:cs typeface="Consolas"/>
              </a:rPr>
              <a:t>frame</a:t>
            </a:r>
            <a:r>
              <a:rPr lang="en-US" sz="1800" dirty="0">
                <a:solidFill>
                  <a:srgbClr val="334155"/>
                </a:solidFill>
                <a:latin typeface="Calibri"/>
                <a:ea typeface="Calibri"/>
                <a:cs typeface="Calibri"/>
              </a:rPr>
              <a:t> — left sidebar holds deck title and slide number; content lives on the right</a:t>
            </a:r>
          </a:p>
          <a:p>
            <a:pPr marL="228600" indent="-228600" lvl="0" algn="l">
              <a:buClr>
                <a:srgbClr val="0EA5E9"/>
              </a:buClr>
              <a:buFont typeface="Arial"/>
              <a:buChar char="●"/>
            </a:pPr>
            <a:r>
              <a:rPr lang="en-US" sz="1800" dirty="0">
                <a:solidFill>
                  <a:srgbClr val="0369A1"/>
                </a:solidFill>
                <a:latin typeface="Consolas"/>
                <a:ea typeface="Consolas"/>
                <a:cs typeface="Consolas"/>
              </a:rPr>
              <a:t>bold</a:t>
            </a:r>
            <a:r>
              <a:rPr lang="en-US" sz="1800" dirty="0">
                <a:solidFill>
                  <a:srgbClr val="334155"/>
                </a:solidFill>
                <a:latin typeface="Calibri"/>
                <a:ea typeface="Calibri"/>
                <a:cs typeface="Calibri"/>
              </a:rPr>
              <a:t> — full-width accent block behind every title</a:t>
            </a:r>
          </a:p>
        </p:txBody>
      </p:sp>
      <p:sp>
        <p:nvSpPr>
          <p:cNvPr id="105" name="Para105"/>
          <p:cNvSpPr txBox="1"/>
          <p:nvPr/>
        </p:nvSpPr>
        <p:spPr>
          <a:xfrm>
            <a:off x="533400" y="4392525"/>
            <a:ext cx="11125200" cy="549691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US" sz="1800" dirty="0">
                <a:solidFill>
                  <a:srgbClr val="334155"/>
                </a:solidFill>
                <a:latin typeface="Calibri"/>
                <a:ea typeface="Calibri"/>
                <a:cs typeface="Calibri"/>
              </a:rPr>
              <a:t>Same markdown, four very different decks. Light and dark themes apply to all four.</a:t>
            </a:r>
          </a:p>
        </p:txBody>
      </p:sp>
      <p:sp>
        <p:nvSpPr>
          <p:cNvPr id="106" name="CodeTitle106"/>
          <p:cNvSpPr/>
          <p:nvPr/>
        </p:nvSpPr>
        <p:spPr>
          <a:xfrm>
            <a:off x="533400" y="5022216"/>
            <a:ext cx="11125200" cy="320000"/>
          </a:xfrm>
          <a:custGeom>
            <a:avLst/>
            <a:gdLst/>
            <a:ahLst/>
            <a:cxnLst/>
            <a:rect l="0" t="0" r="0" b="0"/>
            <a:pathLst>
              <a:path w="100000" h="100000">
                <a:moveTo>
                  <a:pt x="4500" y="0"/>
                </a:moveTo>
                <a:lnTo>
                  <a:pt x="95500" y="0"/>
                </a:lnTo>
                <a:cubicBezTo>
                  <a:pt x="97983" y="0"/>
                  <a:pt x="100000" y="2017"/>
                  <a:pt x="100000" y="4500"/>
                </a:cubicBezTo>
                <a:lnTo>
                  <a:pt x="100000" y="100000"/>
                </a:lnTo>
                <a:lnTo>
                  <a:pt x="0" y="100000"/>
                </a:lnTo>
                <a:lnTo>
                  <a:pt x="0" y="4500"/>
                </a:lnTo>
                <a:cubicBezTo>
                  <a:pt x="0" y="2017"/>
                  <a:pt x="2017" y="0"/>
                  <a:pt x="4500" y="0"/>
                </a:cubicBezTo>
                <a:close/>
              </a:path>
            </a:pathLst>
          </a:custGeom>
          <a:solidFill>
            <a:srgbClr val="E2E8F0"/>
          </a:solidFill>
          <a:ln w="6350">
            <a:solidFill>
              <a:srgbClr val="E2E8F0"/>
            </a:solidFill>
          </a:ln>
        </p:spPr>
        <p:txBody>
          <a:bodyPr wrap="square" lIns="180000" tIns="50000" rIns="180000" bIns="50000" anchor="ctr"/>
          <a:lstStyle/>
          <a:p>
            <a:pPr algn="l">
              <a:buNone/>
            </a:pPr>
            <a:r>
              <a:rPr lang="en-US" sz="1100" b="1" dirty="0">
                <a:solidFill>
                  <a:srgbClr val="94A3B8"/>
                </a:solidFill>
                <a:latin typeface="Calibri"/>
              </a:rPr>
              <a:t>bash</a:t>
            </a:r>
          </a:p>
        </p:txBody>
      </p:sp>
      <p:sp>
        <p:nvSpPr>
          <p:cNvPr id="107" name="CodeBox107"/>
          <p:cNvSpPr/>
          <p:nvPr/>
        </p:nvSpPr>
        <p:spPr>
          <a:xfrm>
            <a:off x="533400" y="5342216"/>
            <a:ext cx="11125200" cy="1035905"/>
          </a:xfrm>
          <a:custGeom>
            <a:avLst/>
            <a:gdLst/>
            <a:ahLst/>
            <a:cxnLst/>
            <a:rect l="0" t="0" r="0" b="0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95500"/>
                </a:lnTo>
                <a:cubicBezTo>
                  <a:pt x="100000" y="97983"/>
                  <a:pt x="97983" y="100000"/>
                  <a:pt x="95500" y="100000"/>
                </a:cubicBezTo>
                <a:lnTo>
                  <a:pt x="4500" y="100000"/>
                </a:lnTo>
                <a:cubicBezTo>
                  <a:pt x="2017" y="100000"/>
                  <a:pt x="0" y="97983"/>
                  <a:pt x="0" y="95500"/>
                </a:cubicBezTo>
                <a:close/>
              </a:path>
            </a:pathLst>
          </a:custGeom>
          <a:solidFill>
            <a:srgbClr val="F1F5F9"/>
          </a:solidFill>
          <a:ln w="6350">
            <a:solidFill>
              <a:srgbClr val="E2E8F0"/>
            </a:solidFill>
          </a:ln>
        </p:spPr>
        <p:txBody>
          <a:bodyPr wrap="square" lIns="180000" tIns="120000" rIns="180000" bIns="12000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dirty="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md2any</a:t>
            </a:r>
            <a:r>
              <a:rPr lang="en-US" sz="1500" dirty="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 </a:t>
            </a:r>
            <a:r>
              <a:rPr lang="en-US" sz="1500" dirty="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talk</a:t>
            </a:r>
            <a:r>
              <a:rPr lang="en-US" sz="1500" dirty="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.</a:t>
            </a:r>
            <a:r>
              <a:rPr lang="en-US" sz="1500" dirty="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md</a:t>
            </a:r>
            <a:r>
              <a:rPr lang="en-US" sz="1500" dirty="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 --</a:t>
            </a:r>
            <a:r>
              <a:rPr lang="en-US" sz="1500" dirty="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layout</a:t>
            </a:r>
            <a:r>
              <a:rPr lang="en-US" sz="1500" dirty="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 </a:t>
            </a:r>
            <a:r>
              <a:rPr lang="en-US" sz="1500" dirty="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studio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dirty="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md2any</a:t>
            </a:r>
            <a:r>
              <a:rPr lang="en-US" sz="1500" dirty="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 </a:t>
            </a:r>
            <a:r>
              <a:rPr lang="en-US" sz="1500" dirty="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talk</a:t>
            </a:r>
            <a:r>
              <a:rPr lang="en-US" sz="1500" dirty="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.</a:t>
            </a:r>
            <a:r>
              <a:rPr lang="en-US" sz="1500" dirty="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md</a:t>
            </a:r>
            <a:r>
              <a:rPr lang="en-US" sz="1500" dirty="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 --</a:t>
            </a:r>
            <a:r>
              <a:rPr lang="en-US" sz="1500" dirty="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layout</a:t>
            </a:r>
            <a:r>
              <a:rPr lang="en-US" sz="1500" dirty="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 </a:t>
            </a:r>
            <a:r>
              <a:rPr lang="en-US" sz="1500" dirty="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frame</a:t>
            </a:r>
            <a:r>
              <a:rPr lang="en-US" sz="1500" dirty="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 --</a:t>
            </a:r>
            <a:r>
              <a:rPr lang="en-US" sz="1500" dirty="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theme</a:t>
            </a:r>
            <a:r>
              <a:rPr lang="en-US" sz="1500" dirty="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 </a:t>
            </a:r>
            <a:r>
              <a:rPr lang="en-US" sz="1500" dirty="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dark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dirty="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md2any</a:t>
            </a:r>
            <a:r>
              <a:rPr lang="en-US" sz="1500" dirty="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 </a:t>
            </a:r>
            <a:r>
              <a:rPr lang="en-US" sz="1500" dirty="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talk</a:t>
            </a:r>
            <a:r>
              <a:rPr lang="en-US" sz="1500" dirty="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.</a:t>
            </a:r>
            <a:r>
              <a:rPr lang="en-US" sz="1500" dirty="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md</a:t>
            </a:r>
            <a:r>
              <a:rPr lang="en-US" sz="1500" dirty="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 --</a:t>
            </a:r>
            <a:r>
              <a:rPr lang="en-US" sz="1500" dirty="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layout</a:t>
            </a:r>
            <a:r>
              <a:rPr lang="en-US" sz="1500" dirty="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 </a:t>
            </a:r>
            <a:r>
              <a:rPr lang="en-US" sz="1500" dirty="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bold</a:t>
            </a:r>
          </a:p>
        </p:txBody>
      </p:sp>
      <p:sp>
        <p:nvSpPr>
          <p:cNvPr id="108" name="DeckFooter108"/>
          <p:cNvSpPr txBox="1"/>
          <p:nvPr/>
        </p:nvSpPr>
        <p:spPr>
          <a:xfrm>
            <a:off x="533400" y="6458000"/>
            <a:ext cx="10325200" cy="30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US" sz="1000" dirty="0">
                <a:solidFill>
                  <a:srgbClr val="94A3B8"/>
                </a:solidFill>
                <a:latin typeface="Calibri"/>
                <a:ea typeface="Calibri"/>
                <a:cs typeface="Calibri"/>
              </a:rPr>
              <a:t>md2any</a:t>
            </a:r>
          </a:p>
        </p:txBody>
      </p:sp>
      <p:sp>
        <p:nvSpPr>
          <p:cNvPr id="109" name="PageNum109"/>
          <p:cNvSpPr txBox="1"/>
          <p:nvPr/>
        </p:nvSpPr>
        <p:spPr>
          <a:xfrm>
            <a:off x="10858600" y="6458000"/>
            <a:ext cx="800000" cy="30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buNone/>
            </a:pPr>
            <a:r>
              <a:rPr lang="en-US" sz="1000" dirty="0">
                <a:solidFill>
                  <a:srgbClr val="94A3B8"/>
                </a:solidFill>
                <a:latin typeface="Calibri"/>
                <a:ea typeface="Calibri"/>
                <a:cs typeface="Calibri"/>
              </a:rPr>
              <a:t>14 / 44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Title100"/>
          <p:cNvSpPr txBox="1"/>
          <p:nvPr/>
        </p:nvSpPr>
        <p:spPr>
          <a:xfrm>
            <a:off x="533400" y="360000"/>
            <a:ext cx="11125200" cy="72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US" sz="2800" dirty="0" b="1">
                <a:solidFill>
                  <a:srgbClr val="0F172A"/>
                </a:solidFill>
                <a:latin typeface="Calibri Light"/>
                <a:ea typeface="Calibri Light"/>
                <a:cs typeface="Calibri Light"/>
              </a:rPr>
              <a:t>When to use which</a:t>
            </a:r>
          </a:p>
        </p:txBody>
      </p:sp>
      <p:sp>
        <p:nvSpPr>
          <p:cNvPr id="101" name="TitleAccent101"/>
          <p:cNvSpPr/>
          <p:nvPr/>
        </p:nvSpPr>
        <p:spPr>
          <a:xfrm>
            <a:off x="533400" y="1110000"/>
            <a:ext cx="400000" cy="5000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txBody>
          <a:bodyPr wrap="square" anchor="ctr"/>
          <a:lstStyle/>
          <a:p>
            <a:endParaRPr lang="en-US"/>
          </a:p>
        </p:txBody>
      </p:sp>
      <p:sp>
        <p:nvSpPr>
          <p:cNvPr id="102" name="TitleDivider102"/>
          <p:cNvSpPr/>
          <p:nvPr/>
        </p:nvSpPr>
        <p:spPr>
          <a:xfrm>
            <a:off x="953400" y="1128000"/>
            <a:ext cx="10705200" cy="140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wrap="square" anchor="ctr"/>
          <a:lstStyle/>
          <a:p>
            <a:endParaRPr lang="en-US"/>
          </a:p>
        </p:txBody>
      </p:sp>
      <p:sp>
        <p:nvSpPr>
          <p:cNvPr id="103" name="Para103"/>
          <p:cNvSpPr txBox="1"/>
          <p:nvPr/>
        </p:nvSpPr>
        <p:spPr>
          <a:xfrm>
            <a:off x="533400" y="1310000"/>
            <a:ext cx="5422600" cy="87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US" sz="1800" dirty="0" b="1">
                <a:solidFill>
                  <a:srgbClr val="334155"/>
                </a:solidFill>
                <a:latin typeface="Calibri"/>
                <a:ea typeface="Calibri"/>
                <a:cs typeface="Calibri"/>
              </a:rPr>
              <a:t>clean</a:t>
            </a:r>
            <a:r>
              <a:rPr lang="en-US" sz="1800" dirty="0">
                <a:solidFill>
                  <a:srgbClr val="334155"/>
                </a:solidFill>
                <a:latin typeface="Calibri"/>
                <a:ea typeface="Calibri"/>
                <a:cs typeface="Calibri"/>
              </a:rPr>
              <a:t> — talks, internal updates, anything where you want the content to be the loudest thing on the slide.</a:t>
            </a:r>
          </a:p>
        </p:txBody>
      </p:sp>
      <p:sp>
        <p:nvSpPr>
          <p:cNvPr id="104" name="Para104"/>
          <p:cNvSpPr txBox="1"/>
          <p:nvPr/>
        </p:nvSpPr>
        <p:spPr>
          <a:xfrm>
            <a:off x="533400" y="2260000"/>
            <a:ext cx="5422600" cy="87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US" sz="1800" dirty="0" b="1">
                <a:solidFill>
                  <a:srgbClr val="334155"/>
                </a:solidFill>
                <a:latin typeface="Calibri"/>
                <a:ea typeface="Calibri"/>
                <a:cs typeface="Calibri"/>
              </a:rPr>
              <a:t>studio</a:t>
            </a:r>
            <a:r>
              <a:rPr lang="en-US" sz="1800" dirty="0">
                <a:solidFill>
                  <a:srgbClr val="334155"/>
                </a:solidFill>
                <a:latin typeface="Calibri"/>
                <a:ea typeface="Calibri"/>
                <a:cs typeface="Calibri"/>
              </a:rPr>
              <a:t> — editorial-feel decks, design reviews, fund-raising memos. The rail and numerals look serious without being heavy.</a:t>
            </a:r>
          </a:p>
        </p:txBody>
      </p:sp>
      <p:sp>
        <p:nvSpPr>
          <p:cNvPr id="105" name="Para105"/>
          <p:cNvSpPr txBox="1"/>
          <p:nvPr/>
        </p:nvSpPr>
        <p:spPr>
          <a:xfrm>
            <a:off x="6236000" y="1310000"/>
            <a:ext cx="5422600" cy="114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US" sz="1800" dirty="0" b="1">
                <a:solidFill>
                  <a:srgbClr val="334155"/>
                </a:solidFill>
                <a:latin typeface="Calibri"/>
                <a:ea typeface="Calibri"/>
                <a:cs typeface="Calibri"/>
              </a:rPr>
              <a:t>frame</a:t>
            </a:r>
            <a:r>
              <a:rPr lang="en-US" sz="1800" dirty="0">
                <a:solidFill>
                  <a:srgbClr val="334155"/>
                </a:solidFill>
                <a:latin typeface="Calibri"/>
                <a:ea typeface="Calibri"/>
                <a:cs typeface="Calibri"/>
              </a:rPr>
              <a:t> — long-form decks where the audience benefits from a persistent reference panel (chapter name, page number). Good for training and onboarding decks.</a:t>
            </a:r>
          </a:p>
        </p:txBody>
      </p:sp>
      <p:sp>
        <p:nvSpPr>
          <p:cNvPr id="106" name="Para106"/>
          <p:cNvSpPr txBox="1"/>
          <p:nvPr/>
        </p:nvSpPr>
        <p:spPr>
          <a:xfrm>
            <a:off x="6236000" y="2530000"/>
            <a:ext cx="5422600" cy="87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US" sz="1800" dirty="0" b="1">
                <a:solidFill>
                  <a:srgbClr val="334155"/>
                </a:solidFill>
                <a:latin typeface="Calibri"/>
                <a:ea typeface="Calibri"/>
                <a:cs typeface="Calibri"/>
              </a:rPr>
              <a:t>bold</a:t>
            </a:r>
            <a:r>
              <a:rPr lang="en-US" sz="1800" dirty="0">
                <a:solidFill>
                  <a:srgbClr val="334155"/>
                </a:solidFill>
                <a:latin typeface="Calibri"/>
                <a:ea typeface="Calibri"/>
                <a:cs typeface="Calibri"/>
              </a:rPr>
              <a:t> — keynote-style talks where every section transition should feel like an event. Lots of accent color on every slide.</a:t>
            </a:r>
          </a:p>
        </p:txBody>
      </p:sp>
      <p:sp>
        <p:nvSpPr>
          <p:cNvPr id="107" name="DeckFooter107"/>
          <p:cNvSpPr txBox="1"/>
          <p:nvPr/>
        </p:nvSpPr>
        <p:spPr>
          <a:xfrm>
            <a:off x="533400" y="6458000"/>
            <a:ext cx="10325200" cy="30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US" sz="1000" dirty="0">
                <a:solidFill>
                  <a:srgbClr val="94A3B8"/>
                </a:solidFill>
                <a:latin typeface="Calibri"/>
                <a:ea typeface="Calibri"/>
                <a:cs typeface="Calibri"/>
              </a:rPr>
              <a:t>md2any</a:t>
            </a:r>
          </a:p>
        </p:txBody>
      </p:sp>
      <p:sp>
        <p:nvSpPr>
          <p:cNvPr id="108" name="PageNum108"/>
          <p:cNvSpPr txBox="1"/>
          <p:nvPr/>
        </p:nvSpPr>
        <p:spPr>
          <a:xfrm>
            <a:off x="10858600" y="6458000"/>
            <a:ext cx="800000" cy="30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buNone/>
            </a:pPr>
            <a:r>
              <a:rPr lang="en-US" sz="1000" dirty="0">
                <a:solidFill>
                  <a:srgbClr val="94A3B8"/>
                </a:solidFill>
                <a:latin typeface="Calibri"/>
                <a:ea typeface="Calibri"/>
                <a:cs typeface="Calibri"/>
              </a:rPr>
              <a:t>15 / 44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Marker100"/>
          <p:cNvSpPr/>
          <p:nvPr/>
        </p:nvSpPr>
        <p:spPr>
          <a:xfrm>
            <a:off x="5496000" y="2429000"/>
            <a:ext cx="1200000" cy="60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wrap="square" anchor="ctr"/>
          <a:lstStyle/>
          <a:p>
            <a:endParaRPr lang="en-US"/>
          </a:p>
        </p:txBody>
      </p:sp>
      <p:sp>
        <p:nvSpPr>
          <p:cNvPr id="101" name="SectionTitle101"/>
          <p:cNvSpPr txBox="1"/>
          <p:nvPr/>
        </p:nvSpPr>
        <p:spPr>
          <a:xfrm>
            <a:off x="800000" y="2729000"/>
            <a:ext cx="10592000" cy="150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</a:pPr>
            <a:r>
              <a:rPr lang="en-US" sz="5400" dirty="0" b="1">
                <a:solidFill>
                  <a:srgbClr val="F8FAFC"/>
                </a:solidFill>
                <a:latin typeface="Calibri Light"/>
                <a:ea typeface="Calibri Light"/>
                <a:cs typeface="Calibri Light"/>
              </a:rPr>
              <a:t>Mainframe languages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Title100"/>
          <p:cNvSpPr txBox="1"/>
          <p:nvPr/>
        </p:nvSpPr>
        <p:spPr>
          <a:xfrm>
            <a:off x="533400" y="360000"/>
            <a:ext cx="11125200" cy="72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US" sz="2800" dirty="0" b="1">
                <a:solidFill>
                  <a:srgbClr val="0F172A"/>
                </a:solidFill>
                <a:latin typeface="Calibri Light"/>
                <a:ea typeface="Calibri Light"/>
                <a:cs typeface="Calibri Light"/>
              </a:rPr>
              <a:t>COBOL</a:t>
            </a:r>
          </a:p>
        </p:txBody>
      </p:sp>
      <p:sp>
        <p:nvSpPr>
          <p:cNvPr id="101" name="TitleAccent101"/>
          <p:cNvSpPr/>
          <p:nvPr/>
        </p:nvSpPr>
        <p:spPr>
          <a:xfrm>
            <a:off x="533400" y="1110000"/>
            <a:ext cx="400000" cy="5000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txBody>
          <a:bodyPr wrap="square" anchor="ctr"/>
          <a:lstStyle/>
          <a:p>
            <a:endParaRPr lang="en-US"/>
          </a:p>
        </p:txBody>
      </p:sp>
      <p:sp>
        <p:nvSpPr>
          <p:cNvPr id="102" name="TitleDivider102"/>
          <p:cNvSpPr/>
          <p:nvPr/>
        </p:nvSpPr>
        <p:spPr>
          <a:xfrm>
            <a:off x="953400" y="1128000"/>
            <a:ext cx="10705200" cy="140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wrap="square" anchor="ctr"/>
          <a:lstStyle/>
          <a:p>
            <a:endParaRPr lang="en-US"/>
          </a:p>
        </p:txBody>
      </p:sp>
      <p:sp>
        <p:nvSpPr>
          <p:cNvPr id="103" name="Para103"/>
          <p:cNvSpPr txBox="1"/>
          <p:nvPr/>
        </p:nvSpPr>
        <p:spPr>
          <a:xfrm>
            <a:off x="533400" y="1310000"/>
            <a:ext cx="11125200" cy="57801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US" sz="1800" dirty="0">
                <a:solidFill>
                  <a:srgbClr val="334155"/>
                </a:solidFill>
                <a:latin typeface="Calibri"/>
                <a:ea typeface="Calibri"/>
                <a:cs typeface="Calibri"/>
              </a:rPr>
              <a:t>Case-insensitive, hyphens in identifiers, column-7 comment indicator.</a:t>
            </a:r>
          </a:p>
        </p:txBody>
      </p:sp>
      <p:sp>
        <p:nvSpPr>
          <p:cNvPr id="104" name="CodeTitle104"/>
          <p:cNvSpPr/>
          <p:nvPr/>
        </p:nvSpPr>
        <p:spPr>
          <a:xfrm>
            <a:off x="533400" y="1968015"/>
            <a:ext cx="11125200" cy="320000"/>
          </a:xfrm>
          <a:custGeom>
            <a:avLst/>
            <a:gdLst/>
            <a:ahLst/>
            <a:cxnLst/>
            <a:rect l="0" t="0" r="0" b="0"/>
            <a:pathLst>
              <a:path w="100000" h="100000">
                <a:moveTo>
                  <a:pt x="4500" y="0"/>
                </a:moveTo>
                <a:lnTo>
                  <a:pt x="95500" y="0"/>
                </a:lnTo>
                <a:cubicBezTo>
                  <a:pt x="97983" y="0"/>
                  <a:pt x="100000" y="2017"/>
                  <a:pt x="100000" y="4500"/>
                </a:cubicBezTo>
                <a:lnTo>
                  <a:pt x="100000" y="100000"/>
                </a:lnTo>
                <a:lnTo>
                  <a:pt x="0" y="100000"/>
                </a:lnTo>
                <a:lnTo>
                  <a:pt x="0" y="4500"/>
                </a:lnTo>
                <a:cubicBezTo>
                  <a:pt x="0" y="2017"/>
                  <a:pt x="2017" y="0"/>
                  <a:pt x="4500" y="0"/>
                </a:cubicBezTo>
                <a:close/>
              </a:path>
            </a:pathLst>
          </a:custGeom>
          <a:solidFill>
            <a:srgbClr val="E2E8F0"/>
          </a:solidFill>
          <a:ln w="6350">
            <a:solidFill>
              <a:srgbClr val="E2E8F0"/>
            </a:solidFill>
          </a:ln>
        </p:spPr>
        <p:txBody>
          <a:bodyPr wrap="square" lIns="180000" tIns="50000" rIns="180000" bIns="50000" anchor="ctr"/>
          <a:lstStyle/>
          <a:p>
            <a:pPr algn="l">
              <a:buNone/>
            </a:pPr>
            <a:r>
              <a:rPr lang="en-US" sz="1200" b="1" dirty="0">
                <a:solidFill>
                  <a:srgbClr val="0F172A"/>
                </a:solidFill>
                <a:latin typeface="Consolas"/>
                <a:ea typeface="Consolas"/>
                <a:cs typeface="Consolas"/>
              </a:rPr>
              <a:t>HELLO.cbl</a:t>
            </a:r>
            <a:r>
              <a:rPr lang="en-US" sz="1100" dirty="0">
                <a:solidFill>
                  <a:srgbClr val="94A3B8"/>
                </a:solidFill>
                <a:latin typeface="Calibri"/>
              </a:rPr>
              <a:t>  ·  cobol</a:t>
            </a:r>
          </a:p>
        </p:txBody>
      </p:sp>
      <p:sp>
        <p:nvSpPr>
          <p:cNvPr id="105" name="CodeBox105"/>
          <p:cNvSpPr/>
          <p:nvPr/>
        </p:nvSpPr>
        <p:spPr>
          <a:xfrm>
            <a:off x="533400" y="2288015"/>
            <a:ext cx="11125200" cy="4072916"/>
          </a:xfrm>
          <a:custGeom>
            <a:avLst/>
            <a:gdLst/>
            <a:ahLst/>
            <a:cxnLst/>
            <a:rect l="0" t="0" r="0" b="0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95500"/>
                </a:lnTo>
                <a:cubicBezTo>
                  <a:pt x="100000" y="97983"/>
                  <a:pt x="97983" y="100000"/>
                  <a:pt x="95500" y="100000"/>
                </a:cubicBezTo>
                <a:lnTo>
                  <a:pt x="4500" y="100000"/>
                </a:lnTo>
                <a:cubicBezTo>
                  <a:pt x="2017" y="100000"/>
                  <a:pt x="0" y="97983"/>
                  <a:pt x="0" y="95500"/>
                </a:cubicBezTo>
                <a:close/>
              </a:path>
            </a:pathLst>
          </a:custGeom>
          <a:solidFill>
            <a:srgbClr val="F1F5F9"/>
          </a:solidFill>
          <a:ln w="6350">
            <a:solidFill>
              <a:srgbClr val="E2E8F0"/>
            </a:solidFill>
          </a:ln>
        </p:spPr>
        <p:txBody>
          <a:bodyPr wrap="square" lIns="180000" tIns="120000" rIns="180000" bIns="12000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dirty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 1  </a:t>
            </a:r>
            <a:r>
              <a:rPr lang="en-US" sz="1500" dirty="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       </a:t>
            </a:r>
            <a:r>
              <a:rPr lang="en-US" sz="1500" dirty="0" b="1">
                <a:solidFill>
                  <a:srgbClr val="9333EA"/>
                </a:solidFill>
                <a:latin typeface="Consolas"/>
                <a:ea typeface="Consolas"/>
                <a:cs typeface="Consolas"/>
              </a:rPr>
              <a:t>IDENTIFICATION</a:t>
            </a:r>
            <a:r>
              <a:rPr lang="en-US" sz="1500" dirty="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 </a:t>
            </a:r>
            <a:r>
              <a:rPr lang="en-US" sz="1500" dirty="0" b="1">
                <a:solidFill>
                  <a:srgbClr val="9333EA"/>
                </a:solidFill>
                <a:latin typeface="Consolas"/>
                <a:ea typeface="Consolas"/>
                <a:cs typeface="Consolas"/>
              </a:rPr>
              <a:t>DIVISION</a:t>
            </a:r>
            <a:r>
              <a:rPr lang="en-US" sz="1500" dirty="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.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dirty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 2  </a:t>
            </a:r>
            <a:r>
              <a:rPr lang="en-US" sz="1500" dirty="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       </a:t>
            </a:r>
            <a:r>
              <a:rPr lang="en-US" sz="1500" dirty="0" b="1">
                <a:solidFill>
                  <a:srgbClr val="9333EA"/>
                </a:solidFill>
                <a:latin typeface="Consolas"/>
                <a:ea typeface="Consolas"/>
                <a:cs typeface="Consolas"/>
              </a:rPr>
              <a:t>PROGRAM-ID</a:t>
            </a:r>
            <a:r>
              <a:rPr lang="en-US" sz="1500" dirty="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. </a:t>
            </a:r>
            <a:r>
              <a:rPr lang="en-US" sz="1500" dirty="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HELLO</a:t>
            </a:r>
            <a:r>
              <a:rPr lang="en-US" sz="1500" dirty="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.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dirty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 3  </a:t>
            </a:r>
            <a:r>
              <a:rPr lang="en-US" sz="1500" dirty="0" i="1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      *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dirty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 4  </a:t>
            </a:r>
            <a:r>
              <a:rPr lang="en-US" sz="1500" dirty="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       </a:t>
            </a:r>
            <a:r>
              <a:rPr lang="en-US" sz="1500" dirty="0" b="1">
                <a:solidFill>
                  <a:srgbClr val="9333EA"/>
                </a:solidFill>
                <a:latin typeface="Consolas"/>
                <a:ea typeface="Consolas"/>
                <a:cs typeface="Consolas"/>
              </a:rPr>
              <a:t>DATA</a:t>
            </a:r>
            <a:r>
              <a:rPr lang="en-US" sz="1500" dirty="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 </a:t>
            </a:r>
            <a:r>
              <a:rPr lang="en-US" sz="1500" dirty="0" b="1">
                <a:solidFill>
                  <a:srgbClr val="9333EA"/>
                </a:solidFill>
                <a:latin typeface="Consolas"/>
                <a:ea typeface="Consolas"/>
                <a:cs typeface="Consolas"/>
              </a:rPr>
              <a:t>DIVISION</a:t>
            </a:r>
            <a:r>
              <a:rPr lang="en-US" sz="1500" dirty="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.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dirty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 5  </a:t>
            </a:r>
            <a:r>
              <a:rPr lang="en-US" sz="1500" dirty="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       </a:t>
            </a:r>
            <a:r>
              <a:rPr lang="en-US" sz="1500" dirty="0" b="1">
                <a:solidFill>
                  <a:srgbClr val="9333EA"/>
                </a:solidFill>
                <a:latin typeface="Consolas"/>
                <a:ea typeface="Consolas"/>
                <a:cs typeface="Consolas"/>
              </a:rPr>
              <a:t>WORKING-STORAGE</a:t>
            </a:r>
            <a:r>
              <a:rPr lang="en-US" sz="1500" dirty="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 </a:t>
            </a:r>
            <a:r>
              <a:rPr lang="en-US" sz="1500" dirty="0" b="1">
                <a:solidFill>
                  <a:srgbClr val="9333EA"/>
                </a:solidFill>
                <a:latin typeface="Consolas"/>
                <a:ea typeface="Consolas"/>
                <a:cs typeface="Consolas"/>
              </a:rPr>
              <a:t>SECTION</a:t>
            </a:r>
            <a:r>
              <a:rPr lang="en-US" sz="1500" dirty="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.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dirty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 6  </a:t>
            </a:r>
            <a:r>
              <a:rPr lang="en-US" sz="1500" dirty="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       </a:t>
            </a:r>
            <a:r>
              <a:rPr lang="en-US" sz="1500" dirty="0">
                <a:solidFill>
                  <a:srgbClr val="C2410C"/>
                </a:solidFill>
                <a:latin typeface="Consolas"/>
                <a:ea typeface="Consolas"/>
                <a:cs typeface="Consolas"/>
              </a:rPr>
              <a:t>01</a:t>
            </a:r>
            <a:r>
              <a:rPr lang="en-US" sz="1500" dirty="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  </a:t>
            </a:r>
            <a:r>
              <a:rPr lang="en-US" sz="1500" dirty="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WS-NAME</a:t>
            </a:r>
            <a:r>
              <a:rPr lang="en-US" sz="1500" dirty="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       </a:t>
            </a:r>
            <a:r>
              <a:rPr lang="en-US" sz="1500" dirty="0" b="1">
                <a:solidFill>
                  <a:srgbClr val="9333EA"/>
                </a:solidFill>
                <a:latin typeface="Consolas"/>
                <a:ea typeface="Consolas"/>
                <a:cs typeface="Consolas"/>
              </a:rPr>
              <a:t>PIC</a:t>
            </a:r>
            <a:r>
              <a:rPr lang="en-US" sz="1500" dirty="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 </a:t>
            </a:r>
            <a:r>
              <a:rPr lang="en-US" sz="1500" dirty="0">
                <a:solidFill>
                  <a:srgbClr val="2563EB"/>
                </a:solidFill>
                <a:latin typeface="Consolas"/>
                <a:ea typeface="Consolas"/>
                <a:cs typeface="Consolas"/>
              </a:rPr>
              <a:t>X</a:t>
            </a:r>
            <a:r>
              <a:rPr lang="en-US" sz="1500" dirty="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(</a:t>
            </a:r>
            <a:r>
              <a:rPr lang="en-US" sz="1500" dirty="0">
                <a:solidFill>
                  <a:srgbClr val="C2410C"/>
                </a:solidFill>
                <a:latin typeface="Consolas"/>
                <a:ea typeface="Consolas"/>
                <a:cs typeface="Consolas"/>
              </a:rPr>
              <a:t>20</a:t>
            </a:r>
            <a:r>
              <a:rPr lang="en-US" sz="1500" dirty="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) </a:t>
            </a:r>
            <a:r>
              <a:rPr lang="en-US" sz="1500" dirty="0" b="1">
                <a:solidFill>
                  <a:srgbClr val="9333EA"/>
                </a:solidFill>
                <a:latin typeface="Consolas"/>
                <a:ea typeface="Consolas"/>
                <a:cs typeface="Consolas"/>
              </a:rPr>
              <a:t>VALUE</a:t>
            </a:r>
            <a:r>
              <a:rPr lang="en-US" sz="1500" dirty="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 </a:t>
            </a:r>
            <a:r>
              <a:rPr lang="en-US" sz="1500" dirty="0">
                <a:solidFill>
                  <a:srgbClr val="16A34A"/>
                </a:solidFill>
                <a:latin typeface="Consolas"/>
                <a:ea typeface="Consolas"/>
                <a:cs typeface="Consolas"/>
              </a:rPr>
              <a:t>'mainframe'</a:t>
            </a:r>
            <a:r>
              <a:rPr lang="en-US" sz="1500" dirty="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.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dirty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 7  </a:t>
            </a:r>
            <a:r>
              <a:rPr lang="en-US" sz="1500" dirty="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       </a:t>
            </a:r>
            <a:r>
              <a:rPr lang="en-US" sz="1500" dirty="0">
                <a:solidFill>
                  <a:srgbClr val="C2410C"/>
                </a:solidFill>
                <a:latin typeface="Consolas"/>
                <a:ea typeface="Consolas"/>
                <a:cs typeface="Consolas"/>
              </a:rPr>
              <a:t>01</a:t>
            </a:r>
            <a:r>
              <a:rPr lang="en-US" sz="1500" dirty="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  </a:t>
            </a:r>
            <a:r>
              <a:rPr lang="en-US" sz="1500" dirty="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WS-COUNT</a:t>
            </a:r>
            <a:r>
              <a:rPr lang="en-US" sz="1500" dirty="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      </a:t>
            </a:r>
            <a:r>
              <a:rPr lang="en-US" sz="1500" dirty="0" b="1">
                <a:solidFill>
                  <a:srgbClr val="9333EA"/>
                </a:solidFill>
                <a:latin typeface="Consolas"/>
                <a:ea typeface="Consolas"/>
                <a:cs typeface="Consolas"/>
              </a:rPr>
              <a:t>PIC</a:t>
            </a:r>
            <a:r>
              <a:rPr lang="en-US" sz="1500" dirty="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 </a:t>
            </a:r>
            <a:r>
              <a:rPr lang="en-US" sz="1500" dirty="0">
                <a:solidFill>
                  <a:srgbClr val="C2410C"/>
                </a:solidFill>
                <a:latin typeface="Consolas"/>
                <a:ea typeface="Consolas"/>
                <a:cs typeface="Consolas"/>
              </a:rPr>
              <a:t>9</a:t>
            </a:r>
            <a:r>
              <a:rPr lang="en-US" sz="1500" dirty="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(</a:t>
            </a:r>
            <a:r>
              <a:rPr lang="en-US" sz="1500" dirty="0">
                <a:solidFill>
                  <a:srgbClr val="C2410C"/>
                </a:solidFill>
                <a:latin typeface="Consolas"/>
                <a:ea typeface="Consolas"/>
                <a:cs typeface="Consolas"/>
              </a:rPr>
              <a:t>3</a:t>
            </a:r>
            <a:r>
              <a:rPr lang="en-US" sz="1500" dirty="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)  </a:t>
            </a:r>
            <a:r>
              <a:rPr lang="en-US" sz="1500" dirty="0">
                <a:solidFill>
                  <a:srgbClr val="0891B2"/>
                </a:solidFill>
                <a:latin typeface="Consolas"/>
                <a:ea typeface="Consolas"/>
                <a:cs typeface="Consolas"/>
              </a:rPr>
              <a:t>COMP-3</a:t>
            </a:r>
            <a:r>
              <a:rPr lang="en-US" sz="1500" dirty="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 </a:t>
            </a:r>
            <a:r>
              <a:rPr lang="en-US" sz="1500" dirty="0" b="1">
                <a:solidFill>
                  <a:srgbClr val="9333EA"/>
                </a:solidFill>
                <a:latin typeface="Consolas"/>
                <a:ea typeface="Consolas"/>
                <a:cs typeface="Consolas"/>
              </a:rPr>
              <a:t>VALUE</a:t>
            </a:r>
            <a:r>
              <a:rPr lang="en-US" sz="1500" dirty="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 </a:t>
            </a:r>
            <a:r>
              <a:rPr lang="en-US" sz="1500" dirty="0">
                <a:solidFill>
                  <a:srgbClr val="C2410C"/>
                </a:solidFill>
                <a:latin typeface="Consolas"/>
                <a:ea typeface="Consolas"/>
                <a:cs typeface="Consolas"/>
              </a:rPr>
              <a:t>5.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dirty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 8  </a:t>
            </a:r>
            <a:r>
              <a:rPr lang="en-US" sz="1500" dirty="0" i="1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      *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dirty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 9  </a:t>
            </a:r>
            <a:r>
              <a:rPr lang="en-US" sz="1500" dirty="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       </a:t>
            </a:r>
            <a:r>
              <a:rPr lang="en-US" sz="1500" dirty="0" b="1">
                <a:solidFill>
                  <a:srgbClr val="9333EA"/>
                </a:solidFill>
                <a:latin typeface="Consolas"/>
                <a:ea typeface="Consolas"/>
                <a:cs typeface="Consolas"/>
              </a:rPr>
              <a:t>PROCEDURE</a:t>
            </a:r>
            <a:r>
              <a:rPr lang="en-US" sz="1500" dirty="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 </a:t>
            </a:r>
            <a:r>
              <a:rPr lang="en-US" sz="1500" dirty="0" b="1">
                <a:solidFill>
                  <a:srgbClr val="9333EA"/>
                </a:solidFill>
                <a:latin typeface="Consolas"/>
                <a:ea typeface="Consolas"/>
                <a:cs typeface="Consolas"/>
              </a:rPr>
              <a:t>DIVISION</a:t>
            </a:r>
            <a:r>
              <a:rPr lang="en-US" sz="1500" dirty="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.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dirty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10  </a:t>
            </a:r>
            <a:r>
              <a:rPr lang="en-US" sz="1500" dirty="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           </a:t>
            </a:r>
            <a:r>
              <a:rPr lang="en-US" sz="1500" dirty="0" b="1">
                <a:solidFill>
                  <a:srgbClr val="9333EA"/>
                </a:solidFill>
                <a:latin typeface="Consolas"/>
                <a:ea typeface="Consolas"/>
                <a:cs typeface="Consolas"/>
              </a:rPr>
              <a:t>DISPLAY</a:t>
            </a:r>
            <a:r>
              <a:rPr lang="en-US" sz="1500" dirty="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 </a:t>
            </a:r>
            <a:r>
              <a:rPr lang="en-US" sz="1500" dirty="0">
                <a:solidFill>
                  <a:srgbClr val="16A34A"/>
                </a:solidFill>
                <a:latin typeface="Consolas"/>
                <a:ea typeface="Consolas"/>
                <a:cs typeface="Consolas"/>
              </a:rPr>
              <a:t>'Hello, '</a:t>
            </a:r>
            <a:r>
              <a:rPr lang="en-US" sz="1500" dirty="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 </a:t>
            </a:r>
            <a:r>
              <a:rPr lang="en-US" sz="1500" dirty="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WS-NAME</a:t>
            </a:r>
            <a:r>
              <a:rPr lang="en-US" sz="1500" dirty="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 </a:t>
            </a:r>
            <a:r>
              <a:rPr lang="en-US" sz="1500" dirty="0">
                <a:solidFill>
                  <a:srgbClr val="16A34A"/>
                </a:solidFill>
                <a:latin typeface="Consolas"/>
                <a:ea typeface="Consolas"/>
                <a:cs typeface="Consolas"/>
              </a:rPr>
              <a:t>'!'</a:t>
            </a:r>
            <a:r>
              <a:rPr lang="en-US" sz="1500" dirty="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.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dirty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11  </a:t>
            </a:r>
            <a:r>
              <a:rPr lang="en-US" sz="1500" dirty="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           </a:t>
            </a:r>
            <a:r>
              <a:rPr lang="en-US" sz="1500" dirty="0" b="1">
                <a:solidFill>
                  <a:srgbClr val="9333EA"/>
                </a:solidFill>
                <a:latin typeface="Consolas"/>
                <a:ea typeface="Consolas"/>
                <a:cs typeface="Consolas"/>
              </a:rPr>
              <a:t>PERFORM</a:t>
            </a:r>
            <a:r>
              <a:rPr lang="en-US" sz="1500" dirty="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 </a:t>
            </a:r>
            <a:r>
              <a:rPr lang="en-US" sz="1500" dirty="0" b="1">
                <a:solidFill>
                  <a:srgbClr val="9333EA"/>
                </a:solidFill>
                <a:latin typeface="Consolas"/>
                <a:ea typeface="Consolas"/>
                <a:cs typeface="Consolas"/>
              </a:rPr>
              <a:t>VARYING</a:t>
            </a:r>
            <a:r>
              <a:rPr lang="en-US" sz="1500" dirty="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 </a:t>
            </a:r>
            <a:r>
              <a:rPr lang="en-US" sz="1500" dirty="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I</a:t>
            </a:r>
            <a:r>
              <a:rPr lang="en-US" sz="1500" dirty="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 </a:t>
            </a:r>
            <a:r>
              <a:rPr lang="en-US" sz="1500" dirty="0" b="1">
                <a:solidFill>
                  <a:srgbClr val="9333EA"/>
                </a:solidFill>
                <a:latin typeface="Consolas"/>
                <a:ea typeface="Consolas"/>
                <a:cs typeface="Consolas"/>
              </a:rPr>
              <a:t>FROM</a:t>
            </a:r>
            <a:r>
              <a:rPr lang="en-US" sz="1500" dirty="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 </a:t>
            </a:r>
            <a:r>
              <a:rPr lang="en-US" sz="1500" dirty="0">
                <a:solidFill>
                  <a:srgbClr val="C2410C"/>
                </a:solidFill>
                <a:latin typeface="Consolas"/>
                <a:ea typeface="Consolas"/>
                <a:cs typeface="Consolas"/>
              </a:rPr>
              <a:t>1</a:t>
            </a:r>
            <a:r>
              <a:rPr lang="en-US" sz="1500" dirty="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 </a:t>
            </a:r>
            <a:r>
              <a:rPr lang="en-US" sz="1500" dirty="0" b="1">
                <a:solidFill>
                  <a:srgbClr val="9333EA"/>
                </a:solidFill>
                <a:latin typeface="Consolas"/>
                <a:ea typeface="Consolas"/>
                <a:cs typeface="Consolas"/>
              </a:rPr>
              <a:t>BY</a:t>
            </a:r>
            <a:r>
              <a:rPr lang="en-US" sz="1500" dirty="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 </a:t>
            </a:r>
            <a:r>
              <a:rPr lang="en-US" sz="1500" dirty="0">
                <a:solidFill>
                  <a:srgbClr val="C2410C"/>
                </a:solidFill>
                <a:latin typeface="Consolas"/>
                <a:ea typeface="Consolas"/>
                <a:cs typeface="Consolas"/>
              </a:rPr>
              <a:t>1</a:t>
            </a:r>
            <a:r>
              <a:rPr lang="en-US" sz="1500" dirty="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 </a:t>
            </a:r>
            <a:r>
              <a:rPr lang="en-US" sz="1500" dirty="0" b="1">
                <a:solidFill>
                  <a:srgbClr val="9333EA"/>
                </a:solidFill>
                <a:latin typeface="Consolas"/>
                <a:ea typeface="Consolas"/>
                <a:cs typeface="Consolas"/>
              </a:rPr>
              <a:t>UNTIL</a:t>
            </a:r>
            <a:r>
              <a:rPr lang="en-US" sz="1500" dirty="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 </a:t>
            </a:r>
            <a:r>
              <a:rPr lang="en-US" sz="1500" dirty="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I</a:t>
            </a:r>
            <a:r>
              <a:rPr lang="en-US" sz="1500" dirty="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 &gt; </a:t>
            </a:r>
            <a:r>
              <a:rPr lang="en-US" sz="1500" dirty="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WS-COUNT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dirty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12  </a:t>
            </a:r>
            <a:r>
              <a:rPr lang="en-US" sz="1500" dirty="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               </a:t>
            </a:r>
            <a:r>
              <a:rPr lang="en-US" sz="1500" dirty="0" b="1">
                <a:solidFill>
                  <a:srgbClr val="9333EA"/>
                </a:solidFill>
                <a:latin typeface="Consolas"/>
                <a:ea typeface="Consolas"/>
                <a:cs typeface="Consolas"/>
              </a:rPr>
              <a:t>DISPLAY</a:t>
            </a:r>
            <a:r>
              <a:rPr lang="en-US" sz="1500" dirty="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 </a:t>
            </a:r>
            <a:r>
              <a:rPr lang="en-US" sz="1500" dirty="0">
                <a:solidFill>
                  <a:srgbClr val="16A34A"/>
                </a:solidFill>
                <a:latin typeface="Consolas"/>
                <a:ea typeface="Consolas"/>
                <a:cs typeface="Consolas"/>
              </a:rPr>
              <a:t>'iteration '</a:t>
            </a:r>
            <a:r>
              <a:rPr lang="en-US" sz="1500" dirty="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 </a:t>
            </a:r>
            <a:r>
              <a:rPr lang="en-US" sz="1500" dirty="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I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dirty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13  </a:t>
            </a:r>
            <a:r>
              <a:rPr lang="en-US" sz="1500" dirty="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           </a:t>
            </a:r>
            <a:r>
              <a:rPr lang="en-US" sz="1500" dirty="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END-PERFORM</a:t>
            </a:r>
            <a:r>
              <a:rPr lang="en-US" sz="1500" dirty="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.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dirty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14  </a:t>
            </a:r>
            <a:r>
              <a:rPr lang="en-US" sz="1500" dirty="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           </a:t>
            </a:r>
            <a:r>
              <a:rPr lang="en-US" sz="1500" dirty="0" b="1">
                <a:solidFill>
                  <a:srgbClr val="9333EA"/>
                </a:solidFill>
                <a:latin typeface="Consolas"/>
                <a:ea typeface="Consolas"/>
                <a:cs typeface="Consolas"/>
              </a:rPr>
              <a:t>STOP</a:t>
            </a:r>
            <a:r>
              <a:rPr lang="en-US" sz="1500" dirty="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 </a:t>
            </a:r>
            <a:r>
              <a:rPr lang="en-US" sz="1500" dirty="0" b="1">
                <a:solidFill>
                  <a:srgbClr val="9333EA"/>
                </a:solidFill>
                <a:latin typeface="Consolas"/>
                <a:ea typeface="Consolas"/>
                <a:cs typeface="Consolas"/>
              </a:rPr>
              <a:t>RUN</a:t>
            </a:r>
            <a:r>
              <a:rPr lang="en-US" sz="1500" dirty="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.</a:t>
            </a:r>
          </a:p>
        </p:txBody>
      </p:sp>
      <p:sp>
        <p:nvSpPr>
          <p:cNvPr id="106" name="DeckFooter106"/>
          <p:cNvSpPr txBox="1"/>
          <p:nvPr/>
        </p:nvSpPr>
        <p:spPr>
          <a:xfrm>
            <a:off x="533400" y="6458000"/>
            <a:ext cx="10325200" cy="30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US" sz="1000" dirty="0">
                <a:solidFill>
                  <a:srgbClr val="94A3B8"/>
                </a:solidFill>
                <a:latin typeface="Calibri"/>
                <a:ea typeface="Calibri"/>
                <a:cs typeface="Calibri"/>
              </a:rPr>
              <a:t>md2any</a:t>
            </a:r>
          </a:p>
        </p:txBody>
      </p:sp>
      <p:sp>
        <p:nvSpPr>
          <p:cNvPr id="107" name="PageNum107"/>
          <p:cNvSpPr txBox="1"/>
          <p:nvPr/>
        </p:nvSpPr>
        <p:spPr>
          <a:xfrm>
            <a:off x="10858600" y="6458000"/>
            <a:ext cx="800000" cy="30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buNone/>
            </a:pPr>
            <a:r>
              <a:rPr lang="en-US" sz="1000" dirty="0">
                <a:solidFill>
                  <a:srgbClr val="94A3B8"/>
                </a:solidFill>
                <a:latin typeface="Calibri"/>
                <a:ea typeface="Calibri"/>
                <a:cs typeface="Calibri"/>
              </a:rPr>
              <a:t>17 / 44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Title100"/>
          <p:cNvSpPr txBox="1"/>
          <p:nvPr/>
        </p:nvSpPr>
        <p:spPr>
          <a:xfrm>
            <a:off x="533400" y="360000"/>
            <a:ext cx="11125200" cy="72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US" sz="2800" dirty="0" b="1">
                <a:solidFill>
                  <a:srgbClr val="0F172A"/>
                </a:solidFill>
                <a:latin typeface="Calibri Light"/>
                <a:ea typeface="Calibri Light"/>
                <a:cs typeface="Calibri Light"/>
              </a:rPr>
              <a:t>JCL</a:t>
            </a:r>
          </a:p>
        </p:txBody>
      </p:sp>
      <p:sp>
        <p:nvSpPr>
          <p:cNvPr id="101" name="TitleAccent101"/>
          <p:cNvSpPr/>
          <p:nvPr/>
        </p:nvSpPr>
        <p:spPr>
          <a:xfrm>
            <a:off x="533400" y="1110000"/>
            <a:ext cx="400000" cy="5000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txBody>
          <a:bodyPr wrap="square" anchor="ctr"/>
          <a:lstStyle/>
          <a:p>
            <a:endParaRPr lang="en-US"/>
          </a:p>
        </p:txBody>
      </p:sp>
      <p:sp>
        <p:nvSpPr>
          <p:cNvPr id="102" name="TitleDivider102"/>
          <p:cNvSpPr/>
          <p:nvPr/>
        </p:nvSpPr>
        <p:spPr>
          <a:xfrm>
            <a:off x="953400" y="1128000"/>
            <a:ext cx="10705200" cy="140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wrap="square" anchor="ctr"/>
          <a:lstStyle/>
          <a:p>
            <a:endParaRPr lang="en-US"/>
          </a:p>
        </p:txBody>
      </p:sp>
      <p:sp>
        <p:nvSpPr>
          <p:cNvPr id="103" name="Para103"/>
          <p:cNvSpPr txBox="1"/>
          <p:nvPr/>
        </p:nvSpPr>
        <p:spPr>
          <a:xfrm>
            <a:off x="533400" y="1310000"/>
            <a:ext cx="11125200" cy="60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US" sz="1800" dirty="0">
                <a:solidFill>
                  <a:srgbClr val="0369A1"/>
                </a:solidFill>
                <a:latin typeface="Consolas"/>
                <a:ea typeface="Consolas"/>
                <a:cs typeface="Consolas"/>
              </a:rPr>
              <a:t>//*</a:t>
            </a:r>
            <a:r>
              <a:rPr lang="en-US" sz="1800" dirty="0">
                <a:solidFill>
                  <a:srgbClr val="334155"/>
                </a:solidFill>
                <a:latin typeface="Calibri"/>
                <a:ea typeface="Calibri"/>
                <a:cs typeface="Calibri"/>
              </a:rPr>
              <a:t> for comments, </a:t>
            </a:r>
            <a:r>
              <a:rPr lang="en-US" sz="1800" dirty="0">
                <a:solidFill>
                  <a:srgbClr val="0369A1"/>
                </a:solidFill>
                <a:latin typeface="Consolas"/>
                <a:ea typeface="Consolas"/>
                <a:cs typeface="Consolas"/>
              </a:rPr>
              <a:t>//</a:t>
            </a:r>
            <a:r>
              <a:rPr lang="en-US" sz="1800" dirty="0">
                <a:solidFill>
                  <a:srgbClr val="334155"/>
                </a:solidFill>
                <a:latin typeface="Calibri"/>
                <a:ea typeface="Calibri"/>
                <a:cs typeface="Calibri"/>
              </a:rPr>
              <a:t> starts every statement, parameters are </a:t>
            </a:r>
            <a:r>
              <a:rPr lang="en-US" sz="1800" dirty="0">
                <a:solidFill>
                  <a:srgbClr val="0369A1"/>
                </a:solidFill>
                <a:latin typeface="Consolas"/>
                <a:ea typeface="Consolas"/>
                <a:cs typeface="Consolas"/>
              </a:rPr>
              <a:t>KEY=VALUE</a:t>
            </a:r>
            <a:r>
              <a:rPr lang="en-US" sz="1800" dirty="0">
                <a:solidFill>
                  <a:srgbClr val="334155"/>
                </a:solidFill>
                <a:latin typeface="Calibri"/>
                <a:ea typeface="Calibri"/>
                <a:cs typeface="Calibri"/>
              </a:rPr>
              <a:t>.</a:t>
            </a:r>
          </a:p>
        </p:txBody>
      </p:sp>
      <p:sp>
        <p:nvSpPr>
          <p:cNvPr id="104" name="CodeTitle104"/>
          <p:cNvSpPr/>
          <p:nvPr/>
        </p:nvSpPr>
        <p:spPr>
          <a:xfrm>
            <a:off x="533400" y="1990000"/>
            <a:ext cx="11125200" cy="320000"/>
          </a:xfrm>
          <a:custGeom>
            <a:avLst/>
            <a:gdLst/>
            <a:ahLst/>
            <a:cxnLst/>
            <a:rect l="0" t="0" r="0" b="0"/>
            <a:pathLst>
              <a:path w="100000" h="100000">
                <a:moveTo>
                  <a:pt x="4500" y="0"/>
                </a:moveTo>
                <a:lnTo>
                  <a:pt x="95500" y="0"/>
                </a:lnTo>
                <a:cubicBezTo>
                  <a:pt x="97983" y="0"/>
                  <a:pt x="100000" y="2017"/>
                  <a:pt x="100000" y="4500"/>
                </a:cubicBezTo>
                <a:lnTo>
                  <a:pt x="100000" y="100000"/>
                </a:lnTo>
                <a:lnTo>
                  <a:pt x="0" y="100000"/>
                </a:lnTo>
                <a:lnTo>
                  <a:pt x="0" y="4500"/>
                </a:lnTo>
                <a:cubicBezTo>
                  <a:pt x="0" y="2017"/>
                  <a:pt x="2017" y="0"/>
                  <a:pt x="4500" y="0"/>
                </a:cubicBezTo>
                <a:close/>
              </a:path>
            </a:pathLst>
          </a:custGeom>
          <a:solidFill>
            <a:srgbClr val="E2E8F0"/>
          </a:solidFill>
          <a:ln w="6350">
            <a:solidFill>
              <a:srgbClr val="E2E8F0"/>
            </a:solidFill>
          </a:ln>
        </p:spPr>
        <p:txBody>
          <a:bodyPr wrap="square" lIns="180000" tIns="50000" rIns="180000" bIns="50000" anchor="ctr"/>
          <a:lstStyle/>
          <a:p>
            <a:pPr algn="l">
              <a:buNone/>
            </a:pPr>
            <a:r>
              <a:rPr lang="en-US" sz="1200" b="1" dirty="0">
                <a:solidFill>
                  <a:srgbClr val="0F172A"/>
                </a:solidFill>
                <a:latin typeface="Consolas"/>
                <a:ea typeface="Consolas"/>
                <a:cs typeface="Consolas"/>
              </a:rPr>
              <a:t>HELLO.jcl</a:t>
            </a:r>
            <a:r>
              <a:rPr lang="en-US" sz="1100" dirty="0">
                <a:solidFill>
                  <a:srgbClr val="94A3B8"/>
                </a:solidFill>
                <a:latin typeface="Calibri"/>
              </a:rPr>
              <a:t>  ·  jcl</a:t>
            </a:r>
          </a:p>
        </p:txBody>
      </p:sp>
      <p:sp>
        <p:nvSpPr>
          <p:cNvPr id="105" name="CodeBox105"/>
          <p:cNvSpPr/>
          <p:nvPr/>
        </p:nvSpPr>
        <p:spPr>
          <a:xfrm>
            <a:off x="533400" y="2310000"/>
            <a:ext cx="11125200" cy="3680000"/>
          </a:xfrm>
          <a:custGeom>
            <a:avLst/>
            <a:gdLst/>
            <a:ahLst/>
            <a:cxnLst/>
            <a:rect l="0" t="0" r="0" b="0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95500"/>
                </a:lnTo>
                <a:cubicBezTo>
                  <a:pt x="100000" y="97983"/>
                  <a:pt x="97983" y="100000"/>
                  <a:pt x="95500" y="100000"/>
                </a:cubicBezTo>
                <a:lnTo>
                  <a:pt x="4500" y="100000"/>
                </a:lnTo>
                <a:cubicBezTo>
                  <a:pt x="2017" y="100000"/>
                  <a:pt x="0" y="97983"/>
                  <a:pt x="0" y="95500"/>
                </a:cubicBezTo>
                <a:close/>
              </a:path>
            </a:pathLst>
          </a:custGeom>
          <a:solidFill>
            <a:srgbClr val="F1F5F9"/>
          </a:solidFill>
          <a:ln w="6350">
            <a:solidFill>
              <a:srgbClr val="E2E8F0"/>
            </a:solidFill>
          </a:ln>
        </p:spPr>
        <p:txBody>
          <a:bodyPr wrap="square" lIns="180000" tIns="120000" rIns="180000" bIns="12000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dirty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 1  </a:t>
            </a:r>
            <a:r>
              <a:rPr lang="en-US" sz="1500" dirty="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//</a:t>
            </a:r>
            <a:r>
              <a:rPr lang="en-US" sz="1500" dirty="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HELLO</a:t>
            </a:r>
            <a:r>
              <a:rPr lang="en-US" sz="1500" dirty="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    </a:t>
            </a:r>
            <a:r>
              <a:rPr lang="en-US" sz="1500" dirty="0" b="1">
                <a:solidFill>
                  <a:srgbClr val="9333EA"/>
                </a:solidFill>
                <a:latin typeface="Consolas"/>
                <a:ea typeface="Consolas"/>
                <a:cs typeface="Consolas"/>
              </a:rPr>
              <a:t>JOB</a:t>
            </a:r>
            <a:r>
              <a:rPr lang="en-US" sz="1500" dirty="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  (</a:t>
            </a:r>
            <a:r>
              <a:rPr lang="en-US" sz="1500" dirty="0" b="1">
                <a:solidFill>
                  <a:srgbClr val="9333EA"/>
                </a:solidFill>
                <a:latin typeface="Consolas"/>
                <a:ea typeface="Consolas"/>
                <a:cs typeface="Consolas"/>
              </a:rPr>
              <a:t>ACCT</a:t>
            </a:r>
            <a:r>
              <a:rPr lang="en-US" sz="1500" dirty="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),</a:t>
            </a:r>
            <a:r>
              <a:rPr lang="en-US" sz="1500" dirty="0">
                <a:solidFill>
                  <a:srgbClr val="16A34A"/>
                </a:solidFill>
                <a:latin typeface="Consolas"/>
                <a:ea typeface="Consolas"/>
                <a:cs typeface="Consolas"/>
              </a:rPr>
              <a:t>'PAUL'</a:t>
            </a:r>
            <a:r>
              <a:rPr lang="en-US" sz="1500" dirty="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,</a:t>
            </a:r>
            <a:r>
              <a:rPr lang="en-US" sz="1500" dirty="0" b="1">
                <a:solidFill>
                  <a:srgbClr val="9333EA"/>
                </a:solidFill>
                <a:latin typeface="Consolas"/>
                <a:ea typeface="Consolas"/>
                <a:cs typeface="Consolas"/>
              </a:rPr>
              <a:t>CLASS</a:t>
            </a:r>
            <a:r>
              <a:rPr lang="en-US" sz="1500" dirty="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=</a:t>
            </a:r>
            <a:r>
              <a:rPr lang="en-US" sz="1500" dirty="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A</a:t>
            </a:r>
            <a:r>
              <a:rPr lang="en-US" sz="1500" dirty="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,</a:t>
            </a:r>
            <a:r>
              <a:rPr lang="en-US" sz="1500" dirty="0" b="1">
                <a:solidFill>
                  <a:srgbClr val="9333EA"/>
                </a:solidFill>
                <a:latin typeface="Consolas"/>
                <a:ea typeface="Consolas"/>
                <a:cs typeface="Consolas"/>
              </a:rPr>
              <a:t>MSGCLASS</a:t>
            </a:r>
            <a:r>
              <a:rPr lang="en-US" sz="1500" dirty="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=</a:t>
            </a:r>
            <a:r>
              <a:rPr lang="en-US" sz="1500" dirty="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X</a:t>
            </a:r>
            <a:r>
              <a:rPr lang="en-US" sz="1500" dirty="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,</a:t>
            </a:r>
            <a:r>
              <a:rPr lang="en-US" sz="1500" dirty="0" b="1">
                <a:solidFill>
                  <a:srgbClr val="9333EA"/>
                </a:solidFill>
                <a:latin typeface="Consolas"/>
                <a:ea typeface="Consolas"/>
                <a:cs typeface="Consolas"/>
              </a:rPr>
              <a:t>NOTIFY</a:t>
            </a:r>
            <a:r>
              <a:rPr lang="en-US" sz="1500" dirty="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=</a:t>
            </a:r>
            <a:r>
              <a:rPr lang="en-US" sz="1500" dirty="0">
                <a:solidFill>
                  <a:srgbClr val="DC2626"/>
                </a:solidFill>
                <a:latin typeface="Consolas"/>
                <a:ea typeface="Consolas"/>
                <a:cs typeface="Consolas"/>
              </a:rPr>
              <a:t>&amp;SYSUID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dirty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 2  </a:t>
            </a:r>
            <a:r>
              <a:rPr lang="en-US" sz="1500" dirty="0" i="1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//*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dirty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 3  </a:t>
            </a:r>
            <a:r>
              <a:rPr lang="en-US" sz="1500" dirty="0" i="1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//*  RUN A SIMPLE BATCH STEP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dirty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 4  </a:t>
            </a:r>
            <a:r>
              <a:rPr lang="en-US" sz="1500" dirty="0" i="1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//*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dirty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 5  </a:t>
            </a:r>
            <a:r>
              <a:rPr lang="en-US" sz="1500" dirty="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//</a:t>
            </a:r>
            <a:r>
              <a:rPr lang="en-US" sz="1500" dirty="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STEP1</a:t>
            </a:r>
            <a:r>
              <a:rPr lang="en-US" sz="1500" dirty="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    </a:t>
            </a:r>
            <a:r>
              <a:rPr lang="en-US" sz="1500" dirty="0" b="1">
                <a:solidFill>
                  <a:srgbClr val="9333EA"/>
                </a:solidFill>
                <a:latin typeface="Consolas"/>
                <a:ea typeface="Consolas"/>
                <a:cs typeface="Consolas"/>
              </a:rPr>
              <a:t>EXEC</a:t>
            </a:r>
            <a:r>
              <a:rPr lang="en-US" sz="1500" dirty="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 </a:t>
            </a:r>
            <a:r>
              <a:rPr lang="en-US" sz="1500" dirty="0" b="1">
                <a:solidFill>
                  <a:srgbClr val="9333EA"/>
                </a:solidFill>
                <a:latin typeface="Consolas"/>
                <a:ea typeface="Consolas"/>
                <a:cs typeface="Consolas"/>
              </a:rPr>
              <a:t>PGM</a:t>
            </a:r>
            <a:r>
              <a:rPr lang="en-US" sz="1500" dirty="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=</a:t>
            </a:r>
            <a:r>
              <a:rPr lang="en-US" sz="1500" dirty="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IEFBR14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dirty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 6  </a:t>
            </a:r>
            <a:r>
              <a:rPr lang="en-US" sz="1500" dirty="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//</a:t>
            </a:r>
            <a:r>
              <a:rPr lang="en-US" sz="1500" dirty="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SYSPRINT</a:t>
            </a:r>
            <a:r>
              <a:rPr lang="en-US" sz="1500" dirty="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 </a:t>
            </a:r>
            <a:r>
              <a:rPr lang="en-US" sz="1500" dirty="0" b="1">
                <a:solidFill>
                  <a:srgbClr val="9333EA"/>
                </a:solidFill>
                <a:latin typeface="Consolas"/>
                <a:ea typeface="Consolas"/>
                <a:cs typeface="Consolas"/>
              </a:rPr>
              <a:t>DD</a:t>
            </a:r>
            <a:r>
              <a:rPr lang="en-US" sz="1500" dirty="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   </a:t>
            </a:r>
            <a:r>
              <a:rPr lang="en-US" sz="1500" dirty="0" b="1">
                <a:solidFill>
                  <a:srgbClr val="9333EA"/>
                </a:solidFill>
                <a:latin typeface="Consolas"/>
                <a:ea typeface="Consolas"/>
                <a:cs typeface="Consolas"/>
              </a:rPr>
              <a:t>SYSOUT</a:t>
            </a:r>
            <a:r>
              <a:rPr lang="en-US" sz="1500" dirty="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=*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dirty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 7  </a:t>
            </a:r>
            <a:r>
              <a:rPr lang="en-US" sz="1500" dirty="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//</a:t>
            </a:r>
            <a:r>
              <a:rPr lang="en-US" sz="1500" dirty="0" b="1">
                <a:solidFill>
                  <a:srgbClr val="9333EA"/>
                </a:solidFill>
                <a:latin typeface="Consolas"/>
                <a:ea typeface="Consolas"/>
                <a:cs typeface="Consolas"/>
              </a:rPr>
              <a:t>SYSIN</a:t>
            </a:r>
            <a:r>
              <a:rPr lang="en-US" sz="1500" dirty="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    </a:t>
            </a:r>
            <a:r>
              <a:rPr lang="en-US" sz="1500" dirty="0" b="1">
                <a:solidFill>
                  <a:srgbClr val="9333EA"/>
                </a:solidFill>
                <a:latin typeface="Consolas"/>
                <a:ea typeface="Consolas"/>
                <a:cs typeface="Consolas"/>
              </a:rPr>
              <a:t>DD</a:t>
            </a:r>
            <a:r>
              <a:rPr lang="en-US" sz="1500" dirty="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   *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dirty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 8  </a:t>
            </a:r>
            <a:r>
              <a:rPr lang="en-US" sz="1500" dirty="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  </a:t>
            </a:r>
            <a:r>
              <a:rPr lang="en-US" sz="1500" dirty="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HELLO</a:t>
            </a:r>
            <a:r>
              <a:rPr lang="en-US" sz="1500" dirty="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 </a:t>
            </a:r>
            <a:r>
              <a:rPr lang="en-US" sz="1500" dirty="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MAINFRAME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dirty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 9  </a:t>
            </a:r>
            <a:r>
              <a:rPr lang="en-US" sz="1500" dirty="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/*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dirty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10  </a:t>
            </a:r>
            <a:r>
              <a:rPr lang="en-US" sz="1500" dirty="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//</a:t>
            </a:r>
            <a:r>
              <a:rPr lang="en-US" sz="1500" dirty="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STEP2</a:t>
            </a:r>
            <a:r>
              <a:rPr lang="en-US" sz="1500" dirty="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    </a:t>
            </a:r>
            <a:r>
              <a:rPr lang="en-US" sz="1500" dirty="0" b="1">
                <a:solidFill>
                  <a:srgbClr val="9333EA"/>
                </a:solidFill>
                <a:latin typeface="Consolas"/>
                <a:ea typeface="Consolas"/>
                <a:cs typeface="Consolas"/>
              </a:rPr>
              <a:t>EXEC</a:t>
            </a:r>
            <a:r>
              <a:rPr lang="en-US" sz="1500" dirty="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 </a:t>
            </a:r>
            <a:r>
              <a:rPr lang="en-US" sz="1500" dirty="0" b="1">
                <a:solidFill>
                  <a:srgbClr val="9333EA"/>
                </a:solidFill>
                <a:latin typeface="Consolas"/>
                <a:ea typeface="Consolas"/>
                <a:cs typeface="Consolas"/>
              </a:rPr>
              <a:t>PGM</a:t>
            </a:r>
            <a:r>
              <a:rPr lang="en-US" sz="1500" dirty="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=</a:t>
            </a:r>
            <a:r>
              <a:rPr lang="en-US" sz="1500" dirty="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SORT</a:t>
            </a:r>
            <a:r>
              <a:rPr lang="en-US" sz="1500" dirty="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,</a:t>
            </a:r>
            <a:r>
              <a:rPr lang="en-US" sz="1500" dirty="0" b="1">
                <a:solidFill>
                  <a:srgbClr val="9333EA"/>
                </a:solidFill>
                <a:latin typeface="Consolas"/>
                <a:ea typeface="Consolas"/>
                <a:cs typeface="Consolas"/>
              </a:rPr>
              <a:t>COND</a:t>
            </a:r>
            <a:r>
              <a:rPr lang="en-US" sz="1500" dirty="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=(</a:t>
            </a:r>
            <a:r>
              <a:rPr lang="en-US" sz="1500" dirty="0">
                <a:solidFill>
                  <a:srgbClr val="C2410C"/>
                </a:solidFill>
                <a:latin typeface="Consolas"/>
                <a:ea typeface="Consolas"/>
                <a:cs typeface="Consolas"/>
              </a:rPr>
              <a:t>0</a:t>
            </a:r>
            <a:r>
              <a:rPr lang="en-US" sz="1500" dirty="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,</a:t>
            </a:r>
            <a:r>
              <a:rPr lang="en-US" sz="1500" dirty="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LT</a:t>
            </a:r>
            <a:r>
              <a:rPr lang="en-US" sz="1500" dirty="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,</a:t>
            </a:r>
            <a:r>
              <a:rPr lang="en-US" sz="1500" dirty="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STEP1</a:t>
            </a:r>
            <a:r>
              <a:rPr lang="en-US" sz="1500" dirty="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)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dirty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11  </a:t>
            </a:r>
            <a:r>
              <a:rPr lang="en-US" sz="1500" dirty="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//</a:t>
            </a:r>
            <a:r>
              <a:rPr lang="en-US" sz="1500" dirty="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SORTIN</a:t>
            </a:r>
            <a:r>
              <a:rPr lang="en-US" sz="1500" dirty="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   </a:t>
            </a:r>
            <a:r>
              <a:rPr lang="en-US" sz="1500" dirty="0" b="1">
                <a:solidFill>
                  <a:srgbClr val="9333EA"/>
                </a:solidFill>
                <a:latin typeface="Consolas"/>
                <a:ea typeface="Consolas"/>
                <a:cs typeface="Consolas"/>
              </a:rPr>
              <a:t>DD</a:t>
            </a:r>
            <a:r>
              <a:rPr lang="en-US" sz="1500" dirty="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   </a:t>
            </a:r>
            <a:r>
              <a:rPr lang="en-US" sz="1500" dirty="0" b="1">
                <a:solidFill>
                  <a:srgbClr val="9333EA"/>
                </a:solidFill>
                <a:latin typeface="Consolas"/>
                <a:ea typeface="Consolas"/>
                <a:cs typeface="Consolas"/>
              </a:rPr>
              <a:t>DSN</a:t>
            </a:r>
            <a:r>
              <a:rPr lang="en-US" sz="1500" dirty="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=</a:t>
            </a:r>
            <a:r>
              <a:rPr lang="en-US" sz="1500" dirty="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PAUL</a:t>
            </a:r>
            <a:r>
              <a:rPr lang="en-US" sz="1500" dirty="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.</a:t>
            </a:r>
            <a:r>
              <a:rPr lang="en-US" sz="1500" dirty="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INPUT</a:t>
            </a:r>
            <a:r>
              <a:rPr lang="en-US" sz="1500" dirty="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,</a:t>
            </a:r>
            <a:r>
              <a:rPr lang="en-US" sz="1500" dirty="0" b="1">
                <a:solidFill>
                  <a:srgbClr val="9333EA"/>
                </a:solidFill>
                <a:latin typeface="Consolas"/>
                <a:ea typeface="Consolas"/>
                <a:cs typeface="Consolas"/>
              </a:rPr>
              <a:t>DISP</a:t>
            </a:r>
            <a:r>
              <a:rPr lang="en-US" sz="1500" dirty="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=</a:t>
            </a:r>
            <a:r>
              <a:rPr lang="en-US" sz="1500" dirty="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SHR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dirty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12  </a:t>
            </a:r>
            <a:r>
              <a:rPr lang="en-US" sz="1500" dirty="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//</a:t>
            </a:r>
            <a:r>
              <a:rPr lang="en-US" sz="1500" dirty="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SORTOUT</a:t>
            </a:r>
            <a:r>
              <a:rPr lang="en-US" sz="1500" dirty="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  </a:t>
            </a:r>
            <a:r>
              <a:rPr lang="en-US" sz="1500" dirty="0" b="1">
                <a:solidFill>
                  <a:srgbClr val="9333EA"/>
                </a:solidFill>
                <a:latin typeface="Consolas"/>
                <a:ea typeface="Consolas"/>
                <a:cs typeface="Consolas"/>
              </a:rPr>
              <a:t>DD</a:t>
            </a:r>
            <a:r>
              <a:rPr lang="en-US" sz="1500" dirty="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   </a:t>
            </a:r>
            <a:r>
              <a:rPr lang="en-US" sz="1500" dirty="0" b="1">
                <a:solidFill>
                  <a:srgbClr val="9333EA"/>
                </a:solidFill>
                <a:latin typeface="Consolas"/>
                <a:ea typeface="Consolas"/>
                <a:cs typeface="Consolas"/>
              </a:rPr>
              <a:t>DSN</a:t>
            </a:r>
            <a:r>
              <a:rPr lang="en-US" sz="1500" dirty="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=</a:t>
            </a:r>
            <a:r>
              <a:rPr lang="en-US" sz="1500" dirty="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PAUL</a:t>
            </a:r>
            <a:r>
              <a:rPr lang="en-US" sz="1500" dirty="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.</a:t>
            </a:r>
            <a:r>
              <a:rPr lang="en-US" sz="1500" dirty="0" b="1">
                <a:solidFill>
                  <a:srgbClr val="9333EA"/>
                </a:solidFill>
                <a:latin typeface="Consolas"/>
                <a:ea typeface="Consolas"/>
                <a:cs typeface="Consolas"/>
              </a:rPr>
              <a:t>OUTPUT</a:t>
            </a:r>
            <a:r>
              <a:rPr lang="en-US" sz="1500" dirty="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,</a:t>
            </a:r>
            <a:r>
              <a:rPr lang="en-US" sz="1500" dirty="0" b="1">
                <a:solidFill>
                  <a:srgbClr val="9333EA"/>
                </a:solidFill>
                <a:latin typeface="Consolas"/>
                <a:ea typeface="Consolas"/>
                <a:cs typeface="Consolas"/>
              </a:rPr>
              <a:t>DISP</a:t>
            </a:r>
            <a:r>
              <a:rPr lang="en-US" sz="1500" dirty="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=(</a:t>
            </a:r>
            <a:r>
              <a:rPr lang="en-US" sz="1500" dirty="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NEW</a:t>
            </a:r>
            <a:r>
              <a:rPr lang="en-US" sz="1500" dirty="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,</a:t>
            </a:r>
            <a:r>
              <a:rPr lang="en-US" sz="1500" dirty="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CATLG</a:t>
            </a:r>
            <a:r>
              <a:rPr lang="en-US" sz="1500" dirty="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)</a:t>
            </a:r>
          </a:p>
        </p:txBody>
      </p:sp>
      <p:sp>
        <p:nvSpPr>
          <p:cNvPr id="106" name="DeckFooter106"/>
          <p:cNvSpPr txBox="1"/>
          <p:nvPr/>
        </p:nvSpPr>
        <p:spPr>
          <a:xfrm>
            <a:off x="533400" y="6458000"/>
            <a:ext cx="10325200" cy="30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US" sz="1000" dirty="0">
                <a:solidFill>
                  <a:srgbClr val="94A3B8"/>
                </a:solidFill>
                <a:latin typeface="Calibri"/>
                <a:ea typeface="Calibri"/>
                <a:cs typeface="Calibri"/>
              </a:rPr>
              <a:t>md2any</a:t>
            </a:r>
          </a:p>
        </p:txBody>
      </p:sp>
      <p:sp>
        <p:nvSpPr>
          <p:cNvPr id="107" name="PageNum107"/>
          <p:cNvSpPr txBox="1"/>
          <p:nvPr/>
        </p:nvSpPr>
        <p:spPr>
          <a:xfrm>
            <a:off x="10858600" y="6458000"/>
            <a:ext cx="800000" cy="30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buNone/>
            </a:pPr>
            <a:r>
              <a:rPr lang="en-US" sz="1000" dirty="0">
                <a:solidFill>
                  <a:srgbClr val="94A3B8"/>
                </a:solidFill>
                <a:latin typeface="Calibri"/>
                <a:ea typeface="Calibri"/>
                <a:cs typeface="Calibri"/>
              </a:rPr>
              <a:t>18 / 44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Title100"/>
          <p:cNvSpPr txBox="1"/>
          <p:nvPr/>
        </p:nvSpPr>
        <p:spPr>
          <a:xfrm>
            <a:off x="533400" y="360000"/>
            <a:ext cx="11125200" cy="72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US" sz="2800" dirty="0" b="1">
                <a:solidFill>
                  <a:srgbClr val="0F172A"/>
                </a:solidFill>
                <a:latin typeface="Calibri Light"/>
                <a:ea typeface="Calibri Light"/>
                <a:cs typeface="Calibri Light"/>
              </a:rPr>
              <a:t>REXX</a:t>
            </a:r>
          </a:p>
        </p:txBody>
      </p:sp>
      <p:sp>
        <p:nvSpPr>
          <p:cNvPr id="101" name="TitleAccent101"/>
          <p:cNvSpPr/>
          <p:nvPr/>
        </p:nvSpPr>
        <p:spPr>
          <a:xfrm>
            <a:off x="533400" y="1110000"/>
            <a:ext cx="400000" cy="5000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txBody>
          <a:bodyPr wrap="square" anchor="ctr"/>
          <a:lstStyle/>
          <a:p>
            <a:endParaRPr lang="en-US"/>
          </a:p>
        </p:txBody>
      </p:sp>
      <p:sp>
        <p:nvSpPr>
          <p:cNvPr id="102" name="TitleDivider102"/>
          <p:cNvSpPr/>
          <p:nvPr/>
        </p:nvSpPr>
        <p:spPr>
          <a:xfrm>
            <a:off x="953400" y="1128000"/>
            <a:ext cx="10705200" cy="140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wrap="square" anchor="ctr"/>
          <a:lstStyle/>
          <a:p>
            <a:endParaRPr lang="en-US"/>
          </a:p>
        </p:txBody>
      </p:sp>
      <p:sp>
        <p:nvSpPr>
          <p:cNvPr id="103" name="Para103"/>
          <p:cNvSpPr txBox="1"/>
          <p:nvPr/>
        </p:nvSpPr>
        <p:spPr>
          <a:xfrm>
            <a:off x="533400" y="1310000"/>
            <a:ext cx="11125200" cy="60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US" sz="1800" dirty="0">
                <a:solidFill>
                  <a:srgbClr val="0369A1"/>
                </a:solidFill>
                <a:latin typeface="Consolas"/>
                <a:ea typeface="Consolas"/>
                <a:cs typeface="Consolas"/>
              </a:rPr>
              <a:t>/* */</a:t>
            </a:r>
            <a:r>
              <a:rPr lang="en-US" sz="1800" dirty="0">
                <a:solidFill>
                  <a:srgbClr val="334155"/>
                </a:solidFill>
                <a:latin typeface="Calibri"/>
                <a:ea typeface="Calibri"/>
                <a:cs typeface="Calibri"/>
              </a:rPr>
              <a:t> block comments, case-insensitive keywords, classic scripting feel.</a:t>
            </a:r>
          </a:p>
        </p:txBody>
      </p:sp>
      <p:sp>
        <p:nvSpPr>
          <p:cNvPr id="104" name="CodeTitle104"/>
          <p:cNvSpPr/>
          <p:nvPr/>
        </p:nvSpPr>
        <p:spPr>
          <a:xfrm>
            <a:off x="533400" y="1990000"/>
            <a:ext cx="11125200" cy="320000"/>
          </a:xfrm>
          <a:custGeom>
            <a:avLst/>
            <a:gdLst/>
            <a:ahLst/>
            <a:cxnLst/>
            <a:rect l="0" t="0" r="0" b="0"/>
            <a:pathLst>
              <a:path w="100000" h="100000">
                <a:moveTo>
                  <a:pt x="4500" y="0"/>
                </a:moveTo>
                <a:lnTo>
                  <a:pt x="95500" y="0"/>
                </a:lnTo>
                <a:cubicBezTo>
                  <a:pt x="97983" y="0"/>
                  <a:pt x="100000" y="2017"/>
                  <a:pt x="100000" y="4500"/>
                </a:cubicBezTo>
                <a:lnTo>
                  <a:pt x="100000" y="100000"/>
                </a:lnTo>
                <a:lnTo>
                  <a:pt x="0" y="100000"/>
                </a:lnTo>
                <a:lnTo>
                  <a:pt x="0" y="4500"/>
                </a:lnTo>
                <a:cubicBezTo>
                  <a:pt x="0" y="2017"/>
                  <a:pt x="2017" y="0"/>
                  <a:pt x="4500" y="0"/>
                </a:cubicBezTo>
                <a:close/>
              </a:path>
            </a:pathLst>
          </a:custGeom>
          <a:solidFill>
            <a:srgbClr val="E2E8F0"/>
          </a:solidFill>
          <a:ln w="6350">
            <a:solidFill>
              <a:srgbClr val="E2E8F0"/>
            </a:solidFill>
          </a:ln>
        </p:spPr>
        <p:txBody>
          <a:bodyPr wrap="square" lIns="180000" tIns="50000" rIns="180000" bIns="50000" anchor="ctr"/>
          <a:lstStyle/>
          <a:p>
            <a:pPr algn="l">
              <a:buNone/>
            </a:pPr>
            <a:r>
              <a:rPr lang="en-US" sz="1200" b="1" dirty="0">
                <a:solidFill>
                  <a:srgbClr val="0F172A"/>
                </a:solidFill>
                <a:latin typeface="Consolas"/>
                <a:ea typeface="Consolas"/>
                <a:cs typeface="Consolas"/>
              </a:rPr>
              <a:t>hello.rex</a:t>
            </a:r>
            <a:r>
              <a:rPr lang="en-US" sz="1100" dirty="0">
                <a:solidFill>
                  <a:srgbClr val="94A3B8"/>
                </a:solidFill>
                <a:latin typeface="Calibri"/>
              </a:rPr>
              <a:t>  ·  rexx</a:t>
            </a:r>
          </a:p>
        </p:txBody>
      </p:sp>
      <p:sp>
        <p:nvSpPr>
          <p:cNvPr id="105" name="CodeBox105"/>
          <p:cNvSpPr/>
          <p:nvPr/>
        </p:nvSpPr>
        <p:spPr>
          <a:xfrm>
            <a:off x="533400" y="2310000"/>
            <a:ext cx="11125200" cy="2560000"/>
          </a:xfrm>
          <a:custGeom>
            <a:avLst/>
            <a:gdLst/>
            <a:ahLst/>
            <a:cxnLst/>
            <a:rect l="0" t="0" r="0" b="0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95500"/>
                </a:lnTo>
                <a:cubicBezTo>
                  <a:pt x="100000" y="97983"/>
                  <a:pt x="97983" y="100000"/>
                  <a:pt x="95500" y="100000"/>
                </a:cubicBezTo>
                <a:lnTo>
                  <a:pt x="4500" y="100000"/>
                </a:lnTo>
                <a:cubicBezTo>
                  <a:pt x="2017" y="100000"/>
                  <a:pt x="0" y="97983"/>
                  <a:pt x="0" y="95500"/>
                </a:cubicBezTo>
                <a:close/>
              </a:path>
            </a:pathLst>
          </a:custGeom>
          <a:solidFill>
            <a:srgbClr val="F1F5F9"/>
          </a:solidFill>
          <a:ln w="6350">
            <a:solidFill>
              <a:srgbClr val="E2E8F0"/>
            </a:solidFill>
          </a:ln>
        </p:spPr>
        <p:txBody>
          <a:bodyPr wrap="square" lIns="180000" tIns="120000" rIns="180000" bIns="12000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dirty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1  </a:t>
            </a:r>
            <a:r>
              <a:rPr lang="en-US" sz="1500" dirty="0" i="1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/* hello.rex — sample REXX script */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dirty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2  </a:t>
            </a:r>
            <a:r>
              <a:rPr lang="en-US" sz="1500" dirty="0" b="1">
                <a:solidFill>
                  <a:srgbClr val="9333EA"/>
                </a:solidFill>
                <a:latin typeface="Consolas"/>
                <a:ea typeface="Consolas"/>
                <a:cs typeface="Consolas"/>
              </a:rPr>
              <a:t>parse</a:t>
            </a:r>
            <a:r>
              <a:rPr lang="en-US" sz="1500" dirty="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 </a:t>
            </a:r>
            <a:r>
              <a:rPr lang="en-US" sz="1500" dirty="0" b="1">
                <a:solidFill>
                  <a:srgbClr val="9333EA"/>
                </a:solidFill>
                <a:latin typeface="Consolas"/>
                <a:ea typeface="Consolas"/>
                <a:cs typeface="Consolas"/>
              </a:rPr>
              <a:t>arg</a:t>
            </a:r>
            <a:r>
              <a:rPr lang="en-US" sz="1500" dirty="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 </a:t>
            </a:r>
            <a:r>
              <a:rPr lang="en-US" sz="1500" dirty="0" b="1">
                <a:solidFill>
                  <a:srgbClr val="9333EA"/>
                </a:solidFill>
                <a:latin typeface="Consolas"/>
                <a:ea typeface="Consolas"/>
                <a:cs typeface="Consolas"/>
              </a:rPr>
              <a:t>name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dirty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3  </a:t>
            </a:r>
            <a:r>
              <a:rPr lang="en-US" sz="1500" dirty="0" b="1">
                <a:solidFill>
                  <a:srgbClr val="9333EA"/>
                </a:solidFill>
                <a:latin typeface="Consolas"/>
                <a:ea typeface="Consolas"/>
                <a:cs typeface="Consolas"/>
              </a:rPr>
              <a:t>if</a:t>
            </a:r>
            <a:r>
              <a:rPr lang="en-US" sz="1500" dirty="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 </a:t>
            </a:r>
            <a:r>
              <a:rPr lang="en-US" sz="1500" dirty="0" b="1">
                <a:solidFill>
                  <a:srgbClr val="9333EA"/>
                </a:solidFill>
                <a:latin typeface="Consolas"/>
                <a:ea typeface="Consolas"/>
                <a:cs typeface="Consolas"/>
              </a:rPr>
              <a:t>name</a:t>
            </a:r>
            <a:r>
              <a:rPr lang="en-US" sz="1500" dirty="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 = </a:t>
            </a:r>
            <a:r>
              <a:rPr lang="en-US" sz="1500" dirty="0">
                <a:solidFill>
                  <a:srgbClr val="16A34A"/>
                </a:solidFill>
                <a:latin typeface="Consolas"/>
                <a:ea typeface="Consolas"/>
                <a:cs typeface="Consolas"/>
              </a:rPr>
              <a:t>''</a:t>
            </a:r>
            <a:r>
              <a:rPr lang="en-US" sz="1500" dirty="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 </a:t>
            </a:r>
            <a:r>
              <a:rPr lang="en-US" sz="1500" dirty="0" b="1">
                <a:solidFill>
                  <a:srgbClr val="9333EA"/>
                </a:solidFill>
                <a:latin typeface="Consolas"/>
                <a:ea typeface="Consolas"/>
                <a:cs typeface="Consolas"/>
              </a:rPr>
              <a:t>then</a:t>
            </a:r>
            <a:r>
              <a:rPr lang="en-US" sz="1500" dirty="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 </a:t>
            </a:r>
            <a:r>
              <a:rPr lang="en-US" sz="1500" dirty="0" b="1">
                <a:solidFill>
                  <a:srgbClr val="9333EA"/>
                </a:solidFill>
                <a:latin typeface="Consolas"/>
                <a:ea typeface="Consolas"/>
                <a:cs typeface="Consolas"/>
              </a:rPr>
              <a:t>name</a:t>
            </a:r>
            <a:r>
              <a:rPr lang="en-US" sz="1500" dirty="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 = </a:t>
            </a:r>
            <a:r>
              <a:rPr lang="en-US" sz="1500" dirty="0">
                <a:solidFill>
                  <a:srgbClr val="16A34A"/>
                </a:solidFill>
                <a:latin typeface="Consolas"/>
                <a:ea typeface="Consolas"/>
                <a:cs typeface="Consolas"/>
              </a:rPr>
              <a:t>'mainframe'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dirty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4  </a:t>
            </a:r>
            <a:r>
              <a:rPr lang="en-US" sz="1500" dirty="0" b="1">
                <a:solidFill>
                  <a:srgbClr val="9333EA"/>
                </a:solidFill>
                <a:latin typeface="Consolas"/>
                <a:ea typeface="Consolas"/>
                <a:cs typeface="Consolas"/>
              </a:rPr>
              <a:t>say</a:t>
            </a:r>
            <a:r>
              <a:rPr lang="en-US" sz="1500" dirty="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 </a:t>
            </a:r>
            <a:r>
              <a:rPr lang="en-US" sz="1500" dirty="0">
                <a:solidFill>
                  <a:srgbClr val="16A34A"/>
                </a:solidFill>
                <a:latin typeface="Consolas"/>
                <a:ea typeface="Consolas"/>
                <a:cs typeface="Consolas"/>
              </a:rPr>
              <a:t>'Hello,'</a:t>
            </a:r>
            <a:r>
              <a:rPr lang="en-US" sz="1500" dirty="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 </a:t>
            </a:r>
            <a:r>
              <a:rPr lang="en-US" sz="1500" dirty="0" b="1">
                <a:solidFill>
                  <a:srgbClr val="9333EA"/>
                </a:solidFill>
                <a:latin typeface="Consolas"/>
                <a:ea typeface="Consolas"/>
                <a:cs typeface="Consolas"/>
              </a:rPr>
              <a:t>name</a:t>
            </a:r>
            <a:r>
              <a:rPr lang="en-US" sz="1500" dirty="0">
                <a:solidFill>
                  <a:srgbClr val="16A34A"/>
                </a:solidFill>
                <a:latin typeface="Consolas"/>
                <a:ea typeface="Consolas"/>
                <a:cs typeface="Consolas"/>
              </a:rPr>
              <a:t>'!'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dirty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5  </a:t>
            </a:r>
            <a:r>
              <a:rPr lang="en-US" sz="1500" dirty="0" b="1">
                <a:solidFill>
                  <a:srgbClr val="9333EA"/>
                </a:solidFill>
                <a:latin typeface="Consolas"/>
                <a:ea typeface="Consolas"/>
                <a:cs typeface="Consolas"/>
              </a:rPr>
              <a:t>do</a:t>
            </a:r>
            <a:r>
              <a:rPr lang="en-US" sz="1500" dirty="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 </a:t>
            </a:r>
            <a:r>
              <a:rPr lang="en-US" sz="1500" dirty="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i</a:t>
            </a:r>
            <a:r>
              <a:rPr lang="en-US" sz="1500" dirty="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 = </a:t>
            </a:r>
            <a:r>
              <a:rPr lang="en-US" sz="1500" dirty="0">
                <a:solidFill>
                  <a:srgbClr val="C2410C"/>
                </a:solidFill>
                <a:latin typeface="Consolas"/>
                <a:ea typeface="Consolas"/>
                <a:cs typeface="Consolas"/>
              </a:rPr>
              <a:t>1</a:t>
            </a:r>
            <a:r>
              <a:rPr lang="en-US" sz="1500" dirty="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 </a:t>
            </a:r>
            <a:r>
              <a:rPr lang="en-US" sz="1500" dirty="0" b="1">
                <a:solidFill>
                  <a:srgbClr val="9333EA"/>
                </a:solidFill>
                <a:latin typeface="Consolas"/>
                <a:ea typeface="Consolas"/>
                <a:cs typeface="Consolas"/>
              </a:rPr>
              <a:t>to</a:t>
            </a:r>
            <a:r>
              <a:rPr lang="en-US" sz="1500" dirty="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 </a:t>
            </a:r>
            <a:r>
              <a:rPr lang="en-US" sz="1500" dirty="0">
                <a:solidFill>
                  <a:srgbClr val="C2410C"/>
                </a:solidFill>
                <a:latin typeface="Consolas"/>
                <a:ea typeface="Consolas"/>
                <a:cs typeface="Consolas"/>
              </a:rPr>
              <a:t>5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dirty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6  </a:t>
            </a:r>
            <a:r>
              <a:rPr lang="en-US" sz="1500" dirty="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  </a:t>
            </a:r>
            <a:r>
              <a:rPr lang="en-US" sz="1500" dirty="0" b="1">
                <a:solidFill>
                  <a:srgbClr val="9333EA"/>
                </a:solidFill>
                <a:latin typeface="Consolas"/>
                <a:ea typeface="Consolas"/>
                <a:cs typeface="Consolas"/>
              </a:rPr>
              <a:t>say</a:t>
            </a:r>
            <a:r>
              <a:rPr lang="en-US" sz="1500" dirty="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 </a:t>
            </a:r>
            <a:r>
              <a:rPr lang="en-US" sz="1500" dirty="0">
                <a:solidFill>
                  <a:srgbClr val="16A34A"/>
                </a:solidFill>
                <a:latin typeface="Consolas"/>
                <a:ea typeface="Consolas"/>
                <a:cs typeface="Consolas"/>
              </a:rPr>
              <a:t>'iteration'</a:t>
            </a:r>
            <a:r>
              <a:rPr lang="en-US" sz="1500" dirty="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 </a:t>
            </a:r>
            <a:r>
              <a:rPr lang="en-US" sz="1500" dirty="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i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dirty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7  </a:t>
            </a:r>
            <a:r>
              <a:rPr lang="en-US" sz="1500" dirty="0" b="1">
                <a:solidFill>
                  <a:srgbClr val="9333EA"/>
                </a:solidFill>
                <a:latin typeface="Consolas"/>
                <a:ea typeface="Consolas"/>
                <a:cs typeface="Consolas"/>
              </a:rPr>
              <a:t>end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dirty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8  </a:t>
            </a:r>
            <a:r>
              <a:rPr lang="en-US" sz="1500" dirty="0" b="1">
                <a:solidFill>
                  <a:srgbClr val="9333EA"/>
                </a:solidFill>
                <a:latin typeface="Consolas"/>
                <a:ea typeface="Consolas"/>
                <a:cs typeface="Consolas"/>
              </a:rPr>
              <a:t>exit</a:t>
            </a:r>
            <a:r>
              <a:rPr lang="en-US" sz="1500" dirty="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 </a:t>
            </a:r>
            <a:r>
              <a:rPr lang="en-US" sz="1500" dirty="0">
                <a:solidFill>
                  <a:srgbClr val="C2410C"/>
                </a:solidFill>
                <a:latin typeface="Consolas"/>
                <a:ea typeface="Consolas"/>
                <a:cs typeface="Consolas"/>
              </a:rPr>
              <a:t>0</a:t>
            </a:r>
          </a:p>
        </p:txBody>
      </p:sp>
      <p:sp>
        <p:nvSpPr>
          <p:cNvPr id="106" name="DeckFooter106"/>
          <p:cNvSpPr txBox="1"/>
          <p:nvPr/>
        </p:nvSpPr>
        <p:spPr>
          <a:xfrm>
            <a:off x="533400" y="6458000"/>
            <a:ext cx="10325200" cy="30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US" sz="1000" dirty="0">
                <a:solidFill>
                  <a:srgbClr val="94A3B8"/>
                </a:solidFill>
                <a:latin typeface="Calibri"/>
                <a:ea typeface="Calibri"/>
                <a:cs typeface="Calibri"/>
              </a:rPr>
              <a:t>md2any</a:t>
            </a:r>
          </a:p>
        </p:txBody>
      </p:sp>
      <p:sp>
        <p:nvSpPr>
          <p:cNvPr id="107" name="PageNum107"/>
          <p:cNvSpPr txBox="1"/>
          <p:nvPr/>
        </p:nvSpPr>
        <p:spPr>
          <a:xfrm>
            <a:off x="10858600" y="6458000"/>
            <a:ext cx="800000" cy="30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buNone/>
            </a:pPr>
            <a:r>
              <a:rPr lang="en-US" sz="1000" dirty="0">
                <a:solidFill>
                  <a:srgbClr val="94A3B8"/>
                </a:solidFill>
                <a:latin typeface="Calibri"/>
                <a:ea typeface="Calibri"/>
                <a:cs typeface="Calibri"/>
              </a:rPr>
              <a:t>19 / 44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Title100"/>
          <p:cNvSpPr txBox="1"/>
          <p:nvPr/>
        </p:nvSpPr>
        <p:spPr>
          <a:xfrm>
            <a:off x="533400" y="360000"/>
            <a:ext cx="11125200" cy="72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US" sz="2800" dirty="0" b="1">
                <a:solidFill>
                  <a:srgbClr val="0F172A"/>
                </a:solidFill>
                <a:latin typeface="Calibri Light"/>
                <a:ea typeface="Calibri Light"/>
                <a:cs typeface="Calibri Light"/>
              </a:rPr>
              <a:t>PL/I</a:t>
            </a:r>
          </a:p>
        </p:txBody>
      </p:sp>
      <p:sp>
        <p:nvSpPr>
          <p:cNvPr id="101" name="TitleAccent101"/>
          <p:cNvSpPr/>
          <p:nvPr/>
        </p:nvSpPr>
        <p:spPr>
          <a:xfrm>
            <a:off x="533400" y="1110000"/>
            <a:ext cx="400000" cy="5000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txBody>
          <a:bodyPr wrap="square" anchor="ctr"/>
          <a:lstStyle/>
          <a:p>
            <a:endParaRPr lang="en-US"/>
          </a:p>
        </p:txBody>
      </p:sp>
      <p:sp>
        <p:nvSpPr>
          <p:cNvPr id="102" name="TitleDivider102"/>
          <p:cNvSpPr/>
          <p:nvPr/>
        </p:nvSpPr>
        <p:spPr>
          <a:xfrm>
            <a:off x="953400" y="1128000"/>
            <a:ext cx="10705200" cy="140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wrap="square" anchor="ctr"/>
          <a:lstStyle/>
          <a:p>
            <a:endParaRPr lang="en-US"/>
          </a:p>
        </p:txBody>
      </p:sp>
      <p:sp>
        <p:nvSpPr>
          <p:cNvPr id="103" name="Para103"/>
          <p:cNvSpPr txBox="1"/>
          <p:nvPr/>
        </p:nvSpPr>
        <p:spPr>
          <a:xfrm>
            <a:off x="533400" y="1310000"/>
            <a:ext cx="11125200" cy="60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US" sz="1800" dirty="0">
                <a:solidFill>
                  <a:srgbClr val="0369A1"/>
                </a:solidFill>
                <a:latin typeface="Consolas"/>
                <a:ea typeface="Consolas"/>
                <a:cs typeface="Consolas"/>
              </a:rPr>
              <a:t>/* */</a:t>
            </a:r>
            <a:r>
              <a:rPr lang="en-US" sz="1800" dirty="0">
                <a:solidFill>
                  <a:srgbClr val="334155"/>
                </a:solidFill>
                <a:latin typeface="Calibri"/>
                <a:ea typeface="Calibri"/>
                <a:cs typeface="Calibri"/>
              </a:rPr>
              <a:t> comments, single-quoted strings, declarations with attributes.</a:t>
            </a:r>
          </a:p>
        </p:txBody>
      </p:sp>
      <p:sp>
        <p:nvSpPr>
          <p:cNvPr id="104" name="CodeTitle104"/>
          <p:cNvSpPr/>
          <p:nvPr/>
        </p:nvSpPr>
        <p:spPr>
          <a:xfrm>
            <a:off x="533400" y="1990000"/>
            <a:ext cx="11125200" cy="320000"/>
          </a:xfrm>
          <a:custGeom>
            <a:avLst/>
            <a:gdLst/>
            <a:ahLst/>
            <a:cxnLst/>
            <a:rect l="0" t="0" r="0" b="0"/>
            <a:pathLst>
              <a:path w="100000" h="100000">
                <a:moveTo>
                  <a:pt x="4500" y="0"/>
                </a:moveTo>
                <a:lnTo>
                  <a:pt x="95500" y="0"/>
                </a:lnTo>
                <a:cubicBezTo>
                  <a:pt x="97983" y="0"/>
                  <a:pt x="100000" y="2017"/>
                  <a:pt x="100000" y="4500"/>
                </a:cubicBezTo>
                <a:lnTo>
                  <a:pt x="100000" y="100000"/>
                </a:lnTo>
                <a:lnTo>
                  <a:pt x="0" y="100000"/>
                </a:lnTo>
                <a:lnTo>
                  <a:pt x="0" y="4500"/>
                </a:lnTo>
                <a:cubicBezTo>
                  <a:pt x="0" y="2017"/>
                  <a:pt x="2017" y="0"/>
                  <a:pt x="4500" y="0"/>
                </a:cubicBezTo>
                <a:close/>
              </a:path>
            </a:pathLst>
          </a:custGeom>
          <a:solidFill>
            <a:srgbClr val="E2E8F0"/>
          </a:solidFill>
          <a:ln w="6350">
            <a:solidFill>
              <a:srgbClr val="E2E8F0"/>
            </a:solidFill>
          </a:ln>
        </p:spPr>
        <p:txBody>
          <a:bodyPr wrap="square" lIns="180000" tIns="50000" rIns="180000" bIns="50000" anchor="ctr"/>
          <a:lstStyle/>
          <a:p>
            <a:pPr algn="l">
              <a:buNone/>
            </a:pPr>
            <a:r>
              <a:rPr lang="en-US" sz="1200" b="1" dirty="0">
                <a:solidFill>
                  <a:srgbClr val="0F172A"/>
                </a:solidFill>
                <a:latin typeface="Consolas"/>
                <a:ea typeface="Consolas"/>
                <a:cs typeface="Consolas"/>
              </a:rPr>
              <a:t>hello.pli</a:t>
            </a:r>
            <a:r>
              <a:rPr lang="en-US" sz="1100" dirty="0">
                <a:solidFill>
                  <a:srgbClr val="94A3B8"/>
                </a:solidFill>
                <a:latin typeface="Calibri"/>
              </a:rPr>
              <a:t>  ·  pli</a:t>
            </a:r>
          </a:p>
        </p:txBody>
      </p:sp>
      <p:sp>
        <p:nvSpPr>
          <p:cNvPr id="105" name="CodeBox105"/>
          <p:cNvSpPr/>
          <p:nvPr/>
        </p:nvSpPr>
        <p:spPr>
          <a:xfrm>
            <a:off x="533400" y="2310000"/>
            <a:ext cx="11125200" cy="3120000"/>
          </a:xfrm>
          <a:custGeom>
            <a:avLst/>
            <a:gdLst/>
            <a:ahLst/>
            <a:cxnLst/>
            <a:rect l="0" t="0" r="0" b="0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95500"/>
                </a:lnTo>
                <a:cubicBezTo>
                  <a:pt x="100000" y="97983"/>
                  <a:pt x="97983" y="100000"/>
                  <a:pt x="95500" y="100000"/>
                </a:cubicBezTo>
                <a:lnTo>
                  <a:pt x="4500" y="100000"/>
                </a:lnTo>
                <a:cubicBezTo>
                  <a:pt x="2017" y="100000"/>
                  <a:pt x="0" y="97983"/>
                  <a:pt x="0" y="95500"/>
                </a:cubicBezTo>
                <a:close/>
              </a:path>
            </a:pathLst>
          </a:custGeom>
          <a:solidFill>
            <a:srgbClr val="F1F5F9"/>
          </a:solidFill>
          <a:ln w="6350">
            <a:solidFill>
              <a:srgbClr val="E2E8F0"/>
            </a:solidFill>
          </a:ln>
        </p:spPr>
        <p:txBody>
          <a:bodyPr wrap="square" lIns="180000" tIns="120000" rIns="180000" bIns="12000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dirty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 1  </a:t>
            </a:r>
            <a:r>
              <a:rPr lang="en-US" sz="1500" dirty="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 </a:t>
            </a:r>
            <a:r>
              <a:rPr lang="en-US" sz="1500" dirty="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HELLO</a:t>
            </a:r>
            <a:r>
              <a:rPr lang="en-US" sz="1500" dirty="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: </a:t>
            </a:r>
            <a:r>
              <a:rPr lang="en-US" sz="1500" dirty="0" b="1">
                <a:solidFill>
                  <a:srgbClr val="9333EA"/>
                </a:solidFill>
                <a:latin typeface="Consolas"/>
                <a:ea typeface="Consolas"/>
                <a:cs typeface="Consolas"/>
              </a:rPr>
              <a:t>PROC</a:t>
            </a:r>
            <a:r>
              <a:rPr lang="en-US" sz="1500" dirty="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 </a:t>
            </a:r>
            <a:r>
              <a:rPr lang="en-US" sz="1500" dirty="0" b="1">
                <a:solidFill>
                  <a:srgbClr val="9333EA"/>
                </a:solidFill>
                <a:latin typeface="Consolas"/>
                <a:ea typeface="Consolas"/>
                <a:cs typeface="Consolas"/>
              </a:rPr>
              <a:t>OPTIONS</a:t>
            </a:r>
            <a:r>
              <a:rPr lang="en-US" sz="1500" dirty="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(</a:t>
            </a:r>
            <a:r>
              <a:rPr lang="en-US" sz="1500" dirty="0" b="1">
                <a:solidFill>
                  <a:srgbClr val="9333EA"/>
                </a:solidFill>
                <a:latin typeface="Consolas"/>
                <a:ea typeface="Consolas"/>
                <a:cs typeface="Consolas"/>
              </a:rPr>
              <a:t>MAIN</a:t>
            </a:r>
            <a:r>
              <a:rPr lang="en-US" sz="1500" dirty="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);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dirty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 2  </a:t>
            </a:r>
            <a:r>
              <a:rPr lang="en-US" sz="1500" dirty="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    </a:t>
            </a:r>
            <a:r>
              <a:rPr lang="en-US" sz="1500" dirty="0" b="1">
                <a:solidFill>
                  <a:srgbClr val="9333EA"/>
                </a:solidFill>
                <a:latin typeface="Consolas"/>
                <a:ea typeface="Consolas"/>
                <a:cs typeface="Consolas"/>
              </a:rPr>
              <a:t>DCL</a:t>
            </a:r>
            <a:r>
              <a:rPr lang="en-US" sz="1500" dirty="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 </a:t>
            </a:r>
            <a:r>
              <a:rPr lang="en-US" sz="1500" dirty="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NAME</a:t>
            </a:r>
            <a:r>
              <a:rPr lang="en-US" sz="1500" dirty="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      </a:t>
            </a:r>
            <a:r>
              <a:rPr lang="en-US" sz="1500" dirty="0">
                <a:solidFill>
                  <a:srgbClr val="0891B2"/>
                </a:solidFill>
                <a:latin typeface="Consolas"/>
                <a:ea typeface="Consolas"/>
                <a:cs typeface="Consolas"/>
              </a:rPr>
              <a:t>CHAR</a:t>
            </a:r>
            <a:r>
              <a:rPr lang="en-US" sz="1500" dirty="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(</a:t>
            </a:r>
            <a:r>
              <a:rPr lang="en-US" sz="1500" dirty="0">
                <a:solidFill>
                  <a:srgbClr val="C2410C"/>
                </a:solidFill>
                <a:latin typeface="Consolas"/>
                <a:ea typeface="Consolas"/>
                <a:cs typeface="Consolas"/>
              </a:rPr>
              <a:t>20</a:t>
            </a:r>
            <a:r>
              <a:rPr lang="en-US" sz="1500" dirty="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) </a:t>
            </a:r>
            <a:r>
              <a:rPr lang="en-US" sz="1500" dirty="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VARYING</a:t>
            </a:r>
            <a:r>
              <a:rPr lang="en-US" sz="1500" dirty="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 </a:t>
            </a:r>
            <a:r>
              <a:rPr lang="en-US" sz="1500" dirty="0" b="1">
                <a:solidFill>
                  <a:srgbClr val="9333EA"/>
                </a:solidFill>
                <a:latin typeface="Consolas"/>
                <a:ea typeface="Consolas"/>
                <a:cs typeface="Consolas"/>
              </a:rPr>
              <a:t>INIT</a:t>
            </a:r>
            <a:r>
              <a:rPr lang="en-US" sz="1500" dirty="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(</a:t>
            </a:r>
            <a:r>
              <a:rPr lang="en-US" sz="1500" dirty="0">
                <a:solidFill>
                  <a:srgbClr val="16A34A"/>
                </a:solidFill>
                <a:latin typeface="Consolas"/>
                <a:ea typeface="Consolas"/>
                <a:cs typeface="Consolas"/>
              </a:rPr>
              <a:t>'mainframe'</a:t>
            </a:r>
            <a:r>
              <a:rPr lang="en-US" sz="1500" dirty="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);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dirty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 3  </a:t>
            </a:r>
            <a:r>
              <a:rPr lang="en-US" sz="1500" dirty="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    </a:t>
            </a:r>
            <a:r>
              <a:rPr lang="en-US" sz="1500" dirty="0" b="1">
                <a:solidFill>
                  <a:srgbClr val="9333EA"/>
                </a:solidFill>
                <a:latin typeface="Consolas"/>
                <a:ea typeface="Consolas"/>
                <a:cs typeface="Consolas"/>
              </a:rPr>
              <a:t>DCL</a:t>
            </a:r>
            <a:r>
              <a:rPr lang="en-US" sz="1500" dirty="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 </a:t>
            </a:r>
            <a:r>
              <a:rPr lang="en-US" sz="1500" dirty="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COUNT</a:t>
            </a:r>
            <a:r>
              <a:rPr lang="en-US" sz="1500" dirty="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     </a:t>
            </a:r>
            <a:r>
              <a:rPr lang="en-US" sz="1500" dirty="0">
                <a:solidFill>
                  <a:srgbClr val="0891B2"/>
                </a:solidFill>
                <a:latin typeface="Consolas"/>
                <a:ea typeface="Consolas"/>
                <a:cs typeface="Consolas"/>
              </a:rPr>
              <a:t>FIXED</a:t>
            </a:r>
            <a:r>
              <a:rPr lang="en-US" sz="1500" dirty="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 </a:t>
            </a:r>
            <a:r>
              <a:rPr lang="en-US" sz="1500" dirty="0">
                <a:solidFill>
                  <a:srgbClr val="0891B2"/>
                </a:solidFill>
                <a:latin typeface="Consolas"/>
                <a:ea typeface="Consolas"/>
                <a:cs typeface="Consolas"/>
              </a:rPr>
              <a:t>BIN</a:t>
            </a:r>
            <a:r>
              <a:rPr lang="en-US" sz="1500" dirty="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(</a:t>
            </a:r>
            <a:r>
              <a:rPr lang="en-US" sz="1500" dirty="0">
                <a:solidFill>
                  <a:srgbClr val="C2410C"/>
                </a:solidFill>
                <a:latin typeface="Consolas"/>
                <a:ea typeface="Consolas"/>
                <a:cs typeface="Consolas"/>
              </a:rPr>
              <a:t>31</a:t>
            </a:r>
            <a:r>
              <a:rPr lang="en-US" sz="1500" dirty="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) </a:t>
            </a:r>
            <a:r>
              <a:rPr lang="en-US" sz="1500" dirty="0" b="1">
                <a:solidFill>
                  <a:srgbClr val="9333EA"/>
                </a:solidFill>
                <a:latin typeface="Consolas"/>
                <a:ea typeface="Consolas"/>
                <a:cs typeface="Consolas"/>
              </a:rPr>
              <a:t>INIT</a:t>
            </a:r>
            <a:r>
              <a:rPr lang="en-US" sz="1500" dirty="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(</a:t>
            </a:r>
            <a:r>
              <a:rPr lang="en-US" sz="1500" dirty="0">
                <a:solidFill>
                  <a:srgbClr val="C2410C"/>
                </a:solidFill>
                <a:latin typeface="Consolas"/>
                <a:ea typeface="Consolas"/>
                <a:cs typeface="Consolas"/>
              </a:rPr>
              <a:t>5</a:t>
            </a:r>
            <a:r>
              <a:rPr lang="en-US" sz="1500" dirty="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);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dirty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 4  </a:t>
            </a:r>
            <a:r>
              <a:rPr lang="en-US" sz="1500" dirty="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    </a:t>
            </a:r>
            <a:r>
              <a:rPr lang="en-US" sz="1500" dirty="0" b="1">
                <a:solidFill>
                  <a:srgbClr val="9333EA"/>
                </a:solidFill>
                <a:latin typeface="Consolas"/>
                <a:ea typeface="Consolas"/>
                <a:cs typeface="Consolas"/>
              </a:rPr>
              <a:t>DCL</a:t>
            </a:r>
            <a:r>
              <a:rPr lang="en-US" sz="1500" dirty="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 </a:t>
            </a:r>
            <a:r>
              <a:rPr lang="en-US" sz="1500" dirty="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I</a:t>
            </a:r>
            <a:r>
              <a:rPr lang="en-US" sz="1500" dirty="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         </a:t>
            </a:r>
            <a:r>
              <a:rPr lang="en-US" sz="1500" dirty="0">
                <a:solidFill>
                  <a:srgbClr val="0891B2"/>
                </a:solidFill>
                <a:latin typeface="Consolas"/>
                <a:ea typeface="Consolas"/>
                <a:cs typeface="Consolas"/>
              </a:rPr>
              <a:t>FIXED</a:t>
            </a:r>
            <a:r>
              <a:rPr lang="en-US" sz="1500" dirty="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 </a:t>
            </a:r>
            <a:r>
              <a:rPr lang="en-US" sz="1500" dirty="0">
                <a:solidFill>
                  <a:srgbClr val="0891B2"/>
                </a:solidFill>
                <a:latin typeface="Consolas"/>
                <a:ea typeface="Consolas"/>
                <a:cs typeface="Consolas"/>
              </a:rPr>
              <a:t>BIN</a:t>
            </a:r>
            <a:r>
              <a:rPr lang="en-US" sz="1500" dirty="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(</a:t>
            </a:r>
            <a:r>
              <a:rPr lang="en-US" sz="1500" dirty="0">
                <a:solidFill>
                  <a:srgbClr val="C2410C"/>
                </a:solidFill>
                <a:latin typeface="Consolas"/>
                <a:ea typeface="Consolas"/>
                <a:cs typeface="Consolas"/>
              </a:rPr>
              <a:t>31</a:t>
            </a:r>
            <a:r>
              <a:rPr lang="en-US" sz="1500" dirty="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);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dirty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 5  </a:t>
            </a:r>
            <a:r>
              <a:rPr lang="en-US" sz="1500" dirty="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dirty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 6  </a:t>
            </a:r>
            <a:r>
              <a:rPr lang="en-US" sz="1500" dirty="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    </a:t>
            </a:r>
            <a:r>
              <a:rPr lang="en-US" sz="1500" dirty="0" b="1">
                <a:solidFill>
                  <a:srgbClr val="9333EA"/>
                </a:solidFill>
                <a:latin typeface="Consolas"/>
                <a:ea typeface="Consolas"/>
                <a:cs typeface="Consolas"/>
              </a:rPr>
              <a:t>PUT</a:t>
            </a:r>
            <a:r>
              <a:rPr lang="en-US" sz="1500" dirty="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 </a:t>
            </a:r>
            <a:r>
              <a:rPr lang="en-US" sz="1500" dirty="0" b="1">
                <a:solidFill>
                  <a:srgbClr val="9333EA"/>
                </a:solidFill>
                <a:latin typeface="Consolas"/>
                <a:ea typeface="Consolas"/>
                <a:cs typeface="Consolas"/>
              </a:rPr>
              <a:t>SKIP</a:t>
            </a:r>
            <a:r>
              <a:rPr lang="en-US" sz="1500" dirty="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 </a:t>
            </a:r>
            <a:r>
              <a:rPr lang="en-US" sz="1500" dirty="0" b="1">
                <a:solidFill>
                  <a:srgbClr val="9333EA"/>
                </a:solidFill>
                <a:latin typeface="Consolas"/>
                <a:ea typeface="Consolas"/>
                <a:cs typeface="Consolas"/>
              </a:rPr>
              <a:t>LIST</a:t>
            </a:r>
            <a:r>
              <a:rPr lang="en-US" sz="1500" dirty="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(</a:t>
            </a:r>
            <a:r>
              <a:rPr lang="en-US" sz="1500" dirty="0">
                <a:solidFill>
                  <a:srgbClr val="16A34A"/>
                </a:solidFill>
                <a:latin typeface="Consolas"/>
                <a:ea typeface="Consolas"/>
                <a:cs typeface="Consolas"/>
              </a:rPr>
              <a:t>'Hello, '</a:t>
            </a:r>
            <a:r>
              <a:rPr lang="en-US" sz="1500" dirty="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 || </a:t>
            </a:r>
            <a:r>
              <a:rPr lang="en-US" sz="1500" dirty="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NAME</a:t>
            </a:r>
            <a:r>
              <a:rPr lang="en-US" sz="1500" dirty="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 || </a:t>
            </a:r>
            <a:r>
              <a:rPr lang="en-US" sz="1500" dirty="0">
                <a:solidFill>
                  <a:srgbClr val="16A34A"/>
                </a:solidFill>
                <a:latin typeface="Consolas"/>
                <a:ea typeface="Consolas"/>
                <a:cs typeface="Consolas"/>
              </a:rPr>
              <a:t>'!'</a:t>
            </a:r>
            <a:r>
              <a:rPr lang="en-US" sz="1500" dirty="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);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dirty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 7  </a:t>
            </a:r>
            <a:r>
              <a:rPr lang="en-US" sz="1500" dirty="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    </a:t>
            </a:r>
            <a:r>
              <a:rPr lang="en-US" sz="1500" dirty="0" b="1">
                <a:solidFill>
                  <a:srgbClr val="9333EA"/>
                </a:solidFill>
                <a:latin typeface="Consolas"/>
                <a:ea typeface="Consolas"/>
                <a:cs typeface="Consolas"/>
              </a:rPr>
              <a:t>DO</a:t>
            </a:r>
            <a:r>
              <a:rPr lang="en-US" sz="1500" dirty="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 </a:t>
            </a:r>
            <a:r>
              <a:rPr lang="en-US" sz="1500" dirty="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I</a:t>
            </a:r>
            <a:r>
              <a:rPr lang="en-US" sz="1500" dirty="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 = </a:t>
            </a:r>
            <a:r>
              <a:rPr lang="en-US" sz="1500" dirty="0">
                <a:solidFill>
                  <a:srgbClr val="C2410C"/>
                </a:solidFill>
                <a:latin typeface="Consolas"/>
                <a:ea typeface="Consolas"/>
                <a:cs typeface="Consolas"/>
              </a:rPr>
              <a:t>1</a:t>
            </a:r>
            <a:r>
              <a:rPr lang="en-US" sz="1500" dirty="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 </a:t>
            </a:r>
            <a:r>
              <a:rPr lang="en-US" sz="1500" dirty="0" b="1">
                <a:solidFill>
                  <a:srgbClr val="9333EA"/>
                </a:solidFill>
                <a:latin typeface="Consolas"/>
                <a:ea typeface="Consolas"/>
                <a:cs typeface="Consolas"/>
              </a:rPr>
              <a:t>TO</a:t>
            </a:r>
            <a:r>
              <a:rPr lang="en-US" sz="1500" dirty="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 </a:t>
            </a:r>
            <a:r>
              <a:rPr lang="en-US" sz="1500" dirty="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COUNT</a:t>
            </a:r>
            <a:r>
              <a:rPr lang="en-US" sz="1500" dirty="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;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dirty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 8  </a:t>
            </a:r>
            <a:r>
              <a:rPr lang="en-US" sz="1500" dirty="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       </a:t>
            </a:r>
            <a:r>
              <a:rPr lang="en-US" sz="1500" dirty="0" b="1">
                <a:solidFill>
                  <a:srgbClr val="9333EA"/>
                </a:solidFill>
                <a:latin typeface="Consolas"/>
                <a:ea typeface="Consolas"/>
                <a:cs typeface="Consolas"/>
              </a:rPr>
              <a:t>PUT</a:t>
            </a:r>
            <a:r>
              <a:rPr lang="en-US" sz="1500" dirty="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 </a:t>
            </a:r>
            <a:r>
              <a:rPr lang="en-US" sz="1500" dirty="0" b="1">
                <a:solidFill>
                  <a:srgbClr val="9333EA"/>
                </a:solidFill>
                <a:latin typeface="Consolas"/>
                <a:ea typeface="Consolas"/>
                <a:cs typeface="Consolas"/>
              </a:rPr>
              <a:t>SKIP</a:t>
            </a:r>
            <a:r>
              <a:rPr lang="en-US" sz="1500" dirty="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 </a:t>
            </a:r>
            <a:r>
              <a:rPr lang="en-US" sz="1500" dirty="0" b="1">
                <a:solidFill>
                  <a:srgbClr val="9333EA"/>
                </a:solidFill>
                <a:latin typeface="Consolas"/>
                <a:ea typeface="Consolas"/>
                <a:cs typeface="Consolas"/>
              </a:rPr>
              <a:t>LIST</a:t>
            </a:r>
            <a:r>
              <a:rPr lang="en-US" sz="1500" dirty="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(</a:t>
            </a:r>
            <a:r>
              <a:rPr lang="en-US" sz="1500" dirty="0">
                <a:solidFill>
                  <a:srgbClr val="16A34A"/>
                </a:solidFill>
                <a:latin typeface="Consolas"/>
                <a:ea typeface="Consolas"/>
                <a:cs typeface="Consolas"/>
              </a:rPr>
              <a:t>'iteration '</a:t>
            </a:r>
            <a:r>
              <a:rPr lang="en-US" sz="1500" dirty="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, </a:t>
            </a:r>
            <a:r>
              <a:rPr lang="en-US" sz="1500" dirty="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I</a:t>
            </a:r>
            <a:r>
              <a:rPr lang="en-US" sz="1500" dirty="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);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dirty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 9  </a:t>
            </a:r>
            <a:r>
              <a:rPr lang="en-US" sz="1500" dirty="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    </a:t>
            </a:r>
            <a:r>
              <a:rPr lang="en-US" sz="1500" dirty="0" b="1">
                <a:solidFill>
                  <a:srgbClr val="9333EA"/>
                </a:solidFill>
                <a:latin typeface="Consolas"/>
                <a:ea typeface="Consolas"/>
                <a:cs typeface="Consolas"/>
              </a:rPr>
              <a:t>END</a:t>
            </a:r>
            <a:r>
              <a:rPr lang="en-US" sz="1500" dirty="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;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dirty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10  </a:t>
            </a:r>
            <a:r>
              <a:rPr lang="en-US" sz="1500" dirty="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 </a:t>
            </a:r>
            <a:r>
              <a:rPr lang="en-US" sz="1500" dirty="0" b="1">
                <a:solidFill>
                  <a:srgbClr val="9333EA"/>
                </a:solidFill>
                <a:latin typeface="Consolas"/>
                <a:ea typeface="Consolas"/>
                <a:cs typeface="Consolas"/>
              </a:rPr>
              <a:t>END</a:t>
            </a:r>
            <a:r>
              <a:rPr lang="en-US" sz="1500" dirty="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 </a:t>
            </a:r>
            <a:r>
              <a:rPr lang="en-US" sz="1500" dirty="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HELLO</a:t>
            </a:r>
            <a:r>
              <a:rPr lang="en-US" sz="1500" dirty="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;</a:t>
            </a:r>
          </a:p>
        </p:txBody>
      </p:sp>
      <p:sp>
        <p:nvSpPr>
          <p:cNvPr id="106" name="DeckFooter106"/>
          <p:cNvSpPr txBox="1"/>
          <p:nvPr/>
        </p:nvSpPr>
        <p:spPr>
          <a:xfrm>
            <a:off x="533400" y="6458000"/>
            <a:ext cx="10325200" cy="30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US" sz="1000" dirty="0">
                <a:solidFill>
                  <a:srgbClr val="94A3B8"/>
                </a:solidFill>
                <a:latin typeface="Calibri"/>
                <a:ea typeface="Calibri"/>
                <a:cs typeface="Calibri"/>
              </a:rPr>
              <a:t>md2any</a:t>
            </a:r>
          </a:p>
        </p:txBody>
      </p:sp>
      <p:sp>
        <p:nvSpPr>
          <p:cNvPr id="107" name="PageNum107"/>
          <p:cNvSpPr txBox="1"/>
          <p:nvPr/>
        </p:nvSpPr>
        <p:spPr>
          <a:xfrm>
            <a:off x="10858600" y="6458000"/>
            <a:ext cx="800000" cy="30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buNone/>
            </a:pPr>
            <a:r>
              <a:rPr lang="en-US" sz="1000" dirty="0">
                <a:solidFill>
                  <a:srgbClr val="94A3B8"/>
                </a:solidFill>
                <a:latin typeface="Calibri"/>
                <a:ea typeface="Calibri"/>
                <a:cs typeface="Calibri"/>
              </a:rPr>
              <a:t>20 / 44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Title100"/>
          <p:cNvSpPr txBox="1"/>
          <p:nvPr/>
        </p:nvSpPr>
        <p:spPr>
          <a:xfrm>
            <a:off x="533400" y="360000"/>
            <a:ext cx="11125200" cy="72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US" sz="2800" dirty="0" b="1">
                <a:solidFill>
                  <a:srgbClr val="0F172A"/>
                </a:solidFill>
                <a:latin typeface="Calibri Light"/>
                <a:ea typeface="Calibri Light"/>
                <a:cs typeface="Calibri Light"/>
              </a:rPr>
              <a:t>HLASM</a:t>
            </a:r>
          </a:p>
        </p:txBody>
      </p:sp>
      <p:sp>
        <p:nvSpPr>
          <p:cNvPr id="101" name="TitleAccent101"/>
          <p:cNvSpPr/>
          <p:nvPr/>
        </p:nvSpPr>
        <p:spPr>
          <a:xfrm>
            <a:off x="533400" y="1110000"/>
            <a:ext cx="400000" cy="5000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txBody>
          <a:bodyPr wrap="square" anchor="ctr"/>
          <a:lstStyle/>
          <a:p>
            <a:endParaRPr lang="en-US"/>
          </a:p>
        </p:txBody>
      </p:sp>
      <p:sp>
        <p:nvSpPr>
          <p:cNvPr id="102" name="TitleDivider102"/>
          <p:cNvSpPr/>
          <p:nvPr/>
        </p:nvSpPr>
        <p:spPr>
          <a:xfrm>
            <a:off x="953400" y="1128000"/>
            <a:ext cx="10705200" cy="140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wrap="square" anchor="ctr"/>
          <a:lstStyle/>
          <a:p>
            <a:endParaRPr lang="en-US"/>
          </a:p>
        </p:txBody>
      </p:sp>
      <p:sp>
        <p:nvSpPr>
          <p:cNvPr id="103" name="Para103"/>
          <p:cNvSpPr txBox="1"/>
          <p:nvPr/>
        </p:nvSpPr>
        <p:spPr>
          <a:xfrm>
            <a:off x="533400" y="1310000"/>
            <a:ext cx="11125200" cy="60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US" sz="1800" dirty="0">
                <a:solidFill>
                  <a:srgbClr val="334155"/>
                </a:solidFill>
                <a:latin typeface="Calibri"/>
                <a:ea typeface="Calibri"/>
                <a:cs typeface="Calibri"/>
              </a:rPr>
              <a:t>Column-1 </a:t>
            </a:r>
            <a:r>
              <a:rPr lang="en-US" sz="1800" dirty="0">
                <a:solidFill>
                  <a:srgbClr val="0369A1"/>
                </a:solidFill>
                <a:latin typeface="Consolas"/>
                <a:ea typeface="Consolas"/>
                <a:cs typeface="Consolas"/>
              </a:rPr>
              <a:t>*</a:t>
            </a:r>
            <a:r>
              <a:rPr lang="en-US" sz="1800" dirty="0">
                <a:solidFill>
                  <a:srgbClr val="334155"/>
                </a:solidFill>
                <a:latin typeface="Calibri"/>
                <a:ea typeface="Calibri"/>
                <a:cs typeface="Calibri"/>
              </a:rPr>
              <a:t> for comments, mnemonics highlighted, </a:t>
            </a:r>
            <a:r>
              <a:rPr lang="en-US" sz="1800" dirty="0">
                <a:solidFill>
                  <a:srgbClr val="0369A1"/>
                </a:solidFill>
                <a:latin typeface="Consolas"/>
                <a:ea typeface="Consolas"/>
                <a:cs typeface="Consolas"/>
              </a:rPr>
              <a:t>&amp;VAR</a:t>
            </a:r>
            <a:r>
              <a:rPr lang="en-US" sz="1800" dirty="0">
                <a:solidFill>
                  <a:srgbClr val="334155"/>
                </a:solidFill>
                <a:latin typeface="Calibri"/>
                <a:ea typeface="Calibri"/>
                <a:cs typeface="Calibri"/>
              </a:rPr>
              <a:t> macro variables.</a:t>
            </a:r>
          </a:p>
        </p:txBody>
      </p:sp>
      <p:sp>
        <p:nvSpPr>
          <p:cNvPr id="104" name="CodeTitle104"/>
          <p:cNvSpPr/>
          <p:nvPr/>
        </p:nvSpPr>
        <p:spPr>
          <a:xfrm>
            <a:off x="533400" y="1990000"/>
            <a:ext cx="11125200" cy="320000"/>
          </a:xfrm>
          <a:custGeom>
            <a:avLst/>
            <a:gdLst/>
            <a:ahLst/>
            <a:cxnLst/>
            <a:rect l="0" t="0" r="0" b="0"/>
            <a:pathLst>
              <a:path w="100000" h="100000">
                <a:moveTo>
                  <a:pt x="4500" y="0"/>
                </a:moveTo>
                <a:lnTo>
                  <a:pt x="95500" y="0"/>
                </a:lnTo>
                <a:cubicBezTo>
                  <a:pt x="97983" y="0"/>
                  <a:pt x="100000" y="2017"/>
                  <a:pt x="100000" y="4500"/>
                </a:cubicBezTo>
                <a:lnTo>
                  <a:pt x="100000" y="100000"/>
                </a:lnTo>
                <a:lnTo>
                  <a:pt x="0" y="100000"/>
                </a:lnTo>
                <a:lnTo>
                  <a:pt x="0" y="4500"/>
                </a:lnTo>
                <a:cubicBezTo>
                  <a:pt x="0" y="2017"/>
                  <a:pt x="2017" y="0"/>
                  <a:pt x="4500" y="0"/>
                </a:cubicBezTo>
                <a:close/>
              </a:path>
            </a:pathLst>
          </a:custGeom>
          <a:solidFill>
            <a:srgbClr val="E2E8F0"/>
          </a:solidFill>
          <a:ln w="6350">
            <a:solidFill>
              <a:srgbClr val="E2E8F0"/>
            </a:solidFill>
          </a:ln>
        </p:spPr>
        <p:txBody>
          <a:bodyPr wrap="square" lIns="180000" tIns="50000" rIns="180000" bIns="50000" anchor="ctr"/>
          <a:lstStyle/>
          <a:p>
            <a:pPr algn="l">
              <a:buNone/>
            </a:pPr>
            <a:r>
              <a:rPr lang="en-US" sz="1200" b="1" dirty="0">
                <a:solidFill>
                  <a:srgbClr val="0F172A"/>
                </a:solidFill>
                <a:latin typeface="Consolas"/>
                <a:ea typeface="Consolas"/>
                <a:cs typeface="Consolas"/>
              </a:rPr>
              <a:t>HELLO.asm</a:t>
            </a:r>
            <a:r>
              <a:rPr lang="en-US" sz="1100" dirty="0">
                <a:solidFill>
                  <a:srgbClr val="94A3B8"/>
                </a:solidFill>
                <a:latin typeface="Calibri"/>
              </a:rPr>
              <a:t>  ·  hlasm</a:t>
            </a:r>
          </a:p>
        </p:txBody>
      </p:sp>
      <p:sp>
        <p:nvSpPr>
          <p:cNvPr id="105" name="CodeBox105"/>
          <p:cNvSpPr/>
          <p:nvPr/>
        </p:nvSpPr>
        <p:spPr>
          <a:xfrm>
            <a:off x="533400" y="2310000"/>
            <a:ext cx="11125200" cy="3680000"/>
          </a:xfrm>
          <a:custGeom>
            <a:avLst/>
            <a:gdLst/>
            <a:ahLst/>
            <a:cxnLst/>
            <a:rect l="0" t="0" r="0" b="0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95500"/>
                </a:lnTo>
                <a:cubicBezTo>
                  <a:pt x="100000" y="97983"/>
                  <a:pt x="97983" y="100000"/>
                  <a:pt x="95500" y="100000"/>
                </a:cubicBezTo>
                <a:lnTo>
                  <a:pt x="4500" y="100000"/>
                </a:lnTo>
                <a:cubicBezTo>
                  <a:pt x="2017" y="100000"/>
                  <a:pt x="0" y="97983"/>
                  <a:pt x="0" y="95500"/>
                </a:cubicBezTo>
                <a:close/>
              </a:path>
            </a:pathLst>
          </a:custGeom>
          <a:solidFill>
            <a:srgbClr val="F1F5F9"/>
          </a:solidFill>
          <a:ln w="6350">
            <a:solidFill>
              <a:srgbClr val="E2E8F0"/>
            </a:solidFill>
          </a:ln>
        </p:spPr>
        <p:txBody>
          <a:bodyPr wrap="square" lIns="180000" tIns="120000" rIns="180000" bIns="12000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dirty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 1  </a:t>
            </a:r>
            <a:r>
              <a:rPr lang="en-US" sz="1500" dirty="0" i="1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*  HELLO WORLD ASSEMBLER PROGRAM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dirty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 2  </a:t>
            </a:r>
            <a:r>
              <a:rPr lang="en-US" sz="1500" dirty="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HELLO</a:t>
            </a:r>
            <a:r>
              <a:rPr lang="en-US" sz="1500" dirty="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    </a:t>
            </a:r>
            <a:r>
              <a:rPr lang="en-US" sz="1500" dirty="0" b="1">
                <a:solidFill>
                  <a:srgbClr val="9333EA"/>
                </a:solidFill>
                <a:latin typeface="Consolas"/>
                <a:ea typeface="Consolas"/>
                <a:cs typeface="Consolas"/>
              </a:rPr>
              <a:t>CSECT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dirty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 3  </a:t>
            </a:r>
            <a:r>
              <a:rPr lang="en-US" sz="1500" dirty="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         </a:t>
            </a:r>
            <a:r>
              <a:rPr lang="en-US" sz="1500" dirty="0" b="1">
                <a:solidFill>
                  <a:srgbClr val="9333EA"/>
                </a:solidFill>
                <a:latin typeface="Consolas"/>
                <a:ea typeface="Consolas"/>
                <a:cs typeface="Consolas"/>
              </a:rPr>
              <a:t>USING</a:t>
            </a:r>
            <a:r>
              <a:rPr lang="en-US" sz="1500" dirty="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 </a:t>
            </a:r>
            <a:r>
              <a:rPr lang="en-US" sz="1500" dirty="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HELLO</a:t>
            </a:r>
            <a:r>
              <a:rPr lang="en-US" sz="1500" dirty="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,</a:t>
            </a:r>
            <a:r>
              <a:rPr lang="en-US" sz="1500" dirty="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R15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dirty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 4  </a:t>
            </a:r>
            <a:r>
              <a:rPr lang="en-US" sz="1500" dirty="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         </a:t>
            </a:r>
            <a:r>
              <a:rPr lang="en-US" sz="1500" dirty="0" b="1">
                <a:solidFill>
                  <a:srgbClr val="9333EA"/>
                </a:solidFill>
                <a:latin typeface="Consolas"/>
                <a:ea typeface="Consolas"/>
                <a:cs typeface="Consolas"/>
              </a:rPr>
              <a:t>STM</a:t>
            </a:r>
            <a:r>
              <a:rPr lang="en-US" sz="1500" dirty="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   </a:t>
            </a:r>
            <a:r>
              <a:rPr lang="en-US" sz="1500" dirty="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R14</a:t>
            </a:r>
            <a:r>
              <a:rPr lang="en-US" sz="1500" dirty="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,</a:t>
            </a:r>
            <a:r>
              <a:rPr lang="en-US" sz="1500" dirty="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R12</a:t>
            </a:r>
            <a:r>
              <a:rPr lang="en-US" sz="1500" dirty="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,</a:t>
            </a:r>
            <a:r>
              <a:rPr lang="en-US" sz="1500" dirty="0">
                <a:solidFill>
                  <a:srgbClr val="C2410C"/>
                </a:solidFill>
                <a:latin typeface="Consolas"/>
                <a:ea typeface="Consolas"/>
                <a:cs typeface="Consolas"/>
              </a:rPr>
              <a:t>12</a:t>
            </a:r>
            <a:r>
              <a:rPr lang="en-US" sz="1500" dirty="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(</a:t>
            </a:r>
            <a:r>
              <a:rPr lang="en-US" sz="1500" dirty="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R13</a:t>
            </a:r>
            <a:r>
              <a:rPr lang="en-US" sz="1500" dirty="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)      </a:t>
            </a:r>
            <a:r>
              <a:rPr lang="en-US" sz="1500" dirty="0" b="1">
                <a:solidFill>
                  <a:srgbClr val="9333EA"/>
                </a:solidFill>
                <a:latin typeface="Consolas"/>
                <a:ea typeface="Consolas"/>
                <a:cs typeface="Consolas"/>
              </a:rPr>
              <a:t>SAVE</a:t>
            </a:r>
            <a:r>
              <a:rPr lang="en-US" sz="1500" dirty="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 </a:t>
            </a:r>
            <a:r>
              <a:rPr lang="en-US" sz="1500" dirty="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REGISTERS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dirty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 5  </a:t>
            </a:r>
            <a:r>
              <a:rPr lang="en-US" sz="1500" dirty="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         </a:t>
            </a:r>
            <a:r>
              <a:rPr lang="en-US" sz="1500" dirty="0" b="1">
                <a:solidFill>
                  <a:srgbClr val="9333EA"/>
                </a:solidFill>
                <a:latin typeface="Consolas"/>
                <a:ea typeface="Consolas"/>
                <a:cs typeface="Consolas"/>
              </a:rPr>
              <a:t>LA</a:t>
            </a:r>
            <a:r>
              <a:rPr lang="en-US" sz="1500" dirty="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    </a:t>
            </a:r>
            <a:r>
              <a:rPr lang="en-US" sz="1500" dirty="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R3</a:t>
            </a:r>
            <a:r>
              <a:rPr lang="en-US" sz="1500" dirty="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,</a:t>
            </a:r>
            <a:r>
              <a:rPr lang="en-US" sz="1500" dirty="0">
                <a:solidFill>
                  <a:srgbClr val="C2410C"/>
                </a:solidFill>
                <a:latin typeface="Consolas"/>
                <a:ea typeface="Consolas"/>
                <a:cs typeface="Consolas"/>
              </a:rPr>
              <a:t>5</a:t>
            </a:r>
            <a:r>
              <a:rPr lang="en-US" sz="1500" dirty="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                 </a:t>
            </a:r>
            <a:r>
              <a:rPr lang="en-US" sz="1500" dirty="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ITERATION</a:t>
            </a:r>
            <a:r>
              <a:rPr lang="en-US" sz="1500" dirty="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 </a:t>
            </a:r>
            <a:r>
              <a:rPr lang="en-US" sz="1500" dirty="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COUNT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dirty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 6  </a:t>
            </a:r>
            <a:r>
              <a:rPr lang="en-US" sz="1500" dirty="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LOOP</a:t>
            </a:r>
            <a:r>
              <a:rPr lang="en-US" sz="1500" dirty="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     </a:t>
            </a:r>
            <a:r>
              <a:rPr lang="en-US" sz="1500" dirty="0" b="1">
                <a:solidFill>
                  <a:srgbClr val="9333EA"/>
                </a:solidFill>
                <a:latin typeface="Consolas"/>
                <a:ea typeface="Consolas"/>
                <a:cs typeface="Consolas"/>
              </a:rPr>
              <a:t>EQU</a:t>
            </a:r>
            <a:r>
              <a:rPr lang="en-US" sz="1500" dirty="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   *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dirty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 7  </a:t>
            </a:r>
            <a:r>
              <a:rPr lang="en-US" sz="1500" dirty="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         </a:t>
            </a:r>
            <a:r>
              <a:rPr lang="en-US" sz="1500" dirty="0" b="1">
                <a:solidFill>
                  <a:srgbClr val="9333EA"/>
                </a:solidFill>
                <a:latin typeface="Consolas"/>
                <a:ea typeface="Consolas"/>
                <a:cs typeface="Consolas"/>
              </a:rPr>
              <a:t>WTO</a:t>
            </a:r>
            <a:r>
              <a:rPr lang="en-US" sz="1500" dirty="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   </a:t>
            </a:r>
            <a:r>
              <a:rPr lang="en-US" sz="1500" dirty="0">
                <a:solidFill>
                  <a:srgbClr val="16A34A"/>
                </a:solidFill>
                <a:latin typeface="Consolas"/>
                <a:ea typeface="Consolas"/>
                <a:cs typeface="Consolas"/>
              </a:rPr>
              <a:t>'Hello, mainframe!'</a:t>
            </a:r>
            <a:r>
              <a:rPr lang="en-US" sz="1500" dirty="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  </a:t>
            </a:r>
            <a:r>
              <a:rPr lang="en-US" sz="1500" dirty="0" b="1">
                <a:solidFill>
                  <a:srgbClr val="9333EA"/>
                </a:solidFill>
                <a:latin typeface="Consolas"/>
                <a:ea typeface="Consolas"/>
                <a:cs typeface="Consolas"/>
              </a:rPr>
              <a:t>WRITE</a:t>
            </a:r>
            <a:r>
              <a:rPr lang="en-US" sz="1500" dirty="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 </a:t>
            </a:r>
            <a:r>
              <a:rPr lang="en-US" sz="1500" dirty="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TO</a:t>
            </a:r>
            <a:r>
              <a:rPr lang="en-US" sz="1500" dirty="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 </a:t>
            </a:r>
            <a:r>
              <a:rPr lang="en-US" sz="1500" dirty="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OPERATOR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dirty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 8  </a:t>
            </a:r>
            <a:r>
              <a:rPr lang="en-US" sz="1500" dirty="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         </a:t>
            </a:r>
            <a:r>
              <a:rPr lang="en-US" sz="1500" dirty="0" b="1">
                <a:solidFill>
                  <a:srgbClr val="9333EA"/>
                </a:solidFill>
                <a:latin typeface="Consolas"/>
                <a:ea typeface="Consolas"/>
                <a:cs typeface="Consolas"/>
              </a:rPr>
              <a:t>BCT</a:t>
            </a:r>
            <a:r>
              <a:rPr lang="en-US" sz="1500" dirty="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   </a:t>
            </a:r>
            <a:r>
              <a:rPr lang="en-US" sz="1500" dirty="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R3</a:t>
            </a:r>
            <a:r>
              <a:rPr lang="en-US" sz="1500" dirty="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,</a:t>
            </a:r>
            <a:r>
              <a:rPr lang="en-US" sz="1500" dirty="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LOOP</a:t>
            </a:r>
            <a:r>
              <a:rPr lang="en-US" sz="1500" dirty="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              </a:t>
            </a:r>
            <a:r>
              <a:rPr lang="en-US" sz="1500" dirty="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DECREMENT</a:t>
            </a:r>
            <a:r>
              <a:rPr lang="en-US" sz="1500" dirty="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 </a:t>
            </a:r>
            <a:r>
              <a:rPr lang="en-US" sz="1500" dirty="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AND</a:t>
            </a:r>
            <a:r>
              <a:rPr lang="en-US" sz="1500" dirty="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 </a:t>
            </a:r>
            <a:r>
              <a:rPr lang="en-US" sz="1500" dirty="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BRANCH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dirty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 9  </a:t>
            </a:r>
            <a:r>
              <a:rPr lang="en-US" sz="1500" dirty="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         </a:t>
            </a:r>
            <a:r>
              <a:rPr lang="en-US" sz="1500" dirty="0" b="1">
                <a:solidFill>
                  <a:srgbClr val="9333EA"/>
                </a:solidFill>
                <a:latin typeface="Consolas"/>
                <a:ea typeface="Consolas"/>
                <a:cs typeface="Consolas"/>
              </a:rPr>
              <a:t>LM</a:t>
            </a:r>
            <a:r>
              <a:rPr lang="en-US" sz="1500" dirty="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    </a:t>
            </a:r>
            <a:r>
              <a:rPr lang="en-US" sz="1500" dirty="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R14</a:t>
            </a:r>
            <a:r>
              <a:rPr lang="en-US" sz="1500" dirty="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,</a:t>
            </a:r>
            <a:r>
              <a:rPr lang="en-US" sz="1500" dirty="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R12</a:t>
            </a:r>
            <a:r>
              <a:rPr lang="en-US" sz="1500" dirty="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,</a:t>
            </a:r>
            <a:r>
              <a:rPr lang="en-US" sz="1500" dirty="0">
                <a:solidFill>
                  <a:srgbClr val="C2410C"/>
                </a:solidFill>
                <a:latin typeface="Consolas"/>
                <a:ea typeface="Consolas"/>
                <a:cs typeface="Consolas"/>
              </a:rPr>
              <a:t>12</a:t>
            </a:r>
            <a:r>
              <a:rPr lang="en-US" sz="1500" dirty="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(</a:t>
            </a:r>
            <a:r>
              <a:rPr lang="en-US" sz="1500" dirty="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R13</a:t>
            </a:r>
            <a:r>
              <a:rPr lang="en-US" sz="1500" dirty="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)      </a:t>
            </a:r>
            <a:r>
              <a:rPr lang="en-US" sz="1500" dirty="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RESTORE</a:t>
            </a:r>
            <a:r>
              <a:rPr lang="en-US" sz="1500" dirty="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 </a:t>
            </a:r>
            <a:r>
              <a:rPr lang="en-US" sz="1500" dirty="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REGISTERS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dirty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10  </a:t>
            </a:r>
            <a:r>
              <a:rPr lang="en-US" sz="1500" dirty="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         </a:t>
            </a:r>
            <a:r>
              <a:rPr lang="en-US" sz="1500" dirty="0" b="1">
                <a:solidFill>
                  <a:srgbClr val="9333EA"/>
                </a:solidFill>
                <a:latin typeface="Consolas"/>
                <a:ea typeface="Consolas"/>
                <a:cs typeface="Consolas"/>
              </a:rPr>
              <a:t>BR</a:t>
            </a:r>
            <a:r>
              <a:rPr lang="en-US" sz="1500" dirty="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    </a:t>
            </a:r>
            <a:r>
              <a:rPr lang="en-US" sz="1500" dirty="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R14</a:t>
            </a:r>
            <a:r>
              <a:rPr lang="en-US" sz="1500" dirty="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                  </a:t>
            </a:r>
            <a:r>
              <a:rPr lang="en-US" sz="1500" dirty="0" b="1">
                <a:solidFill>
                  <a:srgbClr val="9333EA"/>
                </a:solidFill>
                <a:latin typeface="Consolas"/>
                <a:ea typeface="Consolas"/>
                <a:cs typeface="Consolas"/>
              </a:rPr>
              <a:t>RETURN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dirty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11  </a:t>
            </a:r>
            <a:r>
              <a:rPr lang="en-US" sz="1500" dirty="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         </a:t>
            </a:r>
            <a:r>
              <a:rPr lang="en-US" sz="1500" dirty="0" b="1">
                <a:solidFill>
                  <a:srgbClr val="9333EA"/>
                </a:solidFill>
                <a:latin typeface="Consolas"/>
                <a:ea typeface="Consolas"/>
                <a:cs typeface="Consolas"/>
              </a:rPr>
              <a:t>LTORG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dirty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12  </a:t>
            </a:r>
            <a:r>
              <a:rPr lang="en-US" sz="1500" dirty="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         </a:t>
            </a:r>
            <a:r>
              <a:rPr lang="en-US" sz="1500" dirty="0" b="1">
                <a:solidFill>
                  <a:srgbClr val="9333EA"/>
                </a:solidFill>
                <a:latin typeface="Consolas"/>
                <a:ea typeface="Consolas"/>
                <a:cs typeface="Consolas"/>
              </a:rPr>
              <a:t>END</a:t>
            </a:r>
            <a:r>
              <a:rPr lang="en-US" sz="1500" dirty="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   </a:t>
            </a:r>
            <a:r>
              <a:rPr lang="en-US" sz="1500" dirty="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HELLO</a:t>
            </a:r>
          </a:p>
        </p:txBody>
      </p:sp>
      <p:sp>
        <p:nvSpPr>
          <p:cNvPr id="106" name="DeckFooter106"/>
          <p:cNvSpPr txBox="1"/>
          <p:nvPr/>
        </p:nvSpPr>
        <p:spPr>
          <a:xfrm>
            <a:off x="533400" y="6458000"/>
            <a:ext cx="10325200" cy="30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US" sz="1000" dirty="0">
                <a:solidFill>
                  <a:srgbClr val="94A3B8"/>
                </a:solidFill>
                <a:latin typeface="Calibri"/>
                <a:ea typeface="Calibri"/>
                <a:cs typeface="Calibri"/>
              </a:rPr>
              <a:t>md2any</a:t>
            </a:r>
          </a:p>
        </p:txBody>
      </p:sp>
      <p:sp>
        <p:nvSpPr>
          <p:cNvPr id="107" name="PageNum107"/>
          <p:cNvSpPr txBox="1"/>
          <p:nvPr/>
        </p:nvSpPr>
        <p:spPr>
          <a:xfrm>
            <a:off x="10858600" y="6458000"/>
            <a:ext cx="800000" cy="30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buNone/>
            </a:pPr>
            <a:r>
              <a:rPr lang="en-US" sz="1000" dirty="0">
                <a:solidFill>
                  <a:srgbClr val="94A3B8"/>
                </a:solidFill>
                <a:latin typeface="Calibri"/>
                <a:ea typeface="Calibri"/>
                <a:cs typeface="Calibri"/>
              </a:rPr>
              <a:t>21 / 44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Title100"/>
          <p:cNvSpPr txBox="1"/>
          <p:nvPr/>
        </p:nvSpPr>
        <p:spPr>
          <a:xfrm>
            <a:off x="533400" y="360000"/>
            <a:ext cx="11125200" cy="72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US" sz="2800" dirty="0" b="1">
                <a:solidFill>
                  <a:srgbClr val="0F172A"/>
                </a:solidFill>
                <a:latin typeface="Calibri Light"/>
                <a:ea typeface="Calibri Light"/>
                <a:cs typeface="Calibri Light"/>
              </a:rPr>
              <a:t>DB2 DDL</a:t>
            </a:r>
          </a:p>
        </p:txBody>
      </p:sp>
      <p:sp>
        <p:nvSpPr>
          <p:cNvPr id="101" name="TitleAccent101"/>
          <p:cNvSpPr/>
          <p:nvPr/>
        </p:nvSpPr>
        <p:spPr>
          <a:xfrm>
            <a:off x="533400" y="1110000"/>
            <a:ext cx="400000" cy="5000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txBody>
          <a:bodyPr wrap="square" anchor="ctr"/>
          <a:lstStyle/>
          <a:p>
            <a:endParaRPr lang="en-US"/>
          </a:p>
        </p:txBody>
      </p:sp>
      <p:sp>
        <p:nvSpPr>
          <p:cNvPr id="102" name="TitleDivider102"/>
          <p:cNvSpPr/>
          <p:nvPr/>
        </p:nvSpPr>
        <p:spPr>
          <a:xfrm>
            <a:off x="953400" y="1128000"/>
            <a:ext cx="10705200" cy="140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wrap="square" anchor="ctr"/>
          <a:lstStyle/>
          <a:p>
            <a:endParaRPr lang="en-US"/>
          </a:p>
        </p:txBody>
      </p:sp>
      <p:sp>
        <p:nvSpPr>
          <p:cNvPr id="103" name="Para103"/>
          <p:cNvSpPr txBox="1"/>
          <p:nvPr/>
        </p:nvSpPr>
        <p:spPr>
          <a:xfrm>
            <a:off x="533400" y="1310000"/>
            <a:ext cx="11125200" cy="60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US" sz="1800" dirty="0">
                <a:solidFill>
                  <a:srgbClr val="334155"/>
                </a:solidFill>
                <a:latin typeface="Calibri"/>
                <a:ea typeface="Calibri"/>
                <a:cs typeface="Calibri"/>
              </a:rPr>
              <a:t>Recognises the standard SQL keywords plus DB2 catalog and tablespace specifics.</a:t>
            </a:r>
          </a:p>
        </p:txBody>
      </p:sp>
      <p:sp>
        <p:nvSpPr>
          <p:cNvPr id="104" name="DeckFooter104"/>
          <p:cNvSpPr txBox="1"/>
          <p:nvPr/>
        </p:nvSpPr>
        <p:spPr>
          <a:xfrm>
            <a:off x="533400" y="6458000"/>
            <a:ext cx="10325200" cy="30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US" sz="1000" dirty="0">
                <a:solidFill>
                  <a:srgbClr val="94A3B8"/>
                </a:solidFill>
                <a:latin typeface="Calibri"/>
                <a:ea typeface="Calibri"/>
                <a:cs typeface="Calibri"/>
              </a:rPr>
              <a:t>md2any</a:t>
            </a:r>
          </a:p>
        </p:txBody>
      </p:sp>
      <p:sp>
        <p:nvSpPr>
          <p:cNvPr id="105" name="PageNum105"/>
          <p:cNvSpPr txBox="1"/>
          <p:nvPr/>
        </p:nvSpPr>
        <p:spPr>
          <a:xfrm>
            <a:off x="10858600" y="6458000"/>
            <a:ext cx="800000" cy="30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buNone/>
            </a:pPr>
            <a:r>
              <a:rPr lang="en-US" sz="1000" dirty="0">
                <a:solidFill>
                  <a:srgbClr val="94A3B8"/>
                </a:solidFill>
                <a:latin typeface="Calibri"/>
                <a:ea typeface="Calibri"/>
                <a:cs typeface="Calibri"/>
              </a:rPr>
              <a:t>22 / 44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Title100"/>
          <p:cNvSpPr txBox="1"/>
          <p:nvPr/>
        </p:nvSpPr>
        <p:spPr>
          <a:xfrm>
            <a:off x="533400" y="360000"/>
            <a:ext cx="11125200" cy="72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US" sz="2800" dirty="0" b="1">
                <a:solidFill>
                  <a:srgbClr val="0F172A"/>
                </a:solidFill>
                <a:latin typeface="Calibri Light"/>
                <a:ea typeface="Calibri Light"/>
                <a:cs typeface="Calibri Light"/>
              </a:rPr>
              <a:t>DB2 DDL (cont.)</a:t>
            </a:r>
          </a:p>
        </p:txBody>
      </p:sp>
      <p:sp>
        <p:nvSpPr>
          <p:cNvPr id="101" name="TitleAccent101"/>
          <p:cNvSpPr/>
          <p:nvPr/>
        </p:nvSpPr>
        <p:spPr>
          <a:xfrm>
            <a:off x="533400" y="1110000"/>
            <a:ext cx="400000" cy="5000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txBody>
          <a:bodyPr wrap="square" anchor="ctr"/>
          <a:lstStyle/>
          <a:p>
            <a:endParaRPr lang="en-US"/>
          </a:p>
        </p:txBody>
      </p:sp>
      <p:sp>
        <p:nvSpPr>
          <p:cNvPr id="102" name="TitleDivider102"/>
          <p:cNvSpPr/>
          <p:nvPr/>
        </p:nvSpPr>
        <p:spPr>
          <a:xfrm>
            <a:off x="953400" y="1128000"/>
            <a:ext cx="10705200" cy="140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wrap="square" anchor="ctr"/>
          <a:lstStyle/>
          <a:p>
            <a:endParaRPr lang="en-US"/>
          </a:p>
        </p:txBody>
      </p:sp>
      <p:sp>
        <p:nvSpPr>
          <p:cNvPr id="103" name="CodeTitle103"/>
          <p:cNvSpPr/>
          <p:nvPr/>
        </p:nvSpPr>
        <p:spPr>
          <a:xfrm>
            <a:off x="533400" y="1310000"/>
            <a:ext cx="11125200" cy="320000"/>
          </a:xfrm>
          <a:custGeom>
            <a:avLst/>
            <a:gdLst/>
            <a:ahLst/>
            <a:cxnLst/>
            <a:rect l="0" t="0" r="0" b="0"/>
            <a:pathLst>
              <a:path w="100000" h="100000">
                <a:moveTo>
                  <a:pt x="4500" y="0"/>
                </a:moveTo>
                <a:lnTo>
                  <a:pt x="95500" y="0"/>
                </a:lnTo>
                <a:cubicBezTo>
                  <a:pt x="97983" y="0"/>
                  <a:pt x="100000" y="2017"/>
                  <a:pt x="100000" y="4500"/>
                </a:cubicBezTo>
                <a:lnTo>
                  <a:pt x="100000" y="100000"/>
                </a:lnTo>
                <a:lnTo>
                  <a:pt x="0" y="100000"/>
                </a:lnTo>
                <a:lnTo>
                  <a:pt x="0" y="4500"/>
                </a:lnTo>
                <a:cubicBezTo>
                  <a:pt x="0" y="2017"/>
                  <a:pt x="2017" y="0"/>
                  <a:pt x="4500" y="0"/>
                </a:cubicBezTo>
                <a:close/>
              </a:path>
            </a:pathLst>
          </a:custGeom>
          <a:solidFill>
            <a:srgbClr val="E2E8F0"/>
          </a:solidFill>
          <a:ln w="6350">
            <a:solidFill>
              <a:srgbClr val="E2E8F0"/>
            </a:solidFill>
          </a:ln>
        </p:spPr>
        <p:txBody>
          <a:bodyPr wrap="square" lIns="180000" tIns="50000" rIns="180000" bIns="50000" anchor="ctr"/>
          <a:lstStyle/>
          <a:p>
            <a:pPr algn="l">
              <a:buNone/>
            </a:pPr>
            <a:r>
              <a:rPr lang="en-US" sz="1200" b="1" dirty="0">
                <a:solidFill>
                  <a:srgbClr val="0F172A"/>
                </a:solidFill>
                <a:latin typeface="Consolas"/>
                <a:ea typeface="Consolas"/>
                <a:cs typeface="Consolas"/>
              </a:rPr>
              <a:t>CUSTOMER.ddl</a:t>
            </a:r>
            <a:r>
              <a:rPr lang="en-US" sz="1100" dirty="0">
                <a:solidFill>
                  <a:srgbClr val="94A3B8"/>
                </a:solidFill>
                <a:latin typeface="Calibri"/>
              </a:rPr>
              <a:t>  ·  db2</a:t>
            </a:r>
          </a:p>
        </p:txBody>
      </p:sp>
      <p:sp>
        <p:nvSpPr>
          <p:cNvPr id="104" name="CodeBox104"/>
          <p:cNvSpPr/>
          <p:nvPr/>
        </p:nvSpPr>
        <p:spPr>
          <a:xfrm>
            <a:off x="533400" y="1630000"/>
            <a:ext cx="11125200" cy="4728000"/>
          </a:xfrm>
          <a:custGeom>
            <a:avLst/>
            <a:gdLst/>
            <a:ahLst/>
            <a:cxnLst/>
            <a:rect l="0" t="0" r="0" b="0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95500"/>
                </a:lnTo>
                <a:cubicBezTo>
                  <a:pt x="100000" y="97983"/>
                  <a:pt x="97983" y="100000"/>
                  <a:pt x="95500" y="100000"/>
                </a:cubicBezTo>
                <a:lnTo>
                  <a:pt x="4500" y="100000"/>
                </a:lnTo>
                <a:cubicBezTo>
                  <a:pt x="2017" y="100000"/>
                  <a:pt x="0" y="97983"/>
                  <a:pt x="0" y="95500"/>
                </a:cubicBezTo>
                <a:close/>
              </a:path>
            </a:pathLst>
          </a:custGeom>
          <a:solidFill>
            <a:srgbClr val="F1F5F9"/>
          </a:solidFill>
          <a:ln w="6350">
            <a:solidFill>
              <a:srgbClr val="E2E8F0"/>
            </a:solidFill>
          </a:ln>
        </p:spPr>
        <p:txBody>
          <a:bodyPr wrap="square" lIns="180000" tIns="120000" rIns="180000" bIns="12000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dirty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 1  </a:t>
            </a:r>
            <a:r>
              <a:rPr lang="en-US" sz="1500" dirty="0" i="1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-- CREATE A TABLESPACE AND A TABLE INSIDE IT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dirty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 2  </a:t>
            </a:r>
            <a:r>
              <a:rPr lang="en-US" sz="1500" dirty="0" b="1">
                <a:solidFill>
                  <a:srgbClr val="9333EA"/>
                </a:solidFill>
                <a:latin typeface="Consolas"/>
                <a:ea typeface="Consolas"/>
                <a:cs typeface="Consolas"/>
              </a:rPr>
              <a:t>CREATE</a:t>
            </a:r>
            <a:r>
              <a:rPr lang="en-US" sz="1500" dirty="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 </a:t>
            </a:r>
            <a:r>
              <a:rPr lang="en-US" sz="1500" dirty="0" b="1">
                <a:solidFill>
                  <a:srgbClr val="9333EA"/>
                </a:solidFill>
                <a:latin typeface="Consolas"/>
                <a:ea typeface="Consolas"/>
                <a:cs typeface="Consolas"/>
              </a:rPr>
              <a:t>TABLESPACE</a:t>
            </a:r>
            <a:r>
              <a:rPr lang="en-US" sz="1500" dirty="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 </a:t>
            </a:r>
            <a:r>
              <a:rPr lang="en-US" sz="1500" dirty="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TS001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dirty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 3  </a:t>
            </a:r>
            <a:r>
              <a:rPr lang="en-US" sz="1500" dirty="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    </a:t>
            </a:r>
            <a:r>
              <a:rPr lang="en-US" sz="1500" dirty="0" b="1">
                <a:solidFill>
                  <a:srgbClr val="9333EA"/>
                </a:solidFill>
                <a:latin typeface="Consolas"/>
                <a:ea typeface="Consolas"/>
                <a:cs typeface="Consolas"/>
              </a:rPr>
              <a:t>IN</a:t>
            </a:r>
            <a:r>
              <a:rPr lang="en-US" sz="1500" dirty="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 </a:t>
            </a:r>
            <a:r>
              <a:rPr lang="en-US" sz="1500" dirty="0" b="1">
                <a:solidFill>
                  <a:srgbClr val="9333EA"/>
                </a:solidFill>
                <a:latin typeface="Consolas"/>
                <a:ea typeface="Consolas"/>
                <a:cs typeface="Consolas"/>
              </a:rPr>
              <a:t>DATABASE</a:t>
            </a:r>
            <a:r>
              <a:rPr lang="en-US" sz="1500" dirty="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 </a:t>
            </a:r>
            <a:r>
              <a:rPr lang="en-US" sz="1500" dirty="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DBPROD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dirty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 4  </a:t>
            </a:r>
            <a:r>
              <a:rPr lang="en-US" sz="1500" dirty="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    </a:t>
            </a:r>
            <a:r>
              <a:rPr lang="en-US" sz="1500" dirty="0" b="1">
                <a:solidFill>
                  <a:srgbClr val="9333EA"/>
                </a:solidFill>
                <a:latin typeface="Consolas"/>
                <a:ea typeface="Consolas"/>
                <a:cs typeface="Consolas"/>
              </a:rPr>
              <a:t>USING</a:t>
            </a:r>
            <a:r>
              <a:rPr lang="en-US" sz="1500" dirty="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 </a:t>
            </a:r>
            <a:r>
              <a:rPr lang="en-US" sz="1500" dirty="0" b="1">
                <a:solidFill>
                  <a:srgbClr val="9333EA"/>
                </a:solidFill>
                <a:latin typeface="Consolas"/>
                <a:ea typeface="Consolas"/>
                <a:cs typeface="Consolas"/>
              </a:rPr>
              <a:t>STOGROUP</a:t>
            </a:r>
            <a:r>
              <a:rPr lang="en-US" sz="1500" dirty="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 </a:t>
            </a:r>
            <a:r>
              <a:rPr lang="en-US" sz="1500" dirty="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SG1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dirty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 5  </a:t>
            </a:r>
            <a:r>
              <a:rPr lang="en-US" sz="1500" dirty="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    </a:t>
            </a:r>
            <a:r>
              <a:rPr lang="en-US" sz="1500" dirty="0" b="1">
                <a:solidFill>
                  <a:srgbClr val="9333EA"/>
                </a:solidFill>
                <a:latin typeface="Consolas"/>
                <a:ea typeface="Consolas"/>
                <a:cs typeface="Consolas"/>
              </a:rPr>
              <a:t>PRIQTY</a:t>
            </a:r>
            <a:r>
              <a:rPr lang="en-US" sz="1500" dirty="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 </a:t>
            </a:r>
            <a:r>
              <a:rPr lang="en-US" sz="1500" dirty="0">
                <a:solidFill>
                  <a:srgbClr val="C2410C"/>
                </a:solidFill>
                <a:latin typeface="Consolas"/>
                <a:ea typeface="Consolas"/>
                <a:cs typeface="Consolas"/>
              </a:rPr>
              <a:t>720</a:t>
            </a:r>
            <a:r>
              <a:rPr lang="en-US" sz="1500" dirty="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 </a:t>
            </a:r>
            <a:r>
              <a:rPr lang="en-US" sz="1500" dirty="0" b="1">
                <a:solidFill>
                  <a:srgbClr val="9333EA"/>
                </a:solidFill>
                <a:latin typeface="Consolas"/>
                <a:ea typeface="Consolas"/>
                <a:cs typeface="Consolas"/>
              </a:rPr>
              <a:t>SECQTY</a:t>
            </a:r>
            <a:r>
              <a:rPr lang="en-US" sz="1500" dirty="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 </a:t>
            </a:r>
            <a:r>
              <a:rPr lang="en-US" sz="1500" dirty="0">
                <a:solidFill>
                  <a:srgbClr val="C2410C"/>
                </a:solidFill>
                <a:latin typeface="Consolas"/>
                <a:ea typeface="Consolas"/>
                <a:cs typeface="Consolas"/>
              </a:rPr>
              <a:t>720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dirty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 6  </a:t>
            </a:r>
            <a:r>
              <a:rPr lang="en-US" sz="1500" dirty="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    </a:t>
            </a:r>
            <a:r>
              <a:rPr lang="en-US" sz="1500" dirty="0" b="1">
                <a:solidFill>
                  <a:srgbClr val="9333EA"/>
                </a:solidFill>
                <a:latin typeface="Consolas"/>
                <a:ea typeface="Consolas"/>
                <a:cs typeface="Consolas"/>
              </a:rPr>
              <a:t>BUFFERPOOL</a:t>
            </a:r>
            <a:r>
              <a:rPr lang="en-US" sz="1500" dirty="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 </a:t>
            </a:r>
            <a:r>
              <a:rPr lang="en-US" sz="1500" dirty="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BP0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dirty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 7  </a:t>
            </a:r>
            <a:r>
              <a:rPr lang="en-US" sz="1500" dirty="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    </a:t>
            </a:r>
            <a:r>
              <a:rPr lang="en-US" sz="1500" dirty="0" b="1">
                <a:solidFill>
                  <a:srgbClr val="9333EA"/>
                </a:solidFill>
                <a:latin typeface="Consolas"/>
                <a:ea typeface="Consolas"/>
                <a:cs typeface="Consolas"/>
              </a:rPr>
              <a:t>LOCKSIZE</a:t>
            </a:r>
            <a:r>
              <a:rPr lang="en-US" sz="1500" dirty="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 </a:t>
            </a:r>
            <a:r>
              <a:rPr lang="en-US" sz="1500" dirty="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PAGE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dirty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 8  </a:t>
            </a:r>
            <a:r>
              <a:rPr lang="en-US" sz="1500" dirty="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    </a:t>
            </a:r>
            <a:r>
              <a:rPr lang="en-US" sz="1500" dirty="0" b="1">
                <a:solidFill>
                  <a:srgbClr val="9333EA"/>
                </a:solidFill>
                <a:latin typeface="Consolas"/>
                <a:ea typeface="Consolas"/>
                <a:cs typeface="Consolas"/>
              </a:rPr>
              <a:t>COMPRESS</a:t>
            </a:r>
            <a:r>
              <a:rPr lang="en-US" sz="1500" dirty="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 </a:t>
            </a:r>
            <a:r>
              <a:rPr lang="en-US" sz="1500" dirty="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YES</a:t>
            </a:r>
            <a:r>
              <a:rPr lang="en-US" sz="1500" dirty="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;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dirty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 9  </a:t>
            </a:r>
            <a:r>
              <a:rPr lang="en-US" sz="1500" dirty="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dirty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10  </a:t>
            </a:r>
            <a:r>
              <a:rPr lang="en-US" sz="1500" dirty="0" b="1">
                <a:solidFill>
                  <a:srgbClr val="9333EA"/>
                </a:solidFill>
                <a:latin typeface="Consolas"/>
                <a:ea typeface="Consolas"/>
                <a:cs typeface="Consolas"/>
              </a:rPr>
              <a:t>CREATE</a:t>
            </a:r>
            <a:r>
              <a:rPr lang="en-US" sz="1500" dirty="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 </a:t>
            </a:r>
            <a:r>
              <a:rPr lang="en-US" sz="1500" dirty="0" b="1">
                <a:solidFill>
                  <a:srgbClr val="9333EA"/>
                </a:solidFill>
                <a:latin typeface="Consolas"/>
                <a:ea typeface="Consolas"/>
                <a:cs typeface="Consolas"/>
              </a:rPr>
              <a:t>TABLE</a:t>
            </a:r>
            <a:r>
              <a:rPr lang="en-US" sz="1500" dirty="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 </a:t>
            </a:r>
            <a:r>
              <a:rPr lang="en-US" sz="1500" dirty="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PAUL</a:t>
            </a:r>
            <a:r>
              <a:rPr lang="en-US" sz="1500" dirty="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.</a:t>
            </a:r>
            <a:r>
              <a:rPr lang="en-US" sz="1500" dirty="0">
                <a:solidFill>
                  <a:srgbClr val="2563EB"/>
                </a:solidFill>
                <a:latin typeface="Consolas"/>
                <a:ea typeface="Consolas"/>
                <a:cs typeface="Consolas"/>
              </a:rPr>
              <a:t>CUSTOMER</a:t>
            </a:r>
            <a:r>
              <a:rPr lang="en-US" sz="1500" dirty="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 (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dirty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11  </a:t>
            </a:r>
            <a:r>
              <a:rPr lang="en-US" sz="1500" dirty="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    </a:t>
            </a:r>
            <a:r>
              <a:rPr lang="en-US" sz="1500" dirty="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CUST_ID</a:t>
            </a:r>
            <a:r>
              <a:rPr lang="en-US" sz="1500" dirty="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    </a:t>
            </a:r>
            <a:r>
              <a:rPr lang="en-US" sz="1500" dirty="0">
                <a:solidFill>
                  <a:srgbClr val="0891B2"/>
                </a:solidFill>
                <a:latin typeface="Consolas"/>
                <a:ea typeface="Consolas"/>
                <a:cs typeface="Consolas"/>
              </a:rPr>
              <a:t>INTEGER</a:t>
            </a:r>
            <a:r>
              <a:rPr lang="en-US" sz="1500" dirty="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       </a:t>
            </a:r>
            <a:r>
              <a:rPr lang="en-US" sz="1500" dirty="0" b="1">
                <a:solidFill>
                  <a:srgbClr val="9333EA"/>
                </a:solidFill>
                <a:latin typeface="Consolas"/>
                <a:ea typeface="Consolas"/>
                <a:cs typeface="Consolas"/>
              </a:rPr>
              <a:t>NOT</a:t>
            </a:r>
            <a:r>
              <a:rPr lang="en-US" sz="1500" dirty="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 </a:t>
            </a:r>
            <a:r>
              <a:rPr lang="en-US" sz="1500" dirty="0" b="1">
                <a:solidFill>
                  <a:srgbClr val="9333EA"/>
                </a:solidFill>
                <a:latin typeface="Consolas"/>
                <a:ea typeface="Consolas"/>
                <a:cs typeface="Consolas"/>
              </a:rPr>
              <a:t>NULL</a:t>
            </a:r>
            <a:r>
              <a:rPr lang="en-US" sz="1500" dirty="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 </a:t>
            </a:r>
            <a:r>
              <a:rPr lang="en-US" sz="1500" dirty="0" b="1">
                <a:solidFill>
                  <a:srgbClr val="9333EA"/>
                </a:solidFill>
                <a:latin typeface="Consolas"/>
                <a:ea typeface="Consolas"/>
                <a:cs typeface="Consolas"/>
              </a:rPr>
              <a:t>GENERATED</a:t>
            </a:r>
            <a:r>
              <a:rPr lang="en-US" sz="1500" dirty="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 </a:t>
            </a:r>
            <a:r>
              <a:rPr lang="en-US" sz="1500" dirty="0" b="1">
                <a:solidFill>
                  <a:srgbClr val="9333EA"/>
                </a:solidFill>
                <a:latin typeface="Consolas"/>
                <a:ea typeface="Consolas"/>
                <a:cs typeface="Consolas"/>
              </a:rPr>
              <a:t>ALWAYS</a:t>
            </a:r>
            <a:r>
              <a:rPr lang="en-US" sz="1500" dirty="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 </a:t>
            </a:r>
            <a:r>
              <a:rPr lang="en-US" sz="1500" dirty="0" b="1">
                <a:solidFill>
                  <a:srgbClr val="9333EA"/>
                </a:solidFill>
                <a:latin typeface="Consolas"/>
                <a:ea typeface="Consolas"/>
                <a:cs typeface="Consolas"/>
              </a:rPr>
              <a:t>AS</a:t>
            </a:r>
            <a:r>
              <a:rPr lang="en-US" sz="1500" dirty="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 </a:t>
            </a:r>
            <a:r>
              <a:rPr lang="en-US" sz="1500" dirty="0" b="1">
                <a:solidFill>
                  <a:srgbClr val="9333EA"/>
                </a:solidFill>
                <a:latin typeface="Consolas"/>
                <a:ea typeface="Consolas"/>
                <a:cs typeface="Consolas"/>
              </a:rPr>
              <a:t>IDENTITY</a:t>
            </a:r>
            <a:r>
              <a:rPr lang="en-US" sz="1500" dirty="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,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dirty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12  </a:t>
            </a:r>
            <a:r>
              <a:rPr lang="en-US" sz="1500" dirty="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    </a:t>
            </a:r>
            <a:r>
              <a:rPr lang="en-US" sz="1500" dirty="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CUST_NAME</a:t>
            </a:r>
            <a:r>
              <a:rPr lang="en-US" sz="1500" dirty="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  </a:t>
            </a:r>
            <a:r>
              <a:rPr lang="en-US" sz="1500" dirty="0">
                <a:solidFill>
                  <a:srgbClr val="0891B2"/>
                </a:solidFill>
                <a:latin typeface="Consolas"/>
                <a:ea typeface="Consolas"/>
                <a:cs typeface="Consolas"/>
              </a:rPr>
              <a:t>VARCHAR</a:t>
            </a:r>
            <a:r>
              <a:rPr lang="en-US" sz="1500" dirty="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(</a:t>
            </a:r>
            <a:r>
              <a:rPr lang="en-US" sz="1500" dirty="0">
                <a:solidFill>
                  <a:srgbClr val="C2410C"/>
                </a:solidFill>
                <a:latin typeface="Consolas"/>
                <a:ea typeface="Consolas"/>
                <a:cs typeface="Consolas"/>
              </a:rPr>
              <a:t>50</a:t>
            </a:r>
            <a:r>
              <a:rPr lang="en-US" sz="1500" dirty="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)   </a:t>
            </a:r>
            <a:r>
              <a:rPr lang="en-US" sz="1500" dirty="0" b="1">
                <a:solidFill>
                  <a:srgbClr val="9333EA"/>
                </a:solidFill>
                <a:latin typeface="Consolas"/>
                <a:ea typeface="Consolas"/>
                <a:cs typeface="Consolas"/>
              </a:rPr>
              <a:t>NOT</a:t>
            </a:r>
            <a:r>
              <a:rPr lang="en-US" sz="1500" dirty="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 </a:t>
            </a:r>
            <a:r>
              <a:rPr lang="en-US" sz="1500" dirty="0" b="1">
                <a:solidFill>
                  <a:srgbClr val="9333EA"/>
                </a:solidFill>
                <a:latin typeface="Consolas"/>
                <a:ea typeface="Consolas"/>
                <a:cs typeface="Consolas"/>
              </a:rPr>
              <a:t>NULL</a:t>
            </a:r>
            <a:r>
              <a:rPr lang="en-US" sz="1500" dirty="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,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dirty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13  </a:t>
            </a:r>
            <a:r>
              <a:rPr lang="en-US" sz="1500" dirty="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    </a:t>
            </a:r>
            <a:r>
              <a:rPr lang="en-US" sz="1500" dirty="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CUST_TIER</a:t>
            </a:r>
            <a:r>
              <a:rPr lang="en-US" sz="1500" dirty="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  </a:t>
            </a:r>
            <a:r>
              <a:rPr lang="en-US" sz="1500" dirty="0">
                <a:solidFill>
                  <a:srgbClr val="0891B2"/>
                </a:solidFill>
                <a:latin typeface="Consolas"/>
                <a:ea typeface="Consolas"/>
                <a:cs typeface="Consolas"/>
              </a:rPr>
              <a:t>CHAR</a:t>
            </a:r>
            <a:r>
              <a:rPr lang="en-US" sz="1500" dirty="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(</a:t>
            </a:r>
            <a:r>
              <a:rPr lang="en-US" sz="1500" dirty="0">
                <a:solidFill>
                  <a:srgbClr val="C2410C"/>
                </a:solidFill>
                <a:latin typeface="Consolas"/>
                <a:ea typeface="Consolas"/>
                <a:cs typeface="Consolas"/>
              </a:rPr>
              <a:t>1</a:t>
            </a:r>
            <a:r>
              <a:rPr lang="en-US" sz="1500" dirty="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)       </a:t>
            </a:r>
            <a:r>
              <a:rPr lang="en-US" sz="1500" dirty="0" b="1">
                <a:solidFill>
                  <a:srgbClr val="9333EA"/>
                </a:solidFill>
                <a:latin typeface="Consolas"/>
                <a:ea typeface="Consolas"/>
                <a:cs typeface="Consolas"/>
              </a:rPr>
              <a:t>DEFAULT</a:t>
            </a:r>
            <a:r>
              <a:rPr lang="en-US" sz="1500" dirty="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 </a:t>
            </a:r>
            <a:r>
              <a:rPr lang="en-US" sz="1500" dirty="0">
                <a:solidFill>
                  <a:srgbClr val="16A34A"/>
                </a:solidFill>
                <a:latin typeface="Consolas"/>
                <a:ea typeface="Consolas"/>
                <a:cs typeface="Consolas"/>
              </a:rPr>
              <a:t>'B'</a:t>
            </a:r>
            <a:r>
              <a:rPr lang="en-US" sz="1500" dirty="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 </a:t>
            </a:r>
            <a:r>
              <a:rPr lang="en-US" sz="1500" dirty="0" b="1">
                <a:solidFill>
                  <a:srgbClr val="9333EA"/>
                </a:solidFill>
                <a:latin typeface="Consolas"/>
                <a:ea typeface="Consolas"/>
                <a:cs typeface="Consolas"/>
              </a:rPr>
              <a:t>CHECK</a:t>
            </a:r>
            <a:r>
              <a:rPr lang="en-US" sz="1500" dirty="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 (</a:t>
            </a:r>
            <a:r>
              <a:rPr lang="en-US" sz="1500" dirty="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CUST_TIER</a:t>
            </a:r>
            <a:r>
              <a:rPr lang="en-US" sz="1500" dirty="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 </a:t>
            </a:r>
            <a:r>
              <a:rPr lang="en-US" sz="1500" dirty="0" b="1">
                <a:solidFill>
                  <a:srgbClr val="9333EA"/>
                </a:solidFill>
                <a:latin typeface="Consolas"/>
                <a:ea typeface="Consolas"/>
                <a:cs typeface="Consolas"/>
              </a:rPr>
              <a:t>IN</a:t>
            </a:r>
            <a:r>
              <a:rPr lang="en-US" sz="1500" dirty="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 (</a:t>
            </a:r>
            <a:r>
              <a:rPr lang="en-US" sz="1500" dirty="0">
                <a:solidFill>
                  <a:srgbClr val="16A34A"/>
                </a:solidFill>
                <a:latin typeface="Consolas"/>
                <a:ea typeface="Consolas"/>
                <a:cs typeface="Consolas"/>
              </a:rPr>
              <a:t>'A'</a:t>
            </a:r>
            <a:r>
              <a:rPr lang="en-US" sz="1500" dirty="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,</a:t>
            </a:r>
            <a:r>
              <a:rPr lang="en-US" sz="1500" dirty="0">
                <a:solidFill>
                  <a:srgbClr val="16A34A"/>
                </a:solidFill>
                <a:latin typeface="Consolas"/>
                <a:ea typeface="Consolas"/>
                <a:cs typeface="Consolas"/>
              </a:rPr>
              <a:t>'B'</a:t>
            </a:r>
            <a:r>
              <a:rPr lang="en-US" sz="1500" dirty="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,</a:t>
            </a:r>
            <a:r>
              <a:rPr lang="en-US" sz="1500" dirty="0">
                <a:solidFill>
                  <a:srgbClr val="16A34A"/>
                </a:solidFill>
                <a:latin typeface="Consolas"/>
                <a:ea typeface="Consolas"/>
                <a:cs typeface="Consolas"/>
              </a:rPr>
              <a:t>'C'</a:t>
            </a:r>
            <a:r>
              <a:rPr lang="en-US" sz="1500" dirty="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)),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dirty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14  </a:t>
            </a:r>
            <a:r>
              <a:rPr lang="en-US" sz="1500" dirty="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    </a:t>
            </a:r>
            <a:r>
              <a:rPr lang="en-US" sz="1500" dirty="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CREATED_AT</a:t>
            </a:r>
            <a:r>
              <a:rPr lang="en-US" sz="1500" dirty="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 </a:t>
            </a:r>
            <a:r>
              <a:rPr lang="en-US" sz="1500" dirty="0">
                <a:solidFill>
                  <a:srgbClr val="0891B2"/>
                </a:solidFill>
                <a:latin typeface="Consolas"/>
                <a:ea typeface="Consolas"/>
                <a:cs typeface="Consolas"/>
              </a:rPr>
              <a:t>TIMESTAMP</a:t>
            </a:r>
            <a:r>
              <a:rPr lang="en-US" sz="1500" dirty="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     </a:t>
            </a:r>
            <a:r>
              <a:rPr lang="en-US" sz="1500" dirty="0" b="1">
                <a:solidFill>
                  <a:srgbClr val="9333EA"/>
                </a:solidFill>
                <a:latin typeface="Consolas"/>
                <a:ea typeface="Consolas"/>
                <a:cs typeface="Consolas"/>
              </a:rPr>
              <a:t>NOT</a:t>
            </a:r>
            <a:r>
              <a:rPr lang="en-US" sz="1500" dirty="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 </a:t>
            </a:r>
            <a:r>
              <a:rPr lang="en-US" sz="1500" dirty="0" b="1">
                <a:solidFill>
                  <a:srgbClr val="9333EA"/>
                </a:solidFill>
                <a:latin typeface="Consolas"/>
                <a:ea typeface="Consolas"/>
                <a:cs typeface="Consolas"/>
              </a:rPr>
              <a:t>NULL</a:t>
            </a:r>
            <a:r>
              <a:rPr lang="en-US" sz="1500" dirty="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 </a:t>
            </a:r>
            <a:r>
              <a:rPr lang="en-US" sz="1500" dirty="0" b="1">
                <a:solidFill>
                  <a:srgbClr val="9333EA"/>
                </a:solidFill>
                <a:latin typeface="Consolas"/>
                <a:ea typeface="Consolas"/>
                <a:cs typeface="Consolas"/>
              </a:rPr>
              <a:t>DEFAULT</a:t>
            </a:r>
            <a:r>
              <a:rPr lang="en-US" sz="1500" dirty="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 </a:t>
            </a:r>
            <a:r>
              <a:rPr lang="en-US" sz="1500" dirty="0" b="1">
                <a:solidFill>
                  <a:srgbClr val="9333EA"/>
                </a:solidFill>
                <a:latin typeface="Consolas"/>
                <a:ea typeface="Consolas"/>
                <a:cs typeface="Consolas"/>
              </a:rPr>
              <a:t>CURRENT_TIMESTAMP</a:t>
            </a:r>
            <a:r>
              <a:rPr lang="en-US" sz="1500" dirty="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,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dirty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15  </a:t>
            </a:r>
            <a:r>
              <a:rPr lang="en-US" sz="1500" dirty="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    </a:t>
            </a:r>
            <a:r>
              <a:rPr lang="en-US" sz="1500" dirty="0" b="1">
                <a:solidFill>
                  <a:srgbClr val="9333EA"/>
                </a:solidFill>
                <a:latin typeface="Consolas"/>
                <a:ea typeface="Consolas"/>
                <a:cs typeface="Consolas"/>
              </a:rPr>
              <a:t>PRIMARY</a:t>
            </a:r>
            <a:r>
              <a:rPr lang="en-US" sz="1500" dirty="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 </a:t>
            </a:r>
            <a:r>
              <a:rPr lang="en-US" sz="1500" dirty="0" b="1">
                <a:solidFill>
                  <a:srgbClr val="9333EA"/>
                </a:solidFill>
                <a:latin typeface="Consolas"/>
                <a:ea typeface="Consolas"/>
                <a:cs typeface="Consolas"/>
              </a:rPr>
              <a:t>KEY</a:t>
            </a:r>
            <a:r>
              <a:rPr lang="en-US" sz="1500" dirty="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 (</a:t>
            </a:r>
            <a:r>
              <a:rPr lang="en-US" sz="1500" dirty="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CUST_ID</a:t>
            </a:r>
            <a:r>
              <a:rPr lang="en-US" sz="1500" dirty="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)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dirty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16  </a:t>
            </a:r>
            <a:r>
              <a:rPr lang="en-US" sz="1500" dirty="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)   </a:t>
            </a:r>
            <a:r>
              <a:rPr lang="en-US" sz="1500" dirty="0" b="1">
                <a:solidFill>
                  <a:srgbClr val="9333EA"/>
                </a:solidFill>
                <a:latin typeface="Consolas"/>
                <a:ea typeface="Consolas"/>
                <a:cs typeface="Consolas"/>
              </a:rPr>
              <a:t>IN</a:t>
            </a:r>
            <a:r>
              <a:rPr lang="en-US" sz="1500" dirty="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 </a:t>
            </a:r>
            <a:r>
              <a:rPr lang="en-US" sz="1500" dirty="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DBPROD</a:t>
            </a:r>
            <a:r>
              <a:rPr lang="en-US" sz="1500" dirty="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.</a:t>
            </a:r>
            <a:r>
              <a:rPr lang="en-US" sz="1500" dirty="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TS001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dirty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17  </a:t>
            </a:r>
            <a:r>
              <a:rPr lang="en-US" sz="1500" dirty="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    </a:t>
            </a:r>
            <a:r>
              <a:rPr lang="en-US" sz="1500" dirty="0" b="1">
                <a:solidFill>
                  <a:srgbClr val="9333EA"/>
                </a:solidFill>
                <a:latin typeface="Consolas"/>
                <a:ea typeface="Consolas"/>
                <a:cs typeface="Consolas"/>
              </a:rPr>
              <a:t>CCSID</a:t>
            </a:r>
            <a:r>
              <a:rPr lang="en-US" sz="1500" dirty="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 </a:t>
            </a:r>
            <a:r>
              <a:rPr lang="en-US" sz="1500" dirty="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UNICODE</a:t>
            </a:r>
            <a:r>
              <a:rPr lang="en-US" sz="1500" dirty="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;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dirty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18  </a:t>
            </a:r>
            <a:r>
              <a:rPr lang="en-US" sz="1500" dirty="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 </a:t>
            </a:r>
          </a:p>
        </p:txBody>
      </p:sp>
      <p:sp>
        <p:nvSpPr>
          <p:cNvPr id="105" name="DeckFooter105"/>
          <p:cNvSpPr txBox="1"/>
          <p:nvPr/>
        </p:nvSpPr>
        <p:spPr>
          <a:xfrm>
            <a:off x="533400" y="6458000"/>
            <a:ext cx="10325200" cy="30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US" sz="1000" dirty="0">
                <a:solidFill>
                  <a:srgbClr val="94A3B8"/>
                </a:solidFill>
                <a:latin typeface="Calibri"/>
                <a:ea typeface="Calibri"/>
                <a:cs typeface="Calibri"/>
              </a:rPr>
              <a:t>md2any</a:t>
            </a:r>
          </a:p>
        </p:txBody>
      </p:sp>
      <p:sp>
        <p:nvSpPr>
          <p:cNvPr id="106" name="PageNum106"/>
          <p:cNvSpPr txBox="1"/>
          <p:nvPr/>
        </p:nvSpPr>
        <p:spPr>
          <a:xfrm>
            <a:off x="10858600" y="6458000"/>
            <a:ext cx="800000" cy="30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buNone/>
            </a:pPr>
            <a:r>
              <a:rPr lang="en-US" sz="1000" dirty="0">
                <a:solidFill>
                  <a:srgbClr val="94A3B8"/>
                </a:solidFill>
                <a:latin typeface="Calibri"/>
                <a:ea typeface="Calibri"/>
                <a:cs typeface="Calibri"/>
              </a:rPr>
              <a:t>23 / 44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Title100"/>
          <p:cNvSpPr txBox="1"/>
          <p:nvPr/>
        </p:nvSpPr>
        <p:spPr>
          <a:xfrm>
            <a:off x="533400" y="360000"/>
            <a:ext cx="11125200" cy="72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US" sz="2800" dirty="0" b="1">
                <a:solidFill>
                  <a:srgbClr val="0F172A"/>
                </a:solidFill>
                <a:latin typeface="Calibri Light"/>
                <a:ea typeface="Calibri Light"/>
                <a:cs typeface="Calibri Light"/>
              </a:rPr>
              <a:t>DB2 DDL (cont.)</a:t>
            </a:r>
          </a:p>
        </p:txBody>
      </p:sp>
      <p:sp>
        <p:nvSpPr>
          <p:cNvPr id="101" name="TitleAccent101"/>
          <p:cNvSpPr/>
          <p:nvPr/>
        </p:nvSpPr>
        <p:spPr>
          <a:xfrm>
            <a:off x="533400" y="1110000"/>
            <a:ext cx="400000" cy="5000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txBody>
          <a:bodyPr wrap="square" anchor="ctr"/>
          <a:lstStyle/>
          <a:p>
            <a:endParaRPr lang="en-US"/>
          </a:p>
        </p:txBody>
      </p:sp>
      <p:sp>
        <p:nvSpPr>
          <p:cNvPr id="102" name="TitleDivider102"/>
          <p:cNvSpPr/>
          <p:nvPr/>
        </p:nvSpPr>
        <p:spPr>
          <a:xfrm>
            <a:off x="953400" y="1128000"/>
            <a:ext cx="10705200" cy="140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wrap="square" anchor="ctr"/>
          <a:lstStyle/>
          <a:p>
            <a:endParaRPr lang="en-US"/>
          </a:p>
        </p:txBody>
      </p:sp>
      <p:sp>
        <p:nvSpPr>
          <p:cNvPr id="103" name="CodeTitle103"/>
          <p:cNvSpPr/>
          <p:nvPr/>
        </p:nvSpPr>
        <p:spPr>
          <a:xfrm>
            <a:off x="533400" y="1310000"/>
            <a:ext cx="11125200" cy="320000"/>
          </a:xfrm>
          <a:custGeom>
            <a:avLst/>
            <a:gdLst/>
            <a:ahLst/>
            <a:cxnLst/>
            <a:rect l="0" t="0" r="0" b="0"/>
            <a:pathLst>
              <a:path w="100000" h="100000">
                <a:moveTo>
                  <a:pt x="4500" y="0"/>
                </a:moveTo>
                <a:lnTo>
                  <a:pt x="95500" y="0"/>
                </a:lnTo>
                <a:cubicBezTo>
                  <a:pt x="97983" y="0"/>
                  <a:pt x="100000" y="2017"/>
                  <a:pt x="100000" y="4500"/>
                </a:cubicBezTo>
                <a:lnTo>
                  <a:pt x="100000" y="100000"/>
                </a:lnTo>
                <a:lnTo>
                  <a:pt x="0" y="100000"/>
                </a:lnTo>
                <a:lnTo>
                  <a:pt x="0" y="4500"/>
                </a:lnTo>
                <a:cubicBezTo>
                  <a:pt x="0" y="2017"/>
                  <a:pt x="2017" y="0"/>
                  <a:pt x="4500" y="0"/>
                </a:cubicBezTo>
                <a:close/>
              </a:path>
            </a:pathLst>
          </a:custGeom>
          <a:solidFill>
            <a:srgbClr val="E2E8F0"/>
          </a:solidFill>
          <a:ln w="6350">
            <a:solidFill>
              <a:srgbClr val="E2E8F0"/>
            </a:solidFill>
          </a:ln>
        </p:spPr>
        <p:txBody>
          <a:bodyPr wrap="square" lIns="180000" tIns="50000" rIns="180000" bIns="50000" anchor="ctr"/>
          <a:lstStyle/>
          <a:p>
            <a:pPr algn="l">
              <a:buNone/>
            </a:pPr>
            <a:r>
              <a:rPr lang="en-US" sz="1100" b="1" dirty="0">
                <a:solidFill>
                  <a:srgbClr val="94A3B8"/>
                </a:solidFill>
                <a:latin typeface="Calibri"/>
              </a:rPr>
              <a:t>db2</a:t>
            </a:r>
          </a:p>
        </p:txBody>
      </p:sp>
      <p:sp>
        <p:nvSpPr>
          <p:cNvPr id="104" name="CodeBox104"/>
          <p:cNvSpPr/>
          <p:nvPr/>
        </p:nvSpPr>
        <p:spPr>
          <a:xfrm>
            <a:off x="533400" y="1630000"/>
            <a:ext cx="11125200" cy="1160000"/>
          </a:xfrm>
          <a:custGeom>
            <a:avLst/>
            <a:gdLst/>
            <a:ahLst/>
            <a:cxnLst/>
            <a:rect l="0" t="0" r="0" b="0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95500"/>
                </a:lnTo>
                <a:cubicBezTo>
                  <a:pt x="100000" y="97983"/>
                  <a:pt x="97983" y="100000"/>
                  <a:pt x="95500" y="100000"/>
                </a:cubicBezTo>
                <a:lnTo>
                  <a:pt x="4500" y="100000"/>
                </a:lnTo>
                <a:cubicBezTo>
                  <a:pt x="2017" y="100000"/>
                  <a:pt x="0" y="97983"/>
                  <a:pt x="0" y="95500"/>
                </a:cubicBezTo>
                <a:close/>
              </a:path>
            </a:pathLst>
          </a:custGeom>
          <a:solidFill>
            <a:srgbClr val="F1F5F9"/>
          </a:solidFill>
          <a:ln w="6350">
            <a:solidFill>
              <a:srgbClr val="E2E8F0"/>
            </a:solidFill>
          </a:ln>
        </p:spPr>
        <p:txBody>
          <a:bodyPr wrap="square" lIns="180000" tIns="120000" rIns="180000" bIns="12000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dirty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1  </a:t>
            </a:r>
            <a:r>
              <a:rPr lang="en-US" sz="1500" dirty="0" b="1">
                <a:solidFill>
                  <a:srgbClr val="9333EA"/>
                </a:solidFill>
                <a:latin typeface="Consolas"/>
                <a:ea typeface="Consolas"/>
                <a:cs typeface="Consolas"/>
              </a:rPr>
              <a:t>CREATE</a:t>
            </a:r>
            <a:r>
              <a:rPr lang="en-US" sz="1500" dirty="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 </a:t>
            </a:r>
            <a:r>
              <a:rPr lang="en-US" sz="1500" dirty="0" b="1">
                <a:solidFill>
                  <a:srgbClr val="9333EA"/>
                </a:solidFill>
                <a:latin typeface="Consolas"/>
                <a:ea typeface="Consolas"/>
                <a:cs typeface="Consolas"/>
              </a:rPr>
              <a:t>INDEX</a:t>
            </a:r>
            <a:r>
              <a:rPr lang="en-US" sz="1500" dirty="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 </a:t>
            </a:r>
            <a:r>
              <a:rPr lang="en-US" sz="1500" dirty="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PAUL</a:t>
            </a:r>
            <a:r>
              <a:rPr lang="en-US" sz="1500" dirty="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.</a:t>
            </a:r>
            <a:r>
              <a:rPr lang="en-US" sz="1500" dirty="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CUST_NAME_IX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dirty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2  </a:t>
            </a:r>
            <a:r>
              <a:rPr lang="en-US" sz="1500" dirty="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    </a:t>
            </a:r>
            <a:r>
              <a:rPr lang="en-US" sz="1500" dirty="0" b="1">
                <a:solidFill>
                  <a:srgbClr val="9333EA"/>
                </a:solidFill>
                <a:latin typeface="Consolas"/>
                <a:ea typeface="Consolas"/>
                <a:cs typeface="Consolas"/>
              </a:rPr>
              <a:t>ON</a:t>
            </a:r>
            <a:r>
              <a:rPr lang="en-US" sz="1500" dirty="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 </a:t>
            </a:r>
            <a:r>
              <a:rPr lang="en-US" sz="1500" dirty="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PAUL</a:t>
            </a:r>
            <a:r>
              <a:rPr lang="en-US" sz="1500" dirty="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.</a:t>
            </a:r>
            <a:r>
              <a:rPr lang="en-US" sz="1500" dirty="0">
                <a:solidFill>
                  <a:srgbClr val="2563EB"/>
                </a:solidFill>
                <a:latin typeface="Consolas"/>
                <a:ea typeface="Consolas"/>
                <a:cs typeface="Consolas"/>
              </a:rPr>
              <a:t>CUSTOMER</a:t>
            </a:r>
            <a:r>
              <a:rPr lang="en-US" sz="1500" dirty="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 (</a:t>
            </a:r>
            <a:r>
              <a:rPr lang="en-US" sz="1500" dirty="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CUST_NAME</a:t>
            </a:r>
            <a:r>
              <a:rPr lang="en-US" sz="1500" dirty="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 </a:t>
            </a:r>
            <a:r>
              <a:rPr lang="en-US" sz="1500" dirty="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ASC</a:t>
            </a:r>
            <a:r>
              <a:rPr lang="en-US" sz="1500" dirty="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)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dirty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3  </a:t>
            </a:r>
            <a:r>
              <a:rPr lang="en-US" sz="1500" dirty="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    </a:t>
            </a:r>
            <a:r>
              <a:rPr lang="en-US" sz="1500" dirty="0" b="1">
                <a:solidFill>
                  <a:srgbClr val="9333EA"/>
                </a:solidFill>
                <a:latin typeface="Consolas"/>
                <a:ea typeface="Consolas"/>
                <a:cs typeface="Consolas"/>
              </a:rPr>
              <a:t>BUFFERPOOL</a:t>
            </a:r>
            <a:r>
              <a:rPr lang="en-US" sz="1500" dirty="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 </a:t>
            </a:r>
            <a:r>
              <a:rPr lang="en-US" sz="1500" dirty="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BP1</a:t>
            </a:r>
            <a:r>
              <a:rPr lang="en-US" sz="1500" dirty="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;</a:t>
            </a:r>
          </a:p>
        </p:txBody>
      </p:sp>
      <p:sp>
        <p:nvSpPr>
          <p:cNvPr id="105" name="DeckFooter105"/>
          <p:cNvSpPr txBox="1"/>
          <p:nvPr/>
        </p:nvSpPr>
        <p:spPr>
          <a:xfrm>
            <a:off x="533400" y="6458000"/>
            <a:ext cx="10325200" cy="30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US" sz="1000" dirty="0">
                <a:solidFill>
                  <a:srgbClr val="94A3B8"/>
                </a:solidFill>
                <a:latin typeface="Calibri"/>
                <a:ea typeface="Calibri"/>
                <a:cs typeface="Calibri"/>
              </a:rPr>
              <a:t>md2any</a:t>
            </a:r>
          </a:p>
        </p:txBody>
      </p:sp>
      <p:sp>
        <p:nvSpPr>
          <p:cNvPr id="106" name="PageNum106"/>
          <p:cNvSpPr txBox="1"/>
          <p:nvPr/>
        </p:nvSpPr>
        <p:spPr>
          <a:xfrm>
            <a:off x="10858600" y="6458000"/>
            <a:ext cx="800000" cy="30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buNone/>
            </a:pPr>
            <a:r>
              <a:rPr lang="en-US" sz="1000" dirty="0">
                <a:solidFill>
                  <a:srgbClr val="94A3B8"/>
                </a:solidFill>
                <a:latin typeface="Calibri"/>
                <a:ea typeface="Calibri"/>
                <a:cs typeface="Calibri"/>
              </a:rPr>
              <a:t>24 / 44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Marker100"/>
          <p:cNvSpPr/>
          <p:nvPr/>
        </p:nvSpPr>
        <p:spPr>
          <a:xfrm>
            <a:off x="5496000" y="2429000"/>
            <a:ext cx="1200000" cy="60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wrap="square" anchor="ctr"/>
          <a:lstStyle/>
          <a:p>
            <a:endParaRPr lang="en-US"/>
          </a:p>
        </p:txBody>
      </p:sp>
      <p:sp>
        <p:nvSpPr>
          <p:cNvPr id="101" name="SectionTitle101"/>
          <p:cNvSpPr txBox="1"/>
          <p:nvPr/>
        </p:nvSpPr>
        <p:spPr>
          <a:xfrm>
            <a:off x="800000" y="2729000"/>
            <a:ext cx="10592000" cy="150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</a:pPr>
            <a:r>
              <a:rPr lang="en-US" sz="5400" dirty="0" b="1">
                <a:solidFill>
                  <a:srgbClr val="F8FAFC"/>
                </a:solidFill>
                <a:latin typeface="Calibri Light"/>
                <a:ea typeface="Calibri Light"/>
                <a:cs typeface="Calibri Light"/>
              </a:rPr>
              <a:t>Themes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Title100"/>
          <p:cNvSpPr txBox="1"/>
          <p:nvPr/>
        </p:nvSpPr>
        <p:spPr>
          <a:xfrm>
            <a:off x="533400" y="360000"/>
            <a:ext cx="11125200" cy="72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US" sz="2800" dirty="0" b="1">
                <a:solidFill>
                  <a:srgbClr val="0F172A"/>
                </a:solidFill>
                <a:latin typeface="Calibri Light"/>
                <a:ea typeface="Calibri Light"/>
                <a:cs typeface="Calibri Light"/>
              </a:rPr>
              <a:t>Light vs dark</a:t>
            </a:r>
          </a:p>
        </p:txBody>
      </p:sp>
      <p:sp>
        <p:nvSpPr>
          <p:cNvPr id="101" name="TitleAccent101"/>
          <p:cNvSpPr/>
          <p:nvPr/>
        </p:nvSpPr>
        <p:spPr>
          <a:xfrm>
            <a:off x="533400" y="1110000"/>
            <a:ext cx="400000" cy="5000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txBody>
          <a:bodyPr wrap="square" anchor="ctr"/>
          <a:lstStyle/>
          <a:p>
            <a:endParaRPr lang="en-US"/>
          </a:p>
        </p:txBody>
      </p:sp>
      <p:sp>
        <p:nvSpPr>
          <p:cNvPr id="102" name="TitleDivider102"/>
          <p:cNvSpPr/>
          <p:nvPr/>
        </p:nvSpPr>
        <p:spPr>
          <a:xfrm>
            <a:off x="953400" y="1128000"/>
            <a:ext cx="10705200" cy="140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wrap="square" anchor="ctr"/>
          <a:lstStyle/>
          <a:p>
            <a:endParaRPr lang="en-US"/>
          </a:p>
        </p:txBody>
      </p:sp>
      <p:sp>
        <p:nvSpPr>
          <p:cNvPr id="103" name="Para103"/>
          <p:cNvSpPr txBox="1"/>
          <p:nvPr/>
        </p:nvSpPr>
        <p:spPr>
          <a:xfrm>
            <a:off x="533400" y="1310000"/>
            <a:ext cx="5422600" cy="60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US" sz="1800" dirty="0" b="1">
                <a:solidFill>
                  <a:srgbClr val="334155"/>
                </a:solidFill>
                <a:latin typeface="Calibri"/>
                <a:ea typeface="Calibri"/>
                <a:cs typeface="Calibri"/>
              </a:rPr>
              <a:t>Light theme</a:t>
            </a:r>
          </a:p>
        </p:txBody>
      </p:sp>
      <p:sp>
        <p:nvSpPr>
          <p:cNvPr id="104" name="Para104"/>
          <p:cNvSpPr txBox="1"/>
          <p:nvPr/>
        </p:nvSpPr>
        <p:spPr>
          <a:xfrm>
            <a:off x="533400" y="1990000"/>
            <a:ext cx="5422600" cy="114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US" sz="1800" dirty="0">
                <a:solidFill>
                  <a:srgbClr val="334155"/>
                </a:solidFill>
                <a:latin typeface="Calibri"/>
                <a:ea typeface="Calibri"/>
                <a:cs typeface="Calibri"/>
              </a:rPr>
              <a:t>Default. White background, slate text, sky-blue accent. Reads well in a bright room, prints clean, looks like a polished tech-company deck.</a:t>
            </a:r>
          </a:p>
        </p:txBody>
      </p:sp>
      <p:sp>
        <p:nvSpPr>
          <p:cNvPr id="105" name="Para105"/>
          <p:cNvSpPr txBox="1"/>
          <p:nvPr/>
        </p:nvSpPr>
        <p:spPr>
          <a:xfrm>
            <a:off x="533400" y="3210000"/>
            <a:ext cx="5422600" cy="60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US" sz="1800" dirty="0">
                <a:solidFill>
                  <a:srgbClr val="334155"/>
                </a:solidFill>
                <a:latin typeface="Calibri"/>
                <a:ea typeface="Calibri"/>
                <a:cs typeface="Calibri"/>
              </a:rPr>
              <a:t>Use </a:t>
            </a:r>
            <a:r>
              <a:rPr lang="en-US" sz="1800" dirty="0">
                <a:solidFill>
                  <a:srgbClr val="0369A1"/>
                </a:solidFill>
                <a:latin typeface="Consolas"/>
                <a:ea typeface="Consolas"/>
                <a:cs typeface="Consolas"/>
              </a:rPr>
              <a:t>--theme light</a:t>
            </a:r>
            <a:r>
              <a:rPr lang="en-US" sz="1800" dirty="0">
                <a:solidFill>
                  <a:srgbClr val="334155"/>
                </a:solidFill>
                <a:latin typeface="Calibri"/>
                <a:ea typeface="Calibri"/>
                <a:cs typeface="Calibri"/>
              </a:rPr>
              <a:t> or omit (it's the default).</a:t>
            </a:r>
          </a:p>
        </p:txBody>
      </p:sp>
      <p:sp>
        <p:nvSpPr>
          <p:cNvPr id="106" name="Para106"/>
          <p:cNvSpPr txBox="1"/>
          <p:nvPr/>
        </p:nvSpPr>
        <p:spPr>
          <a:xfrm>
            <a:off x="6236000" y="1310000"/>
            <a:ext cx="5422600" cy="60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US" sz="1800" dirty="0" b="1">
                <a:solidFill>
                  <a:srgbClr val="334155"/>
                </a:solidFill>
                <a:latin typeface="Calibri"/>
                <a:ea typeface="Calibri"/>
                <a:cs typeface="Calibri"/>
              </a:rPr>
              <a:t>Dark theme</a:t>
            </a:r>
          </a:p>
        </p:txBody>
      </p:sp>
      <p:sp>
        <p:nvSpPr>
          <p:cNvPr id="107" name="Para107"/>
          <p:cNvSpPr txBox="1"/>
          <p:nvPr/>
        </p:nvSpPr>
        <p:spPr>
          <a:xfrm>
            <a:off x="6236000" y="1990000"/>
            <a:ext cx="5422600" cy="114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US" sz="1800" dirty="0">
                <a:solidFill>
                  <a:srgbClr val="334155"/>
                </a:solidFill>
                <a:latin typeface="Calibri"/>
                <a:ea typeface="Calibri"/>
                <a:cs typeface="Calibri"/>
              </a:rPr>
              <a:t>Slate-900 background, frost-bright accent. Reads well on stage, easier on the eyes during a long talk, photographs cleanly from the back of the room.</a:t>
            </a:r>
          </a:p>
        </p:txBody>
      </p:sp>
      <p:sp>
        <p:nvSpPr>
          <p:cNvPr id="108" name="Para108"/>
          <p:cNvSpPr txBox="1"/>
          <p:nvPr/>
        </p:nvSpPr>
        <p:spPr>
          <a:xfrm>
            <a:off x="6236000" y="3210000"/>
            <a:ext cx="5422600" cy="60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US" sz="1800" dirty="0">
                <a:solidFill>
                  <a:srgbClr val="334155"/>
                </a:solidFill>
                <a:latin typeface="Calibri"/>
                <a:ea typeface="Calibri"/>
                <a:cs typeface="Calibri"/>
              </a:rPr>
              <a:t>Use </a:t>
            </a:r>
            <a:r>
              <a:rPr lang="en-US" sz="1800" dirty="0">
                <a:solidFill>
                  <a:srgbClr val="0369A1"/>
                </a:solidFill>
                <a:latin typeface="Consolas"/>
                <a:ea typeface="Consolas"/>
                <a:cs typeface="Consolas"/>
              </a:rPr>
              <a:t>--theme dark</a:t>
            </a:r>
            <a:r>
              <a:rPr lang="en-US" sz="1800" dirty="0">
                <a:solidFill>
                  <a:srgbClr val="334155"/>
                </a:solidFill>
                <a:latin typeface="Calibri"/>
                <a:ea typeface="Calibri"/>
                <a:cs typeface="Calibri"/>
              </a:rPr>
              <a:t>.</a:t>
            </a:r>
          </a:p>
        </p:txBody>
      </p:sp>
      <p:sp>
        <p:nvSpPr>
          <p:cNvPr id="109" name="DeckFooter109"/>
          <p:cNvSpPr txBox="1"/>
          <p:nvPr/>
        </p:nvSpPr>
        <p:spPr>
          <a:xfrm>
            <a:off x="533400" y="6458000"/>
            <a:ext cx="10325200" cy="30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US" sz="1000" dirty="0">
                <a:solidFill>
                  <a:srgbClr val="94A3B8"/>
                </a:solidFill>
                <a:latin typeface="Calibri"/>
                <a:ea typeface="Calibri"/>
                <a:cs typeface="Calibri"/>
              </a:rPr>
              <a:t>md2any</a:t>
            </a:r>
          </a:p>
        </p:txBody>
      </p:sp>
      <p:sp>
        <p:nvSpPr>
          <p:cNvPr id="110" name="PageNum110"/>
          <p:cNvSpPr txBox="1"/>
          <p:nvPr/>
        </p:nvSpPr>
        <p:spPr>
          <a:xfrm>
            <a:off x="10858600" y="6458000"/>
            <a:ext cx="800000" cy="30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buNone/>
            </a:pPr>
            <a:r>
              <a:rPr lang="en-US" sz="1000" dirty="0">
                <a:solidFill>
                  <a:srgbClr val="94A3B8"/>
                </a:solidFill>
                <a:latin typeface="Calibri"/>
                <a:ea typeface="Calibri"/>
                <a:cs typeface="Calibri"/>
              </a:rPr>
              <a:t>26 / 44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Marker100"/>
          <p:cNvSpPr/>
          <p:nvPr/>
        </p:nvSpPr>
        <p:spPr>
          <a:xfrm>
            <a:off x="5496000" y="2429000"/>
            <a:ext cx="1200000" cy="60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wrap="square" anchor="ctr"/>
          <a:lstStyle/>
          <a:p>
            <a:endParaRPr lang="en-US"/>
          </a:p>
        </p:txBody>
      </p:sp>
      <p:sp>
        <p:nvSpPr>
          <p:cNvPr id="101" name="SectionTitle101"/>
          <p:cNvSpPr txBox="1"/>
          <p:nvPr/>
        </p:nvSpPr>
        <p:spPr>
          <a:xfrm>
            <a:off x="800000" y="2729000"/>
            <a:ext cx="10592000" cy="150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</a:pPr>
            <a:r>
              <a:rPr lang="en-US" sz="5400" dirty="0" b="1">
                <a:solidFill>
                  <a:srgbClr val="F8FAFC"/>
                </a:solidFill>
                <a:latin typeface="Calibri Light"/>
                <a:ea typeface="Calibri Light"/>
                <a:cs typeface="Calibri Light"/>
              </a:rPr>
              <a:t>Aspect ratios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Title100"/>
          <p:cNvSpPr txBox="1"/>
          <p:nvPr/>
        </p:nvSpPr>
        <p:spPr>
          <a:xfrm>
            <a:off x="533400" y="360000"/>
            <a:ext cx="11125200" cy="72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US" sz="2800" dirty="0" b="1">
                <a:solidFill>
                  <a:srgbClr val="0F172A"/>
                </a:solidFill>
                <a:latin typeface="Calibri Light"/>
                <a:ea typeface="Calibri Light"/>
                <a:cs typeface="Calibri Light"/>
              </a:rPr>
              <a:t>Choose with --aspect</a:t>
            </a:r>
          </a:p>
        </p:txBody>
      </p:sp>
      <p:sp>
        <p:nvSpPr>
          <p:cNvPr id="101" name="TitleAccent101"/>
          <p:cNvSpPr/>
          <p:nvPr/>
        </p:nvSpPr>
        <p:spPr>
          <a:xfrm>
            <a:off x="533400" y="1110000"/>
            <a:ext cx="400000" cy="5000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txBody>
          <a:bodyPr wrap="square" anchor="ctr"/>
          <a:lstStyle/>
          <a:p>
            <a:endParaRPr lang="en-US"/>
          </a:p>
        </p:txBody>
      </p:sp>
      <p:sp>
        <p:nvSpPr>
          <p:cNvPr id="102" name="TitleDivider102"/>
          <p:cNvSpPr/>
          <p:nvPr/>
        </p:nvSpPr>
        <p:spPr>
          <a:xfrm>
            <a:off x="953400" y="1128000"/>
            <a:ext cx="10705200" cy="140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wrap="square" anchor="ctr"/>
          <a:lstStyle/>
          <a:p>
            <a:endParaRPr lang="en-US"/>
          </a:p>
        </p:txBody>
      </p:sp>
      <p:sp>
        <p:nvSpPr>
          <p:cNvPr id="103" name="CodeTitle103"/>
          <p:cNvSpPr/>
          <p:nvPr/>
        </p:nvSpPr>
        <p:spPr>
          <a:xfrm>
            <a:off x="533400" y="1310000"/>
            <a:ext cx="11125200" cy="320000"/>
          </a:xfrm>
          <a:custGeom>
            <a:avLst/>
            <a:gdLst/>
            <a:ahLst/>
            <a:cxnLst/>
            <a:rect l="0" t="0" r="0" b="0"/>
            <a:pathLst>
              <a:path w="100000" h="100000">
                <a:moveTo>
                  <a:pt x="4500" y="0"/>
                </a:moveTo>
                <a:lnTo>
                  <a:pt x="95500" y="0"/>
                </a:lnTo>
                <a:cubicBezTo>
                  <a:pt x="97983" y="0"/>
                  <a:pt x="100000" y="2017"/>
                  <a:pt x="100000" y="4500"/>
                </a:cubicBezTo>
                <a:lnTo>
                  <a:pt x="100000" y="100000"/>
                </a:lnTo>
                <a:lnTo>
                  <a:pt x="0" y="100000"/>
                </a:lnTo>
                <a:lnTo>
                  <a:pt x="0" y="4500"/>
                </a:lnTo>
                <a:cubicBezTo>
                  <a:pt x="0" y="2017"/>
                  <a:pt x="2017" y="0"/>
                  <a:pt x="4500" y="0"/>
                </a:cubicBezTo>
                <a:close/>
              </a:path>
            </a:pathLst>
          </a:custGeom>
          <a:solidFill>
            <a:srgbClr val="E2E8F0"/>
          </a:solidFill>
          <a:ln w="6350">
            <a:solidFill>
              <a:srgbClr val="E2E8F0"/>
            </a:solidFill>
          </a:ln>
        </p:spPr>
        <p:txBody>
          <a:bodyPr wrap="square" lIns="180000" tIns="50000" rIns="180000" bIns="50000" anchor="ctr"/>
          <a:lstStyle/>
          <a:p>
            <a:pPr algn="l">
              <a:buNone/>
            </a:pPr>
            <a:r>
              <a:rPr lang="en-US" sz="1100" b="1" dirty="0">
                <a:solidFill>
                  <a:srgbClr val="94A3B8"/>
                </a:solidFill>
                <a:latin typeface="Calibri"/>
              </a:rPr>
              <a:t>bash</a:t>
            </a:r>
          </a:p>
        </p:txBody>
      </p:sp>
      <p:sp>
        <p:nvSpPr>
          <p:cNvPr id="104" name="CodeBox104"/>
          <p:cNvSpPr/>
          <p:nvPr/>
        </p:nvSpPr>
        <p:spPr>
          <a:xfrm>
            <a:off x="533400" y="1630000"/>
            <a:ext cx="11125200" cy="1720000"/>
          </a:xfrm>
          <a:custGeom>
            <a:avLst/>
            <a:gdLst/>
            <a:ahLst/>
            <a:cxnLst/>
            <a:rect l="0" t="0" r="0" b="0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95500"/>
                </a:lnTo>
                <a:cubicBezTo>
                  <a:pt x="100000" y="97983"/>
                  <a:pt x="97983" y="100000"/>
                  <a:pt x="95500" y="100000"/>
                </a:cubicBezTo>
                <a:lnTo>
                  <a:pt x="4500" y="100000"/>
                </a:lnTo>
                <a:cubicBezTo>
                  <a:pt x="2017" y="100000"/>
                  <a:pt x="0" y="97983"/>
                  <a:pt x="0" y="95500"/>
                </a:cubicBezTo>
                <a:close/>
              </a:path>
            </a:pathLst>
          </a:custGeom>
          <a:solidFill>
            <a:srgbClr val="F1F5F9"/>
          </a:solidFill>
          <a:ln w="6350">
            <a:solidFill>
              <a:srgbClr val="E2E8F0"/>
            </a:solidFill>
          </a:ln>
        </p:spPr>
        <p:txBody>
          <a:bodyPr wrap="square" lIns="180000" tIns="120000" rIns="180000" bIns="12000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dirty="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md2any</a:t>
            </a:r>
            <a:r>
              <a:rPr lang="en-US" sz="1500" dirty="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 </a:t>
            </a:r>
            <a:r>
              <a:rPr lang="en-US" sz="1500" dirty="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talk</a:t>
            </a:r>
            <a:r>
              <a:rPr lang="en-US" sz="1500" dirty="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.</a:t>
            </a:r>
            <a:r>
              <a:rPr lang="en-US" sz="1500" dirty="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md</a:t>
            </a:r>
            <a:r>
              <a:rPr lang="en-US" sz="1500" dirty="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 --</a:t>
            </a:r>
            <a:r>
              <a:rPr lang="en-US" sz="1500" dirty="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aspect</a:t>
            </a:r>
            <a:r>
              <a:rPr lang="en-US" sz="1500" dirty="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 </a:t>
            </a:r>
            <a:r>
              <a:rPr lang="en-US" sz="1500" dirty="0">
                <a:solidFill>
                  <a:srgbClr val="C2410C"/>
                </a:solidFill>
                <a:latin typeface="Consolas"/>
                <a:ea typeface="Consolas"/>
                <a:cs typeface="Consolas"/>
              </a:rPr>
              <a:t>16</a:t>
            </a:r>
            <a:r>
              <a:rPr lang="en-US" sz="1500" dirty="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:</a:t>
            </a:r>
            <a:r>
              <a:rPr lang="en-US" sz="1500" dirty="0">
                <a:solidFill>
                  <a:srgbClr val="C2410C"/>
                </a:solidFill>
                <a:latin typeface="Consolas"/>
                <a:ea typeface="Consolas"/>
                <a:cs typeface="Consolas"/>
              </a:rPr>
              <a:t>9</a:t>
            </a:r>
            <a:r>
              <a:rPr lang="en-US" sz="1500" dirty="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       </a:t>
            </a:r>
            <a:r>
              <a:rPr lang="en-US" sz="1500" dirty="0" i="1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# default, widescreen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dirty="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md2any</a:t>
            </a:r>
            <a:r>
              <a:rPr lang="en-US" sz="1500" dirty="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 </a:t>
            </a:r>
            <a:r>
              <a:rPr lang="en-US" sz="1500" dirty="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talk</a:t>
            </a:r>
            <a:r>
              <a:rPr lang="en-US" sz="1500" dirty="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.</a:t>
            </a:r>
            <a:r>
              <a:rPr lang="en-US" sz="1500" dirty="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md</a:t>
            </a:r>
            <a:r>
              <a:rPr lang="en-US" sz="1500" dirty="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 --</a:t>
            </a:r>
            <a:r>
              <a:rPr lang="en-US" sz="1500" dirty="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aspect</a:t>
            </a:r>
            <a:r>
              <a:rPr lang="en-US" sz="1500" dirty="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 </a:t>
            </a:r>
            <a:r>
              <a:rPr lang="en-US" sz="1500" dirty="0">
                <a:solidFill>
                  <a:srgbClr val="C2410C"/>
                </a:solidFill>
                <a:latin typeface="Consolas"/>
                <a:ea typeface="Consolas"/>
                <a:cs typeface="Consolas"/>
              </a:rPr>
              <a:t>4</a:t>
            </a:r>
            <a:r>
              <a:rPr lang="en-US" sz="1500" dirty="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:</a:t>
            </a:r>
            <a:r>
              <a:rPr lang="en-US" sz="1500" dirty="0">
                <a:solidFill>
                  <a:srgbClr val="C2410C"/>
                </a:solidFill>
                <a:latin typeface="Consolas"/>
                <a:ea typeface="Consolas"/>
                <a:cs typeface="Consolas"/>
              </a:rPr>
              <a:t>3</a:t>
            </a:r>
            <a:r>
              <a:rPr lang="en-US" sz="1500" dirty="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        </a:t>
            </a:r>
            <a:r>
              <a:rPr lang="en-US" sz="1500" dirty="0" i="1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# legacy projectors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dirty="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md2any</a:t>
            </a:r>
            <a:r>
              <a:rPr lang="en-US" sz="1500" dirty="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 </a:t>
            </a:r>
            <a:r>
              <a:rPr lang="en-US" sz="1500" dirty="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talk</a:t>
            </a:r>
            <a:r>
              <a:rPr lang="en-US" sz="1500" dirty="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.</a:t>
            </a:r>
            <a:r>
              <a:rPr lang="en-US" sz="1500" dirty="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md</a:t>
            </a:r>
            <a:r>
              <a:rPr lang="en-US" sz="1500" dirty="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 --</a:t>
            </a:r>
            <a:r>
              <a:rPr lang="en-US" sz="1500" dirty="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aspect</a:t>
            </a:r>
            <a:r>
              <a:rPr lang="en-US" sz="1500" dirty="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 </a:t>
            </a:r>
            <a:r>
              <a:rPr lang="en-US" sz="1500" dirty="0">
                <a:solidFill>
                  <a:srgbClr val="C2410C"/>
                </a:solidFill>
                <a:latin typeface="Consolas"/>
                <a:ea typeface="Consolas"/>
                <a:cs typeface="Consolas"/>
              </a:rPr>
              <a:t>9</a:t>
            </a:r>
            <a:r>
              <a:rPr lang="en-US" sz="1500" dirty="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:</a:t>
            </a:r>
            <a:r>
              <a:rPr lang="en-US" sz="1500" dirty="0">
                <a:solidFill>
                  <a:srgbClr val="C2410C"/>
                </a:solidFill>
                <a:latin typeface="Consolas"/>
                <a:ea typeface="Consolas"/>
                <a:cs typeface="Consolas"/>
              </a:rPr>
              <a:t>16</a:t>
            </a:r>
            <a:r>
              <a:rPr lang="en-US" sz="1500" dirty="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       </a:t>
            </a:r>
            <a:r>
              <a:rPr lang="en-US" sz="1500" dirty="0" i="1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# portrait, phone-shaped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dirty="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md2any</a:t>
            </a:r>
            <a:r>
              <a:rPr lang="en-US" sz="1500" dirty="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 </a:t>
            </a:r>
            <a:r>
              <a:rPr lang="en-US" sz="1500" dirty="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talk</a:t>
            </a:r>
            <a:r>
              <a:rPr lang="en-US" sz="1500" dirty="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.</a:t>
            </a:r>
            <a:r>
              <a:rPr lang="en-US" sz="1500" dirty="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md</a:t>
            </a:r>
            <a:r>
              <a:rPr lang="en-US" sz="1500" dirty="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 --</a:t>
            </a:r>
            <a:r>
              <a:rPr lang="en-US" sz="1500" dirty="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aspect</a:t>
            </a:r>
            <a:r>
              <a:rPr lang="en-US" sz="1500" dirty="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 </a:t>
            </a:r>
            <a:r>
              <a:rPr lang="en-US" sz="1500" dirty="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a4</a:t>
            </a:r>
            <a:r>
              <a:rPr lang="en-US" sz="1500" dirty="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         </a:t>
            </a:r>
            <a:r>
              <a:rPr lang="en-US" sz="1500" dirty="0" i="1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# paper-shaped portrait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dirty="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md2any</a:t>
            </a:r>
            <a:r>
              <a:rPr lang="en-US" sz="1500" dirty="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 </a:t>
            </a:r>
            <a:r>
              <a:rPr lang="en-US" sz="1500" dirty="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talk</a:t>
            </a:r>
            <a:r>
              <a:rPr lang="en-US" sz="1500" dirty="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.</a:t>
            </a:r>
            <a:r>
              <a:rPr lang="en-US" sz="1500" dirty="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md</a:t>
            </a:r>
            <a:r>
              <a:rPr lang="en-US" sz="1500" dirty="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 --</a:t>
            </a:r>
            <a:r>
              <a:rPr lang="en-US" sz="1500" dirty="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aspect</a:t>
            </a:r>
            <a:r>
              <a:rPr lang="en-US" sz="1500" dirty="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 </a:t>
            </a:r>
            <a:r>
              <a:rPr lang="en-US" sz="1500" dirty="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letter</a:t>
            </a:r>
            <a:r>
              <a:rPr lang="en-US" sz="1500" dirty="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     </a:t>
            </a:r>
            <a:r>
              <a:rPr lang="en-US" sz="1500" dirty="0" i="1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# US letter portrait</a:t>
            </a:r>
          </a:p>
        </p:txBody>
      </p:sp>
      <p:sp>
        <p:nvSpPr>
          <p:cNvPr id="105" name="Para105"/>
          <p:cNvSpPr txBox="1"/>
          <p:nvPr/>
        </p:nvSpPr>
        <p:spPr>
          <a:xfrm>
            <a:off x="533400" y="3430000"/>
            <a:ext cx="11125200" cy="60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US" sz="1800" dirty="0">
                <a:solidFill>
                  <a:srgbClr val="334155"/>
                </a:solidFill>
                <a:latin typeface="Calibri"/>
                <a:ea typeface="Calibri"/>
                <a:cs typeface="Calibri"/>
              </a:rPr>
              <a:t>The portrait layouts adjust typography automatically — smaller titles, narrower content area, single-column lists.</a:t>
            </a:r>
          </a:p>
        </p:txBody>
      </p:sp>
      <p:sp>
        <p:nvSpPr>
          <p:cNvPr id="106" name="DeckFooter106"/>
          <p:cNvSpPr txBox="1"/>
          <p:nvPr/>
        </p:nvSpPr>
        <p:spPr>
          <a:xfrm>
            <a:off x="533400" y="6458000"/>
            <a:ext cx="10325200" cy="30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US" sz="1000" dirty="0">
                <a:solidFill>
                  <a:srgbClr val="94A3B8"/>
                </a:solidFill>
                <a:latin typeface="Calibri"/>
                <a:ea typeface="Calibri"/>
                <a:cs typeface="Calibri"/>
              </a:rPr>
              <a:t>md2any</a:t>
            </a:r>
          </a:p>
        </p:txBody>
      </p:sp>
      <p:sp>
        <p:nvSpPr>
          <p:cNvPr id="107" name="PageNum107"/>
          <p:cNvSpPr txBox="1"/>
          <p:nvPr/>
        </p:nvSpPr>
        <p:spPr>
          <a:xfrm>
            <a:off x="10858600" y="6458000"/>
            <a:ext cx="800000" cy="30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buNone/>
            </a:pPr>
            <a:r>
              <a:rPr lang="en-US" sz="1000" dirty="0">
                <a:solidFill>
                  <a:srgbClr val="94A3B8"/>
                </a:solidFill>
                <a:latin typeface="Calibri"/>
                <a:ea typeface="Calibri"/>
                <a:cs typeface="Calibri"/>
              </a:rPr>
              <a:t>28 / 44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Marker100"/>
          <p:cNvSpPr/>
          <p:nvPr/>
        </p:nvSpPr>
        <p:spPr>
          <a:xfrm>
            <a:off x="5496000" y="2429000"/>
            <a:ext cx="1200000" cy="60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wrap="square" anchor="ctr"/>
          <a:lstStyle/>
          <a:p>
            <a:endParaRPr lang="en-US"/>
          </a:p>
        </p:txBody>
      </p:sp>
      <p:sp>
        <p:nvSpPr>
          <p:cNvPr id="101" name="SectionTitle101"/>
          <p:cNvSpPr txBox="1"/>
          <p:nvPr/>
        </p:nvSpPr>
        <p:spPr>
          <a:xfrm>
            <a:off x="800000" y="2729000"/>
            <a:ext cx="10592000" cy="150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</a:pPr>
            <a:r>
              <a:rPr lang="en-US" sz="5400" dirty="0" b="1">
                <a:solidFill>
                  <a:srgbClr val="F8FAFC"/>
                </a:solidFill>
                <a:latin typeface="Calibri Light"/>
                <a:ea typeface="Calibri Light"/>
                <a:cs typeface="Calibri Light"/>
              </a:rPr>
              <a:t>Images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Title100"/>
          <p:cNvSpPr txBox="1"/>
          <p:nvPr/>
        </p:nvSpPr>
        <p:spPr>
          <a:xfrm>
            <a:off x="533400" y="360000"/>
            <a:ext cx="11125200" cy="72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US" sz="2800" dirty="0" b="1">
                <a:solidFill>
                  <a:srgbClr val="0F172A"/>
                </a:solidFill>
                <a:latin typeface="Calibri Light"/>
                <a:ea typeface="Calibri Light"/>
                <a:cs typeface="Calibri Light"/>
              </a:rPr>
              <a:t>Embedded images</a:t>
            </a:r>
          </a:p>
        </p:txBody>
      </p:sp>
      <p:sp>
        <p:nvSpPr>
          <p:cNvPr id="101" name="TitleAccent101"/>
          <p:cNvSpPr/>
          <p:nvPr/>
        </p:nvSpPr>
        <p:spPr>
          <a:xfrm>
            <a:off x="533400" y="1110000"/>
            <a:ext cx="400000" cy="5000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txBody>
          <a:bodyPr wrap="square" anchor="ctr"/>
          <a:lstStyle/>
          <a:p>
            <a:endParaRPr lang="en-US"/>
          </a:p>
        </p:txBody>
      </p:sp>
      <p:sp>
        <p:nvSpPr>
          <p:cNvPr id="102" name="TitleDivider102"/>
          <p:cNvSpPr/>
          <p:nvPr/>
        </p:nvSpPr>
        <p:spPr>
          <a:xfrm>
            <a:off x="953400" y="1128000"/>
            <a:ext cx="10705200" cy="140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wrap="square" anchor="ctr"/>
          <a:lstStyle/>
          <a:p>
            <a:endParaRPr lang="en-US"/>
          </a:p>
        </p:txBody>
      </p:sp>
      <p:sp>
        <p:nvSpPr>
          <p:cNvPr id="103" name="Para103"/>
          <p:cNvSpPr txBox="1"/>
          <p:nvPr/>
        </p:nvSpPr>
        <p:spPr>
          <a:xfrm>
            <a:off x="533400" y="1310000"/>
            <a:ext cx="11125200" cy="60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US" sz="1800" dirty="0">
                <a:solidFill>
                  <a:srgbClr val="334155"/>
                </a:solidFill>
                <a:latin typeface="Calibri"/>
                <a:ea typeface="Calibri"/>
                <a:cs typeface="Calibri"/>
              </a:rPr>
              <a:t>Use standard markdown image syntax. PNG and JPEG are supported. Paths resolve relative to the markdown file.</a:t>
            </a:r>
          </a:p>
        </p:txBody>
      </p:sp>
      <p:sp>
        <p:nvSpPr>
          <p:cNvPr id="104" name="DeckFooter104"/>
          <p:cNvSpPr txBox="1"/>
          <p:nvPr/>
        </p:nvSpPr>
        <p:spPr>
          <a:xfrm>
            <a:off x="533400" y="6458000"/>
            <a:ext cx="10325200" cy="30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US" sz="1000" dirty="0">
                <a:solidFill>
                  <a:srgbClr val="94A3B8"/>
                </a:solidFill>
                <a:latin typeface="Calibri"/>
                <a:ea typeface="Calibri"/>
                <a:cs typeface="Calibri"/>
              </a:rPr>
              <a:t>md2any</a:t>
            </a:r>
          </a:p>
        </p:txBody>
      </p:sp>
      <p:sp>
        <p:nvSpPr>
          <p:cNvPr id="105" name="PageNum105"/>
          <p:cNvSpPr txBox="1"/>
          <p:nvPr/>
        </p:nvSpPr>
        <p:spPr>
          <a:xfrm>
            <a:off x="10858600" y="6458000"/>
            <a:ext cx="800000" cy="30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buNone/>
            </a:pPr>
            <a:r>
              <a:rPr lang="en-US" sz="1000" dirty="0">
                <a:solidFill>
                  <a:srgbClr val="94A3B8"/>
                </a:solidFill>
                <a:latin typeface="Calibri"/>
                <a:ea typeface="Calibri"/>
                <a:cs typeface="Calibri"/>
              </a:rPr>
              <a:t>30 / 44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Title100"/>
          <p:cNvSpPr txBox="1"/>
          <p:nvPr/>
        </p:nvSpPr>
        <p:spPr>
          <a:xfrm>
            <a:off x="533400" y="360000"/>
            <a:ext cx="11125200" cy="72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US" sz="2800" dirty="0" b="1">
                <a:solidFill>
                  <a:srgbClr val="0F172A"/>
                </a:solidFill>
                <a:latin typeface="Calibri Light"/>
                <a:ea typeface="Calibri Light"/>
                <a:cs typeface="Calibri Light"/>
              </a:rPr>
              <a:t>Embedded images (cont.)</a:t>
            </a:r>
          </a:p>
        </p:txBody>
      </p:sp>
      <p:sp>
        <p:nvSpPr>
          <p:cNvPr id="101" name="TitleAccent101"/>
          <p:cNvSpPr/>
          <p:nvPr/>
        </p:nvSpPr>
        <p:spPr>
          <a:xfrm>
            <a:off x="533400" y="1110000"/>
            <a:ext cx="400000" cy="5000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txBody>
          <a:bodyPr wrap="square" anchor="ctr"/>
          <a:lstStyle/>
          <a:p>
            <a:endParaRPr lang="en-US"/>
          </a:p>
        </p:txBody>
      </p:sp>
      <p:sp>
        <p:nvSpPr>
          <p:cNvPr id="102" name="TitleDivider102"/>
          <p:cNvSpPr/>
          <p:nvPr/>
        </p:nvSpPr>
        <p:spPr>
          <a:xfrm>
            <a:off x="953400" y="1128000"/>
            <a:ext cx="10705200" cy="140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wrap="square" anchor="ctr"/>
          <a:lstStyle/>
          <a:p>
            <a:endParaRPr lang="en-US"/>
          </a:p>
        </p:txBody>
      </p:sp>
      <p:pic>
        <p:nvPicPr>
          <p:cNvPr id="103" name="Picture103" descr="Hero image showing the md2any wordmark on a gradient 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29840" y="1310000"/>
            <a:ext cx="7132320" cy="4457700"/>
          </a:xfrm>
          <a:prstGeom prst="rect">
            <a:avLst/>
          </a:prstGeom>
        </p:spPr>
      </p:pic>
      <p:sp>
        <p:nvSpPr>
          <p:cNvPr id="104" name="Caption104"/>
          <p:cNvSpPr txBox="1"/>
          <p:nvPr/>
        </p:nvSpPr>
        <p:spPr>
          <a:xfrm>
            <a:off x="533400" y="5827700"/>
            <a:ext cx="11125200" cy="26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buNone/>
            </a:pPr>
            <a:r>
              <a:rPr lang="en-US" sz="1300" dirty="0" i="1">
                <a:solidFill>
                  <a:srgbClr val="94A3B8"/>
                </a:solidFill>
                <a:latin typeface="Calibri"/>
                <a:ea typeface="Calibri"/>
                <a:cs typeface="Calibri"/>
              </a:rPr>
              <a:t>Hero image showing the md2any wordmark on a gradient background</a:t>
            </a:r>
          </a:p>
        </p:txBody>
      </p:sp>
      <p:sp>
        <p:nvSpPr>
          <p:cNvPr id="105" name="DeckFooter105"/>
          <p:cNvSpPr txBox="1"/>
          <p:nvPr/>
        </p:nvSpPr>
        <p:spPr>
          <a:xfrm>
            <a:off x="533400" y="6458000"/>
            <a:ext cx="10325200" cy="30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US" sz="1000" dirty="0">
                <a:solidFill>
                  <a:srgbClr val="94A3B8"/>
                </a:solidFill>
                <a:latin typeface="Calibri"/>
                <a:ea typeface="Calibri"/>
                <a:cs typeface="Calibri"/>
              </a:rPr>
              <a:t>md2any</a:t>
            </a:r>
          </a:p>
        </p:txBody>
      </p:sp>
      <p:sp>
        <p:nvSpPr>
          <p:cNvPr id="106" name="PageNum106"/>
          <p:cNvSpPr txBox="1"/>
          <p:nvPr/>
        </p:nvSpPr>
        <p:spPr>
          <a:xfrm>
            <a:off x="10858600" y="6458000"/>
            <a:ext cx="800000" cy="30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buNone/>
            </a:pPr>
            <a:r>
              <a:rPr lang="en-US" sz="1000" dirty="0">
                <a:solidFill>
                  <a:srgbClr val="94A3B8"/>
                </a:solidFill>
                <a:latin typeface="Calibri"/>
                <a:ea typeface="Calibri"/>
                <a:cs typeface="Calibri"/>
              </a:rPr>
              <a:t>31 / 44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Title100"/>
          <p:cNvSpPr txBox="1"/>
          <p:nvPr/>
        </p:nvSpPr>
        <p:spPr>
          <a:xfrm>
            <a:off x="533400" y="360000"/>
            <a:ext cx="11125200" cy="72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US" sz="2800" dirty="0" b="1">
                <a:solidFill>
                  <a:srgbClr val="0F172A"/>
                </a:solidFill>
                <a:latin typeface="Calibri Light"/>
                <a:ea typeface="Calibri Light"/>
                <a:cs typeface="Calibri Light"/>
              </a:rPr>
              <a:t>Side-by-side image + text</a:t>
            </a:r>
          </a:p>
        </p:txBody>
      </p:sp>
      <p:sp>
        <p:nvSpPr>
          <p:cNvPr id="101" name="TitleAccent101"/>
          <p:cNvSpPr/>
          <p:nvPr/>
        </p:nvSpPr>
        <p:spPr>
          <a:xfrm>
            <a:off x="533400" y="1110000"/>
            <a:ext cx="400000" cy="5000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txBody>
          <a:bodyPr wrap="square" anchor="ctr"/>
          <a:lstStyle/>
          <a:p>
            <a:endParaRPr lang="en-US"/>
          </a:p>
        </p:txBody>
      </p:sp>
      <p:sp>
        <p:nvSpPr>
          <p:cNvPr id="102" name="TitleDivider102"/>
          <p:cNvSpPr/>
          <p:nvPr/>
        </p:nvSpPr>
        <p:spPr>
          <a:xfrm>
            <a:off x="953400" y="1128000"/>
            <a:ext cx="10705200" cy="140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wrap="square" anchor="ctr"/>
          <a:lstStyle/>
          <a:p>
            <a:endParaRPr lang="en-US"/>
          </a:p>
        </p:txBody>
      </p:sp>
      <p:sp>
        <p:nvSpPr>
          <p:cNvPr id="103" name="Para103"/>
          <p:cNvSpPr txBox="1"/>
          <p:nvPr/>
        </p:nvSpPr>
        <p:spPr>
          <a:xfrm>
            <a:off x="533400" y="1310000"/>
            <a:ext cx="5422600" cy="87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US" sz="1800" dirty="0">
                <a:solidFill>
                  <a:srgbClr val="334155"/>
                </a:solidFill>
                <a:latin typeface="Calibri"/>
                <a:ea typeface="Calibri"/>
                <a:cs typeface="Calibri"/>
              </a:rPr>
              <a:t>Images compose with everything else, including columns. Put an image on one side, your commentary on the other.</a:t>
            </a:r>
          </a:p>
        </p:txBody>
      </p:sp>
      <p:pic>
        <p:nvPicPr>
          <p:cNvPr id="104" name="Picture104" descr="A round badge labeled PNG + 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400" y="2260000"/>
            <a:ext cx="5422600" cy="3615066"/>
          </a:xfrm>
          <a:prstGeom prst="rect">
            <a:avLst/>
          </a:prstGeom>
        </p:spPr>
      </p:pic>
      <p:sp>
        <p:nvSpPr>
          <p:cNvPr id="105" name="Caption105"/>
          <p:cNvSpPr txBox="1"/>
          <p:nvPr/>
        </p:nvSpPr>
        <p:spPr>
          <a:xfrm>
            <a:off x="533400" y="5935066"/>
            <a:ext cx="5422600" cy="26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buNone/>
            </a:pPr>
            <a:r>
              <a:rPr lang="en-US" sz="1300" dirty="0" i="1">
                <a:solidFill>
                  <a:srgbClr val="94A3B8"/>
                </a:solidFill>
                <a:latin typeface="Calibri"/>
                <a:ea typeface="Calibri"/>
                <a:cs typeface="Calibri"/>
              </a:rPr>
              <a:t>A round badge labeled PNG + JPEG</a:t>
            </a:r>
          </a:p>
        </p:txBody>
      </p:sp>
      <p:sp>
        <p:nvSpPr>
          <p:cNvPr id="106" name="Para106"/>
          <p:cNvSpPr txBox="1"/>
          <p:nvPr/>
        </p:nvSpPr>
        <p:spPr>
          <a:xfrm>
            <a:off x="6236000" y="1310000"/>
            <a:ext cx="5422600" cy="60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US" sz="1800" dirty="0" b="1">
                <a:solidFill>
                  <a:srgbClr val="334155"/>
                </a:solidFill>
                <a:latin typeface="Calibri"/>
                <a:ea typeface="Calibri"/>
                <a:cs typeface="Calibri"/>
              </a:rPr>
              <a:t>Two supported formats</a:t>
            </a:r>
          </a:p>
        </p:txBody>
      </p:sp>
      <p:sp>
        <p:nvSpPr>
          <p:cNvPr id="107" name="Para107"/>
          <p:cNvSpPr txBox="1"/>
          <p:nvPr/>
        </p:nvSpPr>
        <p:spPr>
          <a:xfrm>
            <a:off x="6236000" y="1990000"/>
            <a:ext cx="5422600" cy="60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US" sz="1800" dirty="0">
                <a:solidFill>
                  <a:srgbClr val="334155"/>
                </a:solidFill>
                <a:latin typeface="Calibri"/>
                <a:ea typeface="Calibri"/>
                <a:cs typeface="Calibri"/>
              </a:rPr>
              <a:t>PNG and JPEG. No GIF, no SVG, no WebP for now.</a:t>
            </a:r>
          </a:p>
        </p:txBody>
      </p:sp>
      <p:sp>
        <p:nvSpPr>
          <p:cNvPr id="108" name="Para108"/>
          <p:cNvSpPr txBox="1"/>
          <p:nvPr/>
        </p:nvSpPr>
        <p:spPr>
          <a:xfrm>
            <a:off x="6236000" y="2670000"/>
            <a:ext cx="5422600" cy="60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US" sz="1800" dirty="0" b="1">
                <a:solidFill>
                  <a:srgbClr val="334155"/>
                </a:solidFill>
                <a:latin typeface="Calibri"/>
                <a:ea typeface="Calibri"/>
                <a:cs typeface="Calibri"/>
              </a:rPr>
              <a:t>Sizing</a:t>
            </a:r>
          </a:p>
        </p:txBody>
      </p:sp>
      <p:sp>
        <p:nvSpPr>
          <p:cNvPr id="109" name="Para109"/>
          <p:cNvSpPr txBox="1"/>
          <p:nvPr/>
        </p:nvSpPr>
        <p:spPr>
          <a:xfrm>
            <a:off x="6236000" y="3350000"/>
            <a:ext cx="5422600" cy="87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US" sz="1800" dirty="0">
                <a:solidFill>
                  <a:srgbClr val="334155"/>
                </a:solidFill>
                <a:latin typeface="Calibri"/>
                <a:ea typeface="Calibri"/>
                <a:cs typeface="Calibri"/>
              </a:rPr>
              <a:t>Images fit to the available content area, preserving aspect ratio. Auto-centered horizontally.</a:t>
            </a:r>
          </a:p>
        </p:txBody>
      </p:sp>
      <p:sp>
        <p:nvSpPr>
          <p:cNvPr id="110" name="Para110"/>
          <p:cNvSpPr txBox="1"/>
          <p:nvPr/>
        </p:nvSpPr>
        <p:spPr>
          <a:xfrm>
            <a:off x="6236000" y="4300000"/>
            <a:ext cx="5422600" cy="60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US" sz="1800" dirty="0" b="1">
                <a:solidFill>
                  <a:srgbClr val="334155"/>
                </a:solidFill>
                <a:latin typeface="Calibri"/>
                <a:ea typeface="Calibri"/>
                <a:cs typeface="Calibri"/>
              </a:rPr>
              <a:t>Captions</a:t>
            </a:r>
          </a:p>
        </p:txBody>
      </p:sp>
      <p:sp>
        <p:nvSpPr>
          <p:cNvPr id="111" name="Para111"/>
          <p:cNvSpPr txBox="1"/>
          <p:nvPr/>
        </p:nvSpPr>
        <p:spPr>
          <a:xfrm>
            <a:off x="6236000" y="4980000"/>
            <a:ext cx="5422600" cy="60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US" sz="1800" dirty="0">
                <a:solidFill>
                  <a:srgbClr val="334155"/>
                </a:solidFill>
                <a:latin typeface="Calibri"/>
                <a:ea typeface="Calibri"/>
                <a:cs typeface="Calibri"/>
              </a:rPr>
              <a:t>Whatever you write in the markdown alt text becomes a small caption below the image.</a:t>
            </a:r>
          </a:p>
        </p:txBody>
      </p:sp>
      <p:sp>
        <p:nvSpPr>
          <p:cNvPr id="112" name="DeckFooter112"/>
          <p:cNvSpPr txBox="1"/>
          <p:nvPr/>
        </p:nvSpPr>
        <p:spPr>
          <a:xfrm>
            <a:off x="533400" y="6458000"/>
            <a:ext cx="10325200" cy="30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US" sz="1000" dirty="0">
                <a:solidFill>
                  <a:srgbClr val="94A3B8"/>
                </a:solidFill>
                <a:latin typeface="Calibri"/>
                <a:ea typeface="Calibri"/>
                <a:cs typeface="Calibri"/>
              </a:rPr>
              <a:t>md2any</a:t>
            </a:r>
          </a:p>
        </p:txBody>
      </p:sp>
      <p:sp>
        <p:nvSpPr>
          <p:cNvPr id="113" name="PageNum113"/>
          <p:cNvSpPr txBox="1"/>
          <p:nvPr/>
        </p:nvSpPr>
        <p:spPr>
          <a:xfrm>
            <a:off x="10858600" y="6458000"/>
            <a:ext cx="800000" cy="30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buNone/>
            </a:pPr>
            <a:r>
              <a:rPr lang="en-US" sz="1000" dirty="0">
                <a:solidFill>
                  <a:srgbClr val="94A3B8"/>
                </a:solidFill>
                <a:latin typeface="Calibri"/>
                <a:ea typeface="Calibri"/>
                <a:cs typeface="Calibri"/>
              </a:rPr>
              <a:t>32 / 44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Marker100"/>
          <p:cNvSpPr/>
          <p:nvPr/>
        </p:nvSpPr>
        <p:spPr>
          <a:xfrm>
            <a:off x="5496000" y="2429000"/>
            <a:ext cx="1200000" cy="60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wrap="square" anchor="ctr"/>
          <a:lstStyle/>
          <a:p>
            <a:endParaRPr lang="en-US"/>
          </a:p>
        </p:txBody>
      </p:sp>
      <p:sp>
        <p:nvSpPr>
          <p:cNvPr id="101" name="SectionTitle101"/>
          <p:cNvSpPr txBox="1"/>
          <p:nvPr/>
        </p:nvSpPr>
        <p:spPr>
          <a:xfrm>
            <a:off x="800000" y="2729000"/>
            <a:ext cx="10592000" cy="150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</a:pPr>
            <a:r>
              <a:rPr lang="en-US" sz="5400" dirty="0" b="1">
                <a:solidFill>
                  <a:srgbClr val="F8FAFC"/>
                </a:solidFill>
                <a:latin typeface="Calibri Light"/>
                <a:ea typeface="Calibri Light"/>
                <a:cs typeface="Calibri Light"/>
              </a:rPr>
              <a:t>Speaker notes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Title100"/>
          <p:cNvSpPr txBox="1"/>
          <p:nvPr/>
        </p:nvSpPr>
        <p:spPr>
          <a:xfrm>
            <a:off x="533400" y="360000"/>
            <a:ext cx="11125200" cy="72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US" sz="2800" dirty="0" b="1">
                <a:solidFill>
                  <a:srgbClr val="0F172A"/>
                </a:solidFill>
                <a:latin typeface="Calibri Light"/>
                <a:ea typeface="Calibri Light"/>
                <a:cs typeface="Calibri Light"/>
              </a:rPr>
              <a:t>How to add notes</a:t>
            </a:r>
          </a:p>
        </p:txBody>
      </p:sp>
      <p:sp>
        <p:nvSpPr>
          <p:cNvPr id="101" name="TitleAccent101"/>
          <p:cNvSpPr/>
          <p:nvPr/>
        </p:nvSpPr>
        <p:spPr>
          <a:xfrm>
            <a:off x="533400" y="1110000"/>
            <a:ext cx="400000" cy="5000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txBody>
          <a:bodyPr wrap="square" anchor="ctr"/>
          <a:lstStyle/>
          <a:p>
            <a:endParaRPr lang="en-US"/>
          </a:p>
        </p:txBody>
      </p:sp>
      <p:sp>
        <p:nvSpPr>
          <p:cNvPr id="102" name="TitleDivider102"/>
          <p:cNvSpPr/>
          <p:nvPr/>
        </p:nvSpPr>
        <p:spPr>
          <a:xfrm>
            <a:off x="953400" y="1128000"/>
            <a:ext cx="10705200" cy="140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wrap="square" anchor="ctr"/>
          <a:lstStyle/>
          <a:p>
            <a:endParaRPr lang="en-US"/>
          </a:p>
        </p:txBody>
      </p:sp>
      <p:sp>
        <p:nvSpPr>
          <p:cNvPr id="103" name="Para103"/>
          <p:cNvSpPr txBox="1"/>
          <p:nvPr/>
        </p:nvSpPr>
        <p:spPr>
          <a:xfrm>
            <a:off x="533400" y="1310000"/>
            <a:ext cx="11125200" cy="60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US" sz="1800" dirty="0">
                <a:solidFill>
                  <a:srgbClr val="334155"/>
                </a:solidFill>
                <a:latin typeface="Calibri"/>
                <a:ea typeface="Calibri"/>
                <a:cs typeface="Calibri"/>
              </a:rPr>
              <a:t>Put an HTML comment that starts with </a:t>
            </a:r>
            <a:r>
              <a:rPr lang="en-US" sz="1800" dirty="0">
                <a:solidFill>
                  <a:srgbClr val="0369A1"/>
                </a:solidFill>
                <a:latin typeface="Consolas"/>
                <a:ea typeface="Consolas"/>
                <a:cs typeface="Consolas"/>
              </a:rPr>
              <a:t>notes:</a:t>
            </a:r>
            <a:r>
              <a:rPr lang="en-US" sz="1800" dirty="0">
                <a:solidFill>
                  <a:srgbClr val="334155"/>
                </a:solidFill>
                <a:latin typeface="Calibri"/>
                <a:ea typeface="Calibri"/>
                <a:cs typeface="Calibri"/>
              </a:rPr>
              <a:t> or </a:t>
            </a:r>
            <a:r>
              <a:rPr lang="en-US" sz="1800" dirty="0">
                <a:solidFill>
                  <a:srgbClr val="0369A1"/>
                </a:solidFill>
                <a:latin typeface="Consolas"/>
                <a:ea typeface="Consolas"/>
                <a:cs typeface="Consolas"/>
              </a:rPr>
              <a:t>speaker notes:</a:t>
            </a:r>
            <a:r>
              <a:rPr lang="en-US" sz="1800" dirty="0">
                <a:solidFill>
                  <a:srgbClr val="334155"/>
                </a:solidFill>
                <a:latin typeface="Calibri"/>
                <a:ea typeface="Calibri"/>
                <a:cs typeface="Calibri"/>
              </a:rPr>
              <a:t> anywhere on the slide. They attach to the slide they're written on.</a:t>
            </a:r>
          </a:p>
        </p:txBody>
      </p:sp>
      <p:sp>
        <p:nvSpPr>
          <p:cNvPr id="104" name="CodeTitle104"/>
          <p:cNvSpPr/>
          <p:nvPr/>
        </p:nvSpPr>
        <p:spPr>
          <a:xfrm>
            <a:off x="533400" y="1990000"/>
            <a:ext cx="11125200" cy="320000"/>
          </a:xfrm>
          <a:custGeom>
            <a:avLst/>
            <a:gdLst/>
            <a:ahLst/>
            <a:cxnLst/>
            <a:rect l="0" t="0" r="0" b="0"/>
            <a:pathLst>
              <a:path w="100000" h="100000">
                <a:moveTo>
                  <a:pt x="4500" y="0"/>
                </a:moveTo>
                <a:lnTo>
                  <a:pt x="95500" y="0"/>
                </a:lnTo>
                <a:cubicBezTo>
                  <a:pt x="97983" y="0"/>
                  <a:pt x="100000" y="2017"/>
                  <a:pt x="100000" y="4500"/>
                </a:cubicBezTo>
                <a:lnTo>
                  <a:pt x="100000" y="100000"/>
                </a:lnTo>
                <a:lnTo>
                  <a:pt x="0" y="100000"/>
                </a:lnTo>
                <a:lnTo>
                  <a:pt x="0" y="4500"/>
                </a:lnTo>
                <a:cubicBezTo>
                  <a:pt x="0" y="2017"/>
                  <a:pt x="2017" y="0"/>
                  <a:pt x="4500" y="0"/>
                </a:cubicBezTo>
                <a:close/>
              </a:path>
            </a:pathLst>
          </a:custGeom>
          <a:solidFill>
            <a:srgbClr val="E2E8F0"/>
          </a:solidFill>
          <a:ln w="6350">
            <a:solidFill>
              <a:srgbClr val="E2E8F0"/>
            </a:solidFill>
          </a:ln>
        </p:spPr>
        <p:txBody>
          <a:bodyPr wrap="square" lIns="180000" tIns="50000" rIns="180000" bIns="50000" anchor="ctr"/>
          <a:lstStyle/>
          <a:p>
            <a:pPr algn="l">
              <a:buNone/>
            </a:pPr>
            <a:r>
              <a:rPr lang="en-US" sz="1100" b="1" dirty="0">
                <a:solidFill>
                  <a:srgbClr val="94A3B8"/>
                </a:solidFill>
                <a:latin typeface="Calibri"/>
              </a:rPr>
              <a:t>markdown</a:t>
            </a:r>
          </a:p>
        </p:txBody>
      </p:sp>
      <p:sp>
        <p:nvSpPr>
          <p:cNvPr id="105" name="CodeBox105"/>
          <p:cNvSpPr/>
          <p:nvPr/>
        </p:nvSpPr>
        <p:spPr>
          <a:xfrm>
            <a:off x="533400" y="2310000"/>
            <a:ext cx="11125200" cy="1720000"/>
          </a:xfrm>
          <a:custGeom>
            <a:avLst/>
            <a:gdLst/>
            <a:ahLst/>
            <a:cxnLst/>
            <a:rect l="0" t="0" r="0" b="0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95500"/>
                </a:lnTo>
                <a:cubicBezTo>
                  <a:pt x="100000" y="97983"/>
                  <a:pt x="97983" y="100000"/>
                  <a:pt x="95500" y="100000"/>
                </a:cubicBezTo>
                <a:lnTo>
                  <a:pt x="4500" y="100000"/>
                </a:lnTo>
                <a:cubicBezTo>
                  <a:pt x="2017" y="100000"/>
                  <a:pt x="0" y="97983"/>
                  <a:pt x="0" y="95500"/>
                </a:cubicBezTo>
                <a:close/>
              </a:path>
            </a:pathLst>
          </a:custGeom>
          <a:solidFill>
            <a:srgbClr val="F1F5F9"/>
          </a:solidFill>
          <a:ln w="6350">
            <a:solidFill>
              <a:srgbClr val="E2E8F0"/>
            </a:solidFill>
          </a:ln>
        </p:spPr>
        <p:txBody>
          <a:bodyPr wrap="square" lIns="180000" tIns="120000" rIns="180000" bIns="12000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dirty="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## A slide title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dirty="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dirty="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Visible content here.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dirty="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dirty="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&lt;!-- notes: Reminder to ad-lib about the migration timeline. Reference the Q3 deck. --&gt;</a:t>
            </a:r>
          </a:p>
        </p:txBody>
      </p:sp>
      <p:sp>
        <p:nvSpPr>
          <p:cNvPr id="106" name="Para106"/>
          <p:cNvSpPr txBox="1"/>
          <p:nvPr/>
        </p:nvSpPr>
        <p:spPr>
          <a:xfrm>
            <a:off x="533400" y="4110000"/>
            <a:ext cx="11125200" cy="60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US" sz="1800" dirty="0">
                <a:solidFill>
                  <a:srgbClr val="334155"/>
                </a:solidFill>
                <a:latin typeface="Calibri"/>
                <a:ea typeface="Calibri"/>
                <a:cs typeface="Calibri"/>
              </a:rPr>
              <a:t>The notes appear in PowerPoint's presenter view and printed as note pages.</a:t>
            </a:r>
          </a:p>
        </p:txBody>
      </p:sp>
      <p:sp>
        <p:nvSpPr>
          <p:cNvPr id="107" name="DeckFooter107"/>
          <p:cNvSpPr txBox="1"/>
          <p:nvPr/>
        </p:nvSpPr>
        <p:spPr>
          <a:xfrm>
            <a:off x="533400" y="6458000"/>
            <a:ext cx="10325200" cy="30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US" sz="1000" dirty="0">
                <a:solidFill>
                  <a:srgbClr val="94A3B8"/>
                </a:solidFill>
                <a:latin typeface="Calibri"/>
                <a:ea typeface="Calibri"/>
                <a:cs typeface="Calibri"/>
              </a:rPr>
              <a:t>md2any</a:t>
            </a:r>
          </a:p>
        </p:txBody>
      </p:sp>
      <p:sp>
        <p:nvSpPr>
          <p:cNvPr id="108" name="PageNum108"/>
          <p:cNvSpPr txBox="1"/>
          <p:nvPr/>
        </p:nvSpPr>
        <p:spPr>
          <a:xfrm>
            <a:off x="10858600" y="6458000"/>
            <a:ext cx="800000" cy="30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buNone/>
            </a:pPr>
            <a:r>
              <a:rPr lang="en-US" sz="1000" dirty="0">
                <a:solidFill>
                  <a:srgbClr val="94A3B8"/>
                </a:solidFill>
                <a:latin typeface="Calibri"/>
                <a:ea typeface="Calibri"/>
                <a:cs typeface="Calibri"/>
              </a:rPr>
              <a:t>34 / 44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Title100"/>
          <p:cNvSpPr txBox="1"/>
          <p:nvPr/>
        </p:nvSpPr>
        <p:spPr>
          <a:xfrm>
            <a:off x="533400" y="360000"/>
            <a:ext cx="11125200" cy="72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US" sz="2800" dirty="0" b="1">
                <a:solidFill>
                  <a:srgbClr val="0F172A"/>
                </a:solidFill>
                <a:latin typeface="Calibri Light"/>
                <a:ea typeface="Calibri Light"/>
                <a:cs typeface="Calibri Light"/>
              </a:rPr>
              <a:t>Multiple notes</a:t>
            </a:r>
          </a:p>
        </p:txBody>
      </p:sp>
      <p:sp>
        <p:nvSpPr>
          <p:cNvPr id="101" name="TitleAccent101"/>
          <p:cNvSpPr/>
          <p:nvPr/>
        </p:nvSpPr>
        <p:spPr>
          <a:xfrm>
            <a:off x="533400" y="1110000"/>
            <a:ext cx="400000" cy="5000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txBody>
          <a:bodyPr wrap="square" anchor="ctr"/>
          <a:lstStyle/>
          <a:p>
            <a:endParaRPr lang="en-US"/>
          </a:p>
        </p:txBody>
      </p:sp>
      <p:sp>
        <p:nvSpPr>
          <p:cNvPr id="102" name="TitleDivider102"/>
          <p:cNvSpPr/>
          <p:nvPr/>
        </p:nvSpPr>
        <p:spPr>
          <a:xfrm>
            <a:off x="953400" y="1128000"/>
            <a:ext cx="10705200" cy="140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wrap="square" anchor="ctr"/>
          <a:lstStyle/>
          <a:p>
            <a:endParaRPr lang="en-US"/>
          </a:p>
        </p:txBody>
      </p:sp>
      <p:sp>
        <p:nvSpPr>
          <p:cNvPr id="103" name="Para103"/>
          <p:cNvSpPr txBox="1"/>
          <p:nvPr/>
        </p:nvSpPr>
        <p:spPr>
          <a:xfrm>
            <a:off x="533400" y="1310000"/>
            <a:ext cx="11125200" cy="60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US" sz="1800" dirty="0">
                <a:solidFill>
                  <a:srgbClr val="334155"/>
                </a:solidFill>
                <a:latin typeface="Calibri"/>
                <a:ea typeface="Calibri"/>
                <a:cs typeface="Calibri"/>
              </a:rPr>
              <a:t>Multiple </a:t>
            </a:r>
            <a:r>
              <a:rPr lang="en-US" sz="1800" dirty="0">
                <a:solidFill>
                  <a:srgbClr val="0369A1"/>
                </a:solidFill>
                <a:latin typeface="Consolas"/>
                <a:ea typeface="Consolas"/>
                <a:cs typeface="Consolas"/>
              </a:rPr>
              <a:t>&lt;!-- notes: --&gt;</a:t>
            </a:r>
            <a:r>
              <a:rPr lang="en-US" sz="1800" dirty="0">
                <a:solidFill>
                  <a:srgbClr val="334155"/>
                </a:solidFill>
                <a:latin typeface="Calibri"/>
                <a:ea typeface="Calibri"/>
                <a:cs typeface="Calibri"/>
              </a:rPr>
              <a:t> comments on the same slide are concatenated with blank lines between them. Useful when notes accrete during drafting.</a:t>
            </a:r>
          </a:p>
        </p:txBody>
      </p:sp>
      <p:sp>
        <p:nvSpPr>
          <p:cNvPr id="104" name="DeckFooter104"/>
          <p:cNvSpPr txBox="1"/>
          <p:nvPr/>
        </p:nvSpPr>
        <p:spPr>
          <a:xfrm>
            <a:off x="533400" y="6458000"/>
            <a:ext cx="10325200" cy="30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US" sz="1000" dirty="0">
                <a:solidFill>
                  <a:srgbClr val="94A3B8"/>
                </a:solidFill>
                <a:latin typeface="Calibri"/>
                <a:ea typeface="Calibri"/>
                <a:cs typeface="Calibri"/>
              </a:rPr>
              <a:t>md2any</a:t>
            </a:r>
          </a:p>
        </p:txBody>
      </p:sp>
      <p:sp>
        <p:nvSpPr>
          <p:cNvPr id="105" name="PageNum105"/>
          <p:cNvSpPr txBox="1"/>
          <p:nvPr/>
        </p:nvSpPr>
        <p:spPr>
          <a:xfrm>
            <a:off x="10858600" y="6458000"/>
            <a:ext cx="800000" cy="30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buNone/>
            </a:pPr>
            <a:r>
              <a:rPr lang="en-US" sz="1000" dirty="0">
                <a:solidFill>
                  <a:srgbClr val="94A3B8"/>
                </a:solidFill>
                <a:latin typeface="Calibri"/>
                <a:ea typeface="Calibri"/>
                <a:cs typeface="Calibri"/>
              </a:rPr>
              <a:t>35 / 44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Marker100"/>
          <p:cNvSpPr/>
          <p:nvPr/>
        </p:nvSpPr>
        <p:spPr>
          <a:xfrm>
            <a:off x="5496000" y="2429000"/>
            <a:ext cx="1200000" cy="60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wrap="square" anchor="ctr"/>
          <a:lstStyle/>
          <a:p>
            <a:endParaRPr lang="en-US"/>
          </a:p>
        </p:txBody>
      </p:sp>
      <p:sp>
        <p:nvSpPr>
          <p:cNvPr id="101" name="SectionTitle101"/>
          <p:cNvSpPr txBox="1"/>
          <p:nvPr/>
        </p:nvSpPr>
        <p:spPr>
          <a:xfrm>
            <a:off x="800000" y="2729000"/>
            <a:ext cx="10592000" cy="150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</a:pPr>
            <a:r>
              <a:rPr lang="en-US" sz="5400" dirty="0" b="1">
                <a:solidFill>
                  <a:srgbClr val="F8FAFC"/>
                </a:solidFill>
                <a:latin typeface="Calibri Light"/>
                <a:ea typeface="Calibri Light"/>
                <a:cs typeface="Calibri Light"/>
              </a:rPr>
              <a:t>Tables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Title100"/>
          <p:cNvSpPr txBox="1"/>
          <p:nvPr/>
        </p:nvSpPr>
        <p:spPr>
          <a:xfrm>
            <a:off x="533400" y="360000"/>
            <a:ext cx="11125200" cy="72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US" sz="2800" dirty="0" b="1">
                <a:solidFill>
                  <a:srgbClr val="0F172A"/>
                </a:solidFill>
                <a:latin typeface="Calibri Light"/>
                <a:ea typeface="Calibri Light"/>
                <a:cs typeface="Calibri Light"/>
              </a:rPr>
              <a:t>Feature matrix</a:t>
            </a:r>
          </a:p>
        </p:txBody>
      </p:sp>
      <p:sp>
        <p:nvSpPr>
          <p:cNvPr id="101" name="TitleAccent101"/>
          <p:cNvSpPr/>
          <p:nvPr/>
        </p:nvSpPr>
        <p:spPr>
          <a:xfrm>
            <a:off x="533400" y="1110000"/>
            <a:ext cx="400000" cy="5000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txBody>
          <a:bodyPr wrap="square" anchor="ctr"/>
          <a:lstStyle/>
          <a:p>
            <a:endParaRPr lang="en-US"/>
          </a:p>
        </p:txBody>
      </p:sp>
      <p:sp>
        <p:nvSpPr>
          <p:cNvPr id="102" name="TitleDivider102"/>
          <p:cNvSpPr/>
          <p:nvPr/>
        </p:nvSpPr>
        <p:spPr>
          <a:xfrm>
            <a:off x="953400" y="1128000"/>
            <a:ext cx="10705200" cy="140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wrap="square" anchor="ctr"/>
          <a:lstStyle/>
          <a:p>
            <a:endParaRPr lang="en-US"/>
          </a:p>
        </p:txBody>
      </p:sp>
      <p:graphicFrame>
        <p:nvGraphicFramePr>
          <p:cNvPr id="103" name="Table103"/>
          <p:cNvGraphicFramePr>
            <a:graphicFrameLocks noGrp="1"/>
          </p:cNvGraphicFramePr>
          <p:nvPr/>
        </p:nvGraphicFramePr>
        <p:xfrm>
          <a:off x="533400" y="1310000"/>
          <a:ext cx="11125200" cy="3480000"/>
        </p:xfrm>
        <a:graphic>
          <a:graphicData uri="http://schemas.openxmlformats.org/drawingml/2006/table">
            <a:tbl>
              <a:tblPr firstRow="1" bandRow="1"/>
              <a:tblGrid>
                <a:gridCol w="3708400"/>
                <a:gridCol w="3708400"/>
                <a:gridCol w="3708400"/>
              </a:tblGrid>
              <a:tr h="380000">
                <a:tc>
                  <a:txBody>
                    <a:bodyPr wrap="square" lIns="90000" tIns="46000" rIns="90000" bIns="46000" anchor="ctr"/>
                    <a:lstStyle/>
                    <a:p>
                      <a:pPr algn="l">
                        <a:buNone/>
                      </a:pPr>
                      <a:r>
                        <a:rPr lang="en-US" sz="1600" dirty="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Feature</a:t>
                      </a:r>
                    </a:p>
                  </a:txBody>
                  <a:tcPr lIns="0" tIns="0" rIns="0" bIns="0" anchor="ctr">
                    <a:lnL w="6350" cap="flat" cmpd="sng" algn="ctr">
                      <a:solidFill>
                        <a:srgbClr val="E2E8F0"/>
                      </a:solidFill>
                      <a:prstDash val="soli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0EA5E9"/>
                    </a:solidFill>
                  </a:tcPr>
                </a:tc>
                <a:tc>
                  <a:txBody>
                    <a:bodyPr wrap="square" lIns="90000" tIns="46000" rIns="90000" bIns="46000" anchor="ctr"/>
                    <a:lstStyle/>
                    <a:p>
                      <a:pPr algn="l">
                        <a:buNone/>
                      </a:pPr>
                      <a:r>
                        <a:rPr lang="en-US" sz="1600" dirty="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Status</a:t>
                      </a:r>
                    </a:p>
                  </a:txBody>
                  <a:tcPr lIns="0" tIns="0" rIns="0" bIns="0" anchor="ctr">
                    <a:lnL w="6350" cap="flat" cmpd="sng" algn="ctr">
                      <a:solidFill>
                        <a:srgbClr val="E2E8F0"/>
                      </a:solidFill>
                      <a:prstDash val="soli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0EA5E9"/>
                    </a:solidFill>
                  </a:tcPr>
                </a:tc>
                <a:tc>
                  <a:txBody>
                    <a:bodyPr wrap="square" lIns="90000" tIns="46000" rIns="90000" bIns="46000" anchor="ctr"/>
                    <a:lstStyle/>
                    <a:p>
                      <a:pPr algn="l">
                        <a:buNone/>
                      </a:pPr>
                      <a:r>
                        <a:rPr lang="en-US" sz="1600" dirty="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Notes</a:t>
                      </a:r>
                    </a:p>
                  </a:txBody>
                  <a:tcPr lIns="0" tIns="0" rIns="0" bIns="0" anchor="ctr">
                    <a:lnL w="6350" cap="flat" cmpd="sng" algn="ctr">
                      <a:solidFill>
                        <a:srgbClr val="E2E8F0"/>
                      </a:solidFill>
                      <a:prstDash val="soli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0EA5E9"/>
                    </a:solidFill>
                  </a:tcPr>
                </a:tc>
              </a:tr>
              <a:tr h="344444">
                <a:tc>
                  <a:txBody>
                    <a:bodyPr wrap="square" lIns="90000" tIns="46000" rIns="90000" bIns="46000" anchor="ctr"/>
                    <a:lstStyle/>
                    <a:p>
                      <a:pPr algn="l">
                        <a:buNone/>
                      </a:pPr>
                      <a:r>
                        <a:rPr lang="en-US" sz="1400" dirty="0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</a:rPr>
                        <a:t>Headings</a:t>
                      </a:r>
                    </a:p>
                  </a:txBody>
                  <a:tcPr lIns="0" tIns="0" rIns="0" bIns="0" anchor="ctr">
                    <a:lnL w="6350" cap="flat" cmpd="sng" algn="ctr">
                      <a:solidFill>
                        <a:srgbClr val="E2E8F0"/>
                      </a:solidFill>
                      <a:prstDash val="soli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90000" tIns="46000" rIns="90000" bIns="46000" anchor="ctr"/>
                    <a:lstStyle/>
                    <a:p>
                      <a:pPr algn="l">
                        <a:buNone/>
                      </a:pPr>
                      <a:r>
                        <a:rPr lang="en-US" sz="1400" dirty="0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</a:rPr>
                        <a:t>Done</a:t>
                      </a:r>
                    </a:p>
                  </a:txBody>
                  <a:tcPr lIns="0" tIns="0" rIns="0" bIns="0" anchor="ctr">
                    <a:lnL w="6350" cap="flat" cmpd="sng" algn="ctr">
                      <a:solidFill>
                        <a:srgbClr val="E2E8F0"/>
                      </a:solidFill>
                      <a:prstDash val="soli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90000" tIns="46000" rIns="90000" bIns="46000" anchor="ctr"/>
                    <a:lstStyle/>
                    <a:p>
                      <a:pPr algn="l">
                        <a:buNone/>
                      </a:pPr>
                      <a:r>
                        <a:rPr lang="en-US" sz="1400" dirty="0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</a:rPr>
                        <a:t>H1 title, H2 content, H3+ inline</a:t>
                      </a:r>
                    </a:p>
                  </a:txBody>
                  <a:tcPr lIns="0" tIns="0" rIns="0" bIns="0" anchor="ctr">
                    <a:lnL w="6350" cap="flat" cmpd="sng" algn="ctr">
                      <a:solidFill>
                        <a:srgbClr val="E2E8F0"/>
                      </a:solidFill>
                      <a:prstDash val="soli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44444">
                <a:tc>
                  <a:txBody>
                    <a:bodyPr wrap="square" lIns="90000" tIns="46000" rIns="90000" bIns="46000" anchor="ctr"/>
                    <a:lstStyle/>
                    <a:p>
                      <a:pPr algn="l">
                        <a:buNone/>
                      </a:pPr>
                      <a:r>
                        <a:rPr lang="en-US" sz="1400" dirty="0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</a:rPr>
                        <a:t>Lists</a:t>
                      </a:r>
                    </a:p>
                  </a:txBody>
                  <a:tcPr lIns="0" tIns="0" rIns="0" bIns="0" anchor="ctr">
                    <a:lnL w="6350" cap="flat" cmpd="sng" algn="ctr">
                      <a:solidFill>
                        <a:srgbClr val="E2E8F0"/>
                      </a:solidFill>
                      <a:prstDash val="soli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wrap="square" lIns="90000" tIns="46000" rIns="90000" bIns="46000" anchor="ctr"/>
                    <a:lstStyle/>
                    <a:p>
                      <a:pPr algn="l">
                        <a:buNone/>
                      </a:pPr>
                      <a:r>
                        <a:rPr lang="en-US" sz="1400" dirty="0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</a:rPr>
                        <a:t>Done</a:t>
                      </a:r>
                    </a:p>
                  </a:txBody>
                  <a:tcPr lIns="0" tIns="0" rIns="0" bIns="0" anchor="ctr">
                    <a:lnL w="6350" cap="flat" cmpd="sng" algn="ctr">
                      <a:solidFill>
                        <a:srgbClr val="E2E8F0"/>
                      </a:solidFill>
                      <a:prstDash val="soli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wrap="square" lIns="90000" tIns="46000" rIns="90000" bIns="46000" anchor="ctr"/>
                    <a:lstStyle/>
                    <a:p>
                      <a:pPr algn="l">
                        <a:buNone/>
                      </a:pPr>
                      <a:r>
                        <a:rPr lang="en-US" sz="1400" dirty="0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</a:rPr>
                        <a:t>Nested, auto-2-column when long</a:t>
                      </a:r>
                    </a:p>
                  </a:txBody>
                  <a:tcPr lIns="0" tIns="0" rIns="0" bIns="0" anchor="ctr">
                    <a:lnL w="6350" cap="flat" cmpd="sng" algn="ctr">
                      <a:solidFill>
                        <a:srgbClr val="E2E8F0"/>
                      </a:solidFill>
                      <a:prstDash val="soli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</a:tr>
              <a:tr h="344444">
                <a:tc>
                  <a:txBody>
                    <a:bodyPr wrap="square" lIns="90000" tIns="46000" rIns="90000" bIns="46000" anchor="ctr"/>
                    <a:lstStyle/>
                    <a:p>
                      <a:pPr algn="l">
                        <a:buNone/>
                      </a:pPr>
                      <a:r>
                        <a:rPr lang="en-US" sz="1400" dirty="0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</a:rPr>
                        <a:t>Code blocks</a:t>
                      </a:r>
                    </a:p>
                  </a:txBody>
                  <a:tcPr lIns="0" tIns="0" rIns="0" bIns="0" anchor="ctr">
                    <a:lnL w="6350" cap="flat" cmpd="sng" algn="ctr">
                      <a:solidFill>
                        <a:srgbClr val="E2E8F0"/>
                      </a:solidFill>
                      <a:prstDash val="soli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90000" tIns="46000" rIns="90000" bIns="46000" anchor="ctr"/>
                    <a:lstStyle/>
                    <a:p>
                      <a:pPr algn="l">
                        <a:buNone/>
                      </a:pPr>
                      <a:r>
                        <a:rPr lang="en-US" sz="1400" dirty="0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</a:rPr>
                        <a:t>Done</a:t>
                      </a:r>
                    </a:p>
                  </a:txBody>
                  <a:tcPr lIns="0" tIns="0" rIns="0" bIns="0" anchor="ctr">
                    <a:lnL w="6350" cap="flat" cmpd="sng" algn="ctr">
                      <a:solidFill>
                        <a:srgbClr val="E2E8F0"/>
                      </a:solidFill>
                      <a:prstDash val="soli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90000" tIns="46000" rIns="90000" bIns="46000" anchor="ctr"/>
                    <a:lstStyle/>
                    <a:p>
                      <a:pPr algn="l">
                        <a:buNone/>
                      </a:pPr>
                      <a:r>
                        <a:rPr lang="en-US" sz="1400" dirty="0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</a:rPr>
                        <a:t>Filename, language, line numbers</a:t>
                      </a:r>
                    </a:p>
                  </a:txBody>
                  <a:tcPr lIns="0" tIns="0" rIns="0" bIns="0" anchor="ctr">
                    <a:lnL w="6350" cap="flat" cmpd="sng" algn="ctr">
                      <a:solidFill>
                        <a:srgbClr val="E2E8F0"/>
                      </a:solidFill>
                      <a:prstDash val="soli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44444">
                <a:tc>
                  <a:txBody>
                    <a:bodyPr wrap="square" lIns="90000" tIns="46000" rIns="90000" bIns="46000" anchor="ctr"/>
                    <a:lstStyle/>
                    <a:p>
                      <a:pPr algn="l">
                        <a:buNone/>
                      </a:pPr>
                      <a:r>
                        <a:rPr lang="en-US" sz="1400" dirty="0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</a:rPr>
                        <a:t>Tables</a:t>
                      </a:r>
                    </a:p>
                  </a:txBody>
                  <a:tcPr lIns="0" tIns="0" rIns="0" bIns="0" anchor="ctr">
                    <a:lnL w="6350" cap="flat" cmpd="sng" algn="ctr">
                      <a:solidFill>
                        <a:srgbClr val="E2E8F0"/>
                      </a:solidFill>
                      <a:prstDash val="soli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wrap="square" lIns="90000" tIns="46000" rIns="90000" bIns="46000" anchor="ctr"/>
                    <a:lstStyle/>
                    <a:p>
                      <a:pPr algn="l">
                        <a:buNone/>
                      </a:pPr>
                      <a:r>
                        <a:rPr lang="en-US" sz="1400" dirty="0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</a:rPr>
                        <a:t>Done</a:t>
                      </a:r>
                    </a:p>
                  </a:txBody>
                  <a:tcPr lIns="0" tIns="0" rIns="0" bIns="0" anchor="ctr">
                    <a:lnL w="6350" cap="flat" cmpd="sng" algn="ctr">
                      <a:solidFill>
                        <a:srgbClr val="E2E8F0"/>
                      </a:solidFill>
                      <a:prstDash val="soli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wrap="square" lIns="90000" tIns="46000" rIns="90000" bIns="46000" anchor="ctr"/>
                    <a:lstStyle/>
                    <a:p>
                      <a:pPr algn="l">
                        <a:buNone/>
                      </a:pPr>
                      <a:r>
                        <a:rPr lang="en-US" sz="1400" dirty="0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</a:rPr>
                        <a:t>Banded rows, accent header</a:t>
                      </a:r>
                    </a:p>
                  </a:txBody>
                  <a:tcPr lIns="0" tIns="0" rIns="0" bIns="0" anchor="ctr">
                    <a:lnL w="6350" cap="flat" cmpd="sng" algn="ctr">
                      <a:solidFill>
                        <a:srgbClr val="E2E8F0"/>
                      </a:solidFill>
                      <a:prstDash val="soli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</a:tr>
              <a:tr h="344444">
                <a:tc>
                  <a:txBody>
                    <a:bodyPr wrap="square" lIns="90000" tIns="46000" rIns="90000" bIns="46000" anchor="ctr"/>
                    <a:lstStyle/>
                    <a:p>
                      <a:pPr algn="l">
                        <a:buNone/>
                      </a:pPr>
                      <a:r>
                        <a:rPr lang="en-US" sz="1400" dirty="0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</a:rPr>
                        <a:t>Side-by-side</a:t>
                      </a:r>
                    </a:p>
                  </a:txBody>
                  <a:tcPr lIns="0" tIns="0" rIns="0" bIns="0" anchor="ctr">
                    <a:lnL w="6350" cap="flat" cmpd="sng" algn="ctr">
                      <a:solidFill>
                        <a:srgbClr val="E2E8F0"/>
                      </a:solidFill>
                      <a:prstDash val="soli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90000" tIns="46000" rIns="90000" bIns="46000" anchor="ctr"/>
                    <a:lstStyle/>
                    <a:p>
                      <a:pPr algn="l">
                        <a:buNone/>
                      </a:pPr>
                      <a:r>
                        <a:rPr lang="en-US" sz="1400" dirty="0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</a:rPr>
                        <a:t>Done</a:t>
                      </a:r>
                    </a:p>
                  </a:txBody>
                  <a:tcPr lIns="0" tIns="0" rIns="0" bIns="0" anchor="ctr">
                    <a:lnL w="6350" cap="flat" cmpd="sng" algn="ctr">
                      <a:solidFill>
                        <a:srgbClr val="E2E8F0"/>
                      </a:solidFill>
                      <a:prstDash val="soli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90000" tIns="46000" rIns="90000" bIns="46000" anchor="ctr"/>
                    <a:lstStyle/>
                    <a:p>
                      <a:pPr algn="l">
                        <a:buNone/>
                      </a:pPr>
                      <a:r>
                        <a:rPr lang="en-US" sz="1400" dirty="0">
                          <a:solidFill>
                            <a:srgbClr val="0369A1"/>
                          </a:solidFill>
                          <a:latin typeface="Consolas"/>
                          <a:ea typeface="Consolas"/>
                          <a:cs typeface="Consolas"/>
                        </a:rPr>
                        <a:t>:::</a:t>
                      </a:r>
                      <a:r>
                        <a:rPr lang="en-US" sz="1400" dirty="0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</a:rPr>
                        <a:t> marker</a:t>
                      </a:r>
                    </a:p>
                  </a:txBody>
                  <a:tcPr lIns="0" tIns="0" rIns="0" bIns="0" anchor="ctr">
                    <a:lnL w="6350" cap="flat" cmpd="sng" algn="ctr">
                      <a:solidFill>
                        <a:srgbClr val="E2E8F0"/>
                      </a:solidFill>
                      <a:prstDash val="soli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44444">
                <a:tc>
                  <a:txBody>
                    <a:bodyPr wrap="square" lIns="90000" tIns="46000" rIns="90000" bIns="46000" anchor="ctr"/>
                    <a:lstStyle/>
                    <a:p>
                      <a:pPr algn="l">
                        <a:buNone/>
                      </a:pPr>
                      <a:r>
                        <a:rPr lang="en-US" sz="1400" dirty="0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</a:rPr>
                        <a:t>Portrait</a:t>
                      </a:r>
                    </a:p>
                  </a:txBody>
                  <a:tcPr lIns="0" tIns="0" rIns="0" bIns="0" anchor="ctr">
                    <a:lnL w="6350" cap="flat" cmpd="sng" algn="ctr">
                      <a:solidFill>
                        <a:srgbClr val="E2E8F0"/>
                      </a:solidFill>
                      <a:prstDash val="soli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wrap="square" lIns="90000" tIns="46000" rIns="90000" bIns="46000" anchor="ctr"/>
                    <a:lstStyle/>
                    <a:p>
                      <a:pPr algn="l">
                        <a:buNone/>
                      </a:pPr>
                      <a:r>
                        <a:rPr lang="en-US" sz="1400" dirty="0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</a:rPr>
                        <a:t>Done</a:t>
                      </a:r>
                    </a:p>
                  </a:txBody>
                  <a:tcPr lIns="0" tIns="0" rIns="0" bIns="0" anchor="ctr">
                    <a:lnL w="6350" cap="flat" cmpd="sng" algn="ctr">
                      <a:solidFill>
                        <a:srgbClr val="E2E8F0"/>
                      </a:solidFill>
                      <a:prstDash val="soli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wrap="square" lIns="90000" tIns="46000" rIns="90000" bIns="46000" anchor="ctr"/>
                    <a:lstStyle/>
                    <a:p>
                      <a:pPr algn="l">
                        <a:buNone/>
                      </a:pPr>
                      <a:r>
                        <a:rPr lang="en-US" sz="1400" dirty="0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</a:rPr>
                        <a:t>9:16, A4, Letter</a:t>
                      </a:r>
                    </a:p>
                  </a:txBody>
                  <a:tcPr lIns="0" tIns="0" rIns="0" bIns="0" anchor="ctr">
                    <a:lnL w="6350" cap="flat" cmpd="sng" algn="ctr">
                      <a:solidFill>
                        <a:srgbClr val="E2E8F0"/>
                      </a:solidFill>
                      <a:prstDash val="soli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</a:tr>
              <a:tr h="344444">
                <a:tc>
                  <a:txBody>
                    <a:bodyPr wrap="square" lIns="90000" tIns="46000" rIns="90000" bIns="46000" anchor="ctr"/>
                    <a:lstStyle/>
                    <a:p>
                      <a:pPr algn="l">
                        <a:buNone/>
                      </a:pPr>
                      <a:r>
                        <a:rPr lang="en-US" sz="1400" dirty="0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</a:rPr>
                        <a:t>Dark mode</a:t>
                      </a:r>
                    </a:p>
                  </a:txBody>
                  <a:tcPr lIns="0" tIns="0" rIns="0" bIns="0" anchor="ctr">
                    <a:lnL w="6350" cap="flat" cmpd="sng" algn="ctr">
                      <a:solidFill>
                        <a:srgbClr val="E2E8F0"/>
                      </a:solidFill>
                      <a:prstDash val="soli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90000" tIns="46000" rIns="90000" bIns="46000" anchor="ctr"/>
                    <a:lstStyle/>
                    <a:p>
                      <a:pPr algn="l">
                        <a:buNone/>
                      </a:pPr>
                      <a:r>
                        <a:rPr lang="en-US" sz="1400" dirty="0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</a:rPr>
                        <a:t>Done</a:t>
                      </a:r>
                    </a:p>
                  </a:txBody>
                  <a:tcPr lIns="0" tIns="0" rIns="0" bIns="0" anchor="ctr">
                    <a:lnL w="6350" cap="flat" cmpd="sng" algn="ctr">
                      <a:solidFill>
                        <a:srgbClr val="E2E8F0"/>
                      </a:solidFill>
                      <a:prstDash val="soli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90000" tIns="46000" rIns="90000" bIns="46000" anchor="ctr"/>
                    <a:lstStyle/>
                    <a:p>
                      <a:pPr algn="l">
                        <a:buNone/>
                      </a:pPr>
                      <a:r>
                        <a:rPr lang="en-US" sz="1400" dirty="0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</a:rPr>
                        <a:t>Polished palette</a:t>
                      </a:r>
                    </a:p>
                  </a:txBody>
                  <a:tcPr lIns="0" tIns="0" rIns="0" bIns="0" anchor="ctr">
                    <a:lnL w="6350" cap="flat" cmpd="sng" algn="ctr">
                      <a:solidFill>
                        <a:srgbClr val="E2E8F0"/>
                      </a:solidFill>
                      <a:prstDash val="soli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44444">
                <a:tc>
                  <a:txBody>
                    <a:bodyPr wrap="square" lIns="90000" tIns="46000" rIns="90000" bIns="46000" anchor="ctr"/>
                    <a:lstStyle/>
                    <a:p>
                      <a:pPr algn="l">
                        <a:buNone/>
                      </a:pPr>
                      <a:r>
                        <a:rPr lang="en-US" sz="1400" dirty="0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</a:rPr>
                        <a:t>Images</a:t>
                      </a:r>
                    </a:p>
                  </a:txBody>
                  <a:tcPr lIns="0" tIns="0" rIns="0" bIns="0" anchor="ctr">
                    <a:lnL w="6350" cap="flat" cmpd="sng" algn="ctr">
                      <a:solidFill>
                        <a:srgbClr val="E2E8F0"/>
                      </a:solidFill>
                      <a:prstDash val="soli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wrap="square" lIns="90000" tIns="46000" rIns="90000" bIns="46000" anchor="ctr"/>
                    <a:lstStyle/>
                    <a:p>
                      <a:pPr algn="l">
                        <a:buNone/>
                      </a:pPr>
                      <a:r>
                        <a:rPr lang="en-US" sz="1400" dirty="0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</a:rPr>
                        <a:t>TODO</a:t>
                      </a:r>
                    </a:p>
                  </a:txBody>
                  <a:tcPr lIns="0" tIns="0" rIns="0" bIns="0" anchor="ctr">
                    <a:lnL w="6350" cap="flat" cmpd="sng" algn="ctr">
                      <a:solidFill>
                        <a:srgbClr val="E2E8F0"/>
                      </a:solidFill>
                      <a:prstDash val="soli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wrap="square" lIns="90000" tIns="46000" rIns="90000" bIns="46000" anchor="ctr"/>
                    <a:lstStyle/>
                    <a:p>
                      <a:pPr algn="l">
                        <a:buNone/>
                      </a:pPr>
                      <a:r>
                        <a:rPr lang="en-US" sz="1400" dirty="0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</a:rPr>
                        <a:t>v0.2</a:t>
                      </a:r>
                    </a:p>
                  </a:txBody>
                  <a:tcPr lIns="0" tIns="0" rIns="0" bIns="0" anchor="ctr">
                    <a:lnL w="6350" cap="flat" cmpd="sng" algn="ctr">
                      <a:solidFill>
                        <a:srgbClr val="E2E8F0"/>
                      </a:solidFill>
                      <a:prstDash val="soli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</a:tr>
              <a:tr h="344444">
                <a:tc>
                  <a:txBody>
                    <a:bodyPr wrap="square" lIns="90000" tIns="46000" rIns="90000" bIns="46000" anchor="ctr"/>
                    <a:lstStyle/>
                    <a:p>
                      <a:pPr algn="l">
                        <a:buNone/>
                      </a:pPr>
                      <a:r>
                        <a:rPr lang="en-US" sz="1400" dirty="0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</a:rPr>
                        <a:t>Speaker notes</a:t>
                      </a:r>
                    </a:p>
                  </a:txBody>
                  <a:tcPr lIns="0" tIns="0" rIns="0" bIns="0" anchor="ctr">
                    <a:lnL w="6350" cap="flat" cmpd="sng" algn="ctr">
                      <a:solidFill>
                        <a:srgbClr val="E2E8F0"/>
                      </a:solidFill>
                      <a:prstDash val="soli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90000" tIns="46000" rIns="90000" bIns="46000" anchor="ctr"/>
                    <a:lstStyle/>
                    <a:p>
                      <a:pPr algn="l">
                        <a:buNone/>
                      </a:pPr>
                      <a:r>
                        <a:rPr lang="en-US" sz="1400" dirty="0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</a:rPr>
                        <a:t>TODO</a:t>
                      </a:r>
                    </a:p>
                  </a:txBody>
                  <a:tcPr lIns="0" tIns="0" rIns="0" bIns="0" anchor="ctr">
                    <a:lnL w="6350" cap="flat" cmpd="sng" algn="ctr">
                      <a:solidFill>
                        <a:srgbClr val="E2E8F0"/>
                      </a:solidFill>
                      <a:prstDash val="soli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90000" tIns="46000" rIns="90000" bIns="46000" anchor="ctr"/>
                    <a:lstStyle/>
                    <a:p>
                      <a:pPr algn="l">
                        <a:buNone/>
                      </a:pPr>
                      <a:r>
                        <a:rPr lang="en-US" sz="1400" dirty="0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</a:rPr>
                        <a:t>v0.2</a:t>
                      </a:r>
                    </a:p>
                  </a:txBody>
                  <a:tcPr lIns="0" tIns="0" rIns="0" bIns="0" anchor="ctr">
                    <a:lnL w="6350" cap="flat" cmpd="sng" algn="ctr">
                      <a:solidFill>
                        <a:srgbClr val="E2E8F0"/>
                      </a:solidFill>
                      <a:prstDash val="soli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4" name="DeckFooter104"/>
          <p:cNvSpPr txBox="1"/>
          <p:nvPr/>
        </p:nvSpPr>
        <p:spPr>
          <a:xfrm>
            <a:off x="533400" y="6458000"/>
            <a:ext cx="10325200" cy="30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US" sz="1000" dirty="0">
                <a:solidFill>
                  <a:srgbClr val="94A3B8"/>
                </a:solidFill>
                <a:latin typeface="Calibri"/>
                <a:ea typeface="Calibri"/>
                <a:cs typeface="Calibri"/>
              </a:rPr>
              <a:t>md2any</a:t>
            </a:r>
          </a:p>
        </p:txBody>
      </p:sp>
      <p:sp>
        <p:nvSpPr>
          <p:cNvPr id="105" name="PageNum105"/>
          <p:cNvSpPr txBox="1"/>
          <p:nvPr/>
        </p:nvSpPr>
        <p:spPr>
          <a:xfrm>
            <a:off x="10858600" y="6458000"/>
            <a:ext cx="800000" cy="30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buNone/>
            </a:pPr>
            <a:r>
              <a:rPr lang="en-US" sz="1000" dirty="0">
                <a:solidFill>
                  <a:srgbClr val="94A3B8"/>
                </a:solidFill>
                <a:latin typeface="Calibri"/>
                <a:ea typeface="Calibri"/>
                <a:cs typeface="Calibri"/>
              </a:rPr>
              <a:t>37 / 44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Marker100"/>
          <p:cNvSpPr/>
          <p:nvPr/>
        </p:nvSpPr>
        <p:spPr>
          <a:xfrm>
            <a:off x="5496000" y="2429000"/>
            <a:ext cx="1200000" cy="60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wrap="square" anchor="ctr"/>
          <a:lstStyle/>
          <a:p>
            <a:endParaRPr lang="en-US"/>
          </a:p>
        </p:txBody>
      </p:sp>
      <p:sp>
        <p:nvSpPr>
          <p:cNvPr id="101" name="SectionTitle101"/>
          <p:cNvSpPr txBox="1"/>
          <p:nvPr/>
        </p:nvSpPr>
        <p:spPr>
          <a:xfrm>
            <a:off x="800000" y="2729000"/>
            <a:ext cx="10592000" cy="150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</a:pPr>
            <a:r>
              <a:rPr lang="en-US" sz="5400" dirty="0" b="1">
                <a:solidFill>
                  <a:srgbClr val="F8FAFC"/>
                </a:solidFill>
                <a:latin typeface="Calibri Light"/>
                <a:ea typeface="Calibri Light"/>
                <a:cs typeface="Calibri Light"/>
              </a:rPr>
              <a:t>Quotes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Title100"/>
          <p:cNvSpPr txBox="1"/>
          <p:nvPr/>
        </p:nvSpPr>
        <p:spPr>
          <a:xfrm>
            <a:off x="533400" y="360000"/>
            <a:ext cx="11125200" cy="72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US" sz="2800" dirty="0" b="1">
                <a:solidFill>
                  <a:srgbClr val="0F172A"/>
                </a:solidFill>
                <a:latin typeface="Calibri Light"/>
                <a:ea typeface="Calibri Light"/>
                <a:cs typeface="Calibri Light"/>
              </a:rPr>
              <a:t>Quotes</a:t>
            </a:r>
          </a:p>
        </p:txBody>
      </p:sp>
      <p:sp>
        <p:nvSpPr>
          <p:cNvPr id="101" name="TitleAccent101"/>
          <p:cNvSpPr/>
          <p:nvPr/>
        </p:nvSpPr>
        <p:spPr>
          <a:xfrm>
            <a:off x="533400" y="1110000"/>
            <a:ext cx="400000" cy="5000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txBody>
          <a:bodyPr wrap="square" anchor="ctr"/>
          <a:lstStyle/>
          <a:p>
            <a:endParaRPr lang="en-US"/>
          </a:p>
        </p:txBody>
      </p:sp>
      <p:sp>
        <p:nvSpPr>
          <p:cNvPr id="102" name="TitleDivider102"/>
          <p:cNvSpPr/>
          <p:nvPr/>
        </p:nvSpPr>
        <p:spPr>
          <a:xfrm>
            <a:off x="953400" y="1128000"/>
            <a:ext cx="10705200" cy="140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wrap="square" anchor="ctr"/>
          <a:lstStyle/>
          <a:p>
            <a:endParaRPr lang="en-US"/>
          </a:p>
        </p:txBody>
      </p:sp>
      <p:sp>
        <p:nvSpPr>
          <p:cNvPr id="103" name="QuoteBar103"/>
          <p:cNvSpPr/>
          <p:nvPr/>
        </p:nvSpPr>
        <p:spPr>
          <a:xfrm>
            <a:off x="533400" y="1310000"/>
            <a:ext cx="60000" cy="124000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txBody>
          <a:bodyPr wrap="square" anchor="ctr"/>
          <a:lstStyle/>
          <a:p>
            <a:endParaRPr lang="en-US"/>
          </a:p>
        </p:txBody>
      </p:sp>
      <p:sp>
        <p:nvSpPr>
          <p:cNvPr id="104" name="Quote104"/>
          <p:cNvSpPr txBox="1"/>
          <p:nvPr/>
        </p:nvSpPr>
        <p:spPr>
          <a:xfrm>
            <a:off x="713400" y="1310000"/>
            <a:ext cx="10945200" cy="124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US" sz="1700" dirty="0" i="1">
                <a:solidFill>
                  <a:srgbClr val="334155"/>
                </a:solidFill>
                <a:latin typeface="Calibri"/>
                <a:ea typeface="Calibri"/>
                <a:cs typeface="Calibri"/>
              </a:rPr>
              <a:t>The best presentation tool is the one that gets out of your way.</a:t>
            </a:r>
          </a:p>
          <a:p>
            <a:pPr/>
            <a:endParaRPr lang="en-US"/>
          </a:p>
          <a:p>
            <a:pPr algn="l">
              <a:buNone/>
            </a:pPr>
            <a:r>
              <a:rPr lang="en-US" sz="1700" dirty="0" i="1">
                <a:solidFill>
                  <a:srgbClr val="334155"/>
                </a:solidFill>
                <a:latin typeface="Calibri"/>
                <a:ea typeface="Calibri"/>
                <a:cs typeface="Calibri"/>
              </a:rPr>
              <a:t>Plain text in, polished slides out. That's the whole product.</a:t>
            </a:r>
          </a:p>
        </p:txBody>
      </p:sp>
      <p:sp>
        <p:nvSpPr>
          <p:cNvPr id="105" name="DeckFooter105"/>
          <p:cNvSpPr txBox="1"/>
          <p:nvPr/>
        </p:nvSpPr>
        <p:spPr>
          <a:xfrm>
            <a:off x="533400" y="6458000"/>
            <a:ext cx="10325200" cy="30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US" sz="1000" dirty="0">
                <a:solidFill>
                  <a:srgbClr val="94A3B8"/>
                </a:solidFill>
                <a:latin typeface="Calibri"/>
                <a:ea typeface="Calibri"/>
                <a:cs typeface="Calibri"/>
              </a:rPr>
              <a:t>md2any</a:t>
            </a:r>
          </a:p>
        </p:txBody>
      </p:sp>
      <p:sp>
        <p:nvSpPr>
          <p:cNvPr id="106" name="PageNum106"/>
          <p:cNvSpPr txBox="1"/>
          <p:nvPr/>
        </p:nvSpPr>
        <p:spPr>
          <a:xfrm>
            <a:off x="10858600" y="6458000"/>
            <a:ext cx="800000" cy="30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buNone/>
            </a:pPr>
            <a:r>
              <a:rPr lang="en-US" sz="1000" dirty="0">
                <a:solidFill>
                  <a:srgbClr val="94A3B8"/>
                </a:solidFill>
                <a:latin typeface="Calibri"/>
                <a:ea typeface="Calibri"/>
                <a:cs typeface="Calibri"/>
              </a:rPr>
              <a:t>39 / 44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Title100"/>
          <p:cNvSpPr txBox="1"/>
          <p:nvPr/>
        </p:nvSpPr>
        <p:spPr>
          <a:xfrm>
            <a:off x="533400" y="360000"/>
            <a:ext cx="11125200" cy="72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US" sz="2800" dirty="0" b="1">
                <a:solidFill>
                  <a:srgbClr val="0F172A"/>
                </a:solidFill>
                <a:latin typeface="Calibri Light"/>
                <a:ea typeface="Calibri Light"/>
                <a:cs typeface="Calibri Light"/>
              </a:rPr>
              <a:t>Quotes</a:t>
            </a:r>
          </a:p>
        </p:txBody>
      </p:sp>
      <p:sp>
        <p:nvSpPr>
          <p:cNvPr id="101" name="TitleAccent101"/>
          <p:cNvSpPr/>
          <p:nvPr/>
        </p:nvSpPr>
        <p:spPr>
          <a:xfrm>
            <a:off x="533400" y="1110000"/>
            <a:ext cx="400000" cy="5000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txBody>
          <a:bodyPr wrap="square" anchor="ctr"/>
          <a:lstStyle/>
          <a:p>
            <a:endParaRPr lang="en-US"/>
          </a:p>
        </p:txBody>
      </p:sp>
      <p:sp>
        <p:nvSpPr>
          <p:cNvPr id="102" name="TitleDivider102"/>
          <p:cNvSpPr/>
          <p:nvPr/>
        </p:nvSpPr>
        <p:spPr>
          <a:xfrm>
            <a:off x="953400" y="1128000"/>
            <a:ext cx="10705200" cy="140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wrap="square" anchor="ctr"/>
          <a:lstStyle/>
          <a:p>
            <a:endParaRPr lang="en-US"/>
          </a:p>
        </p:txBody>
      </p:sp>
      <p:sp>
        <p:nvSpPr>
          <p:cNvPr id="103" name="Para103"/>
          <p:cNvSpPr txBox="1"/>
          <p:nvPr/>
        </p:nvSpPr>
        <p:spPr>
          <a:xfrm>
            <a:off x="533400" y="1310000"/>
            <a:ext cx="11125200" cy="60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US" sz="1800" dirty="0">
                <a:solidFill>
                  <a:srgbClr val="334155"/>
                </a:solidFill>
                <a:latin typeface="Calibri"/>
                <a:ea typeface="Calibri"/>
                <a:cs typeface="Calibri"/>
              </a:rPr>
              <a:t>This is a continuation slide created with an explicit </a:t>
            </a:r>
            <a:r>
              <a:rPr lang="en-US" sz="1800" dirty="0">
                <a:solidFill>
                  <a:srgbClr val="0369A1"/>
                </a:solidFill>
                <a:latin typeface="Consolas"/>
                <a:ea typeface="Consolas"/>
                <a:cs typeface="Consolas"/>
              </a:rPr>
              <a:t>---</a:t>
            </a:r>
            <a:r>
              <a:rPr lang="en-US" sz="1800" dirty="0">
                <a:solidFill>
                  <a:srgbClr val="334155"/>
                </a:solidFill>
                <a:latin typeface="Calibri"/>
                <a:ea typeface="Calibri"/>
                <a:cs typeface="Calibri"/>
              </a:rPr>
              <a:t> rule. The title carries over.</a:t>
            </a:r>
          </a:p>
        </p:txBody>
      </p:sp>
      <p:sp>
        <p:nvSpPr>
          <p:cNvPr id="104" name="DeckFooter104"/>
          <p:cNvSpPr txBox="1"/>
          <p:nvPr/>
        </p:nvSpPr>
        <p:spPr>
          <a:xfrm>
            <a:off x="533400" y="6458000"/>
            <a:ext cx="10325200" cy="30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US" sz="1000" dirty="0">
                <a:solidFill>
                  <a:srgbClr val="94A3B8"/>
                </a:solidFill>
                <a:latin typeface="Calibri"/>
                <a:ea typeface="Calibri"/>
                <a:cs typeface="Calibri"/>
              </a:rPr>
              <a:t>md2any</a:t>
            </a:r>
          </a:p>
        </p:txBody>
      </p:sp>
      <p:sp>
        <p:nvSpPr>
          <p:cNvPr id="105" name="PageNum105"/>
          <p:cNvSpPr txBox="1"/>
          <p:nvPr/>
        </p:nvSpPr>
        <p:spPr>
          <a:xfrm>
            <a:off x="10858600" y="6458000"/>
            <a:ext cx="800000" cy="30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buNone/>
            </a:pPr>
            <a:r>
              <a:rPr lang="en-US" sz="1000" dirty="0">
                <a:solidFill>
                  <a:srgbClr val="94A3B8"/>
                </a:solidFill>
                <a:latin typeface="Calibri"/>
                <a:ea typeface="Calibri"/>
                <a:cs typeface="Calibri"/>
              </a:rPr>
              <a:t>40 / 44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Marker100"/>
          <p:cNvSpPr/>
          <p:nvPr/>
        </p:nvSpPr>
        <p:spPr>
          <a:xfrm>
            <a:off x="5496000" y="2429000"/>
            <a:ext cx="1200000" cy="60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wrap="square" anchor="ctr"/>
          <a:lstStyle/>
          <a:p>
            <a:endParaRPr lang="en-US"/>
          </a:p>
        </p:txBody>
      </p:sp>
      <p:sp>
        <p:nvSpPr>
          <p:cNvPr id="101" name="SectionTitle101"/>
          <p:cNvSpPr txBox="1"/>
          <p:nvPr/>
        </p:nvSpPr>
        <p:spPr>
          <a:xfrm>
            <a:off x="800000" y="2729000"/>
            <a:ext cx="10592000" cy="150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</a:pPr>
            <a:r>
              <a:rPr lang="en-US" sz="5400" dirty="0" b="1">
                <a:solidFill>
                  <a:srgbClr val="F8FAFC"/>
                </a:solidFill>
                <a:latin typeface="Calibri Light"/>
                <a:ea typeface="Calibri Light"/>
                <a:cs typeface="Calibri Light"/>
              </a:rPr>
              <a:t>Performance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Title100"/>
          <p:cNvSpPr txBox="1"/>
          <p:nvPr/>
        </p:nvSpPr>
        <p:spPr>
          <a:xfrm>
            <a:off x="533400" y="360000"/>
            <a:ext cx="11125200" cy="72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US" sz="2800" dirty="0" b="1">
                <a:solidFill>
                  <a:srgbClr val="0F172A"/>
                </a:solidFill>
                <a:latin typeface="Calibri Light"/>
                <a:ea typeface="Calibri Light"/>
                <a:cs typeface="Calibri Light"/>
              </a:rPr>
              <a:t>Performance</a:t>
            </a:r>
          </a:p>
        </p:txBody>
      </p:sp>
      <p:sp>
        <p:nvSpPr>
          <p:cNvPr id="101" name="TitleAccent101"/>
          <p:cNvSpPr/>
          <p:nvPr/>
        </p:nvSpPr>
        <p:spPr>
          <a:xfrm>
            <a:off x="533400" y="1110000"/>
            <a:ext cx="400000" cy="5000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txBody>
          <a:bodyPr wrap="square" anchor="ctr"/>
          <a:lstStyle/>
          <a:p>
            <a:endParaRPr lang="en-US"/>
          </a:p>
        </p:txBody>
      </p:sp>
      <p:sp>
        <p:nvSpPr>
          <p:cNvPr id="102" name="TitleDivider102"/>
          <p:cNvSpPr/>
          <p:nvPr/>
        </p:nvSpPr>
        <p:spPr>
          <a:xfrm>
            <a:off x="953400" y="1128000"/>
            <a:ext cx="10705200" cy="140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wrap="square" anchor="ctr"/>
          <a:lstStyle/>
          <a:p>
            <a:endParaRPr lang="en-US"/>
          </a:p>
        </p:txBody>
      </p:sp>
      <p:sp>
        <p:nvSpPr>
          <p:cNvPr id="103" name="Para103"/>
          <p:cNvSpPr txBox="1"/>
          <p:nvPr/>
        </p:nvSpPr>
        <p:spPr>
          <a:xfrm>
            <a:off x="533400" y="1310000"/>
            <a:ext cx="11125200" cy="60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US" sz="1800" dirty="0">
                <a:solidFill>
                  <a:srgbClr val="334155"/>
                </a:solidFill>
                <a:latin typeface="Calibri"/>
                <a:ea typeface="Calibri"/>
                <a:cs typeface="Calibri"/>
              </a:rPr>
              <a:t>Single-pass Markdown parse via </a:t>
            </a:r>
            <a:r>
              <a:rPr lang="en-US" sz="1800" dirty="0">
                <a:solidFill>
                  <a:srgbClr val="0369A1"/>
                </a:solidFill>
                <a:latin typeface="Consolas"/>
                <a:ea typeface="Consolas"/>
                <a:cs typeface="Consolas"/>
              </a:rPr>
              <a:t>pulldown-cmark</a:t>
            </a:r>
            <a:r>
              <a:rPr lang="en-US" sz="1800" dirty="0">
                <a:solidFill>
                  <a:srgbClr val="334155"/>
                </a:solidFill>
                <a:latin typeface="Calibri"/>
                <a:ea typeface="Calibri"/>
                <a:cs typeface="Calibri"/>
              </a:rPr>
              <a:t>. OOXML emitted directly to a </a:t>
            </a:r>
            <a:r>
              <a:rPr lang="en-US" sz="1800" dirty="0">
                <a:solidFill>
                  <a:srgbClr val="0369A1"/>
                </a:solidFill>
                <a:latin typeface="Consolas"/>
                <a:ea typeface="Consolas"/>
                <a:cs typeface="Consolas"/>
              </a:rPr>
              <a:t>zip::ZipWriter</a:t>
            </a:r>
            <a:r>
              <a:rPr lang="en-US" sz="1800" dirty="0">
                <a:solidFill>
                  <a:srgbClr val="334155"/>
                </a:solidFill>
                <a:latin typeface="Calibri"/>
                <a:ea typeface="Calibri"/>
                <a:cs typeface="Calibri"/>
              </a:rPr>
              <a:t>. No intermediate AST beyond the slide IR. Cold-start binary in tens of milliseconds.</a:t>
            </a:r>
          </a:p>
        </p:txBody>
      </p:sp>
      <p:sp>
        <p:nvSpPr>
          <p:cNvPr id="104" name="Para104"/>
          <p:cNvSpPr txBox="1"/>
          <p:nvPr/>
        </p:nvSpPr>
        <p:spPr>
          <a:xfrm>
            <a:off x="533400" y="1990000"/>
            <a:ext cx="11125200" cy="60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US" sz="1800" dirty="0">
                <a:solidFill>
                  <a:srgbClr val="334155"/>
                </a:solidFill>
                <a:latin typeface="Calibri"/>
                <a:ea typeface="Calibri"/>
                <a:cs typeface="Calibri"/>
              </a:rPr>
              <a:t>A thousand-slide deck renders in about 30 ms on commodity hardware.</a:t>
            </a:r>
          </a:p>
        </p:txBody>
      </p:sp>
      <p:sp>
        <p:nvSpPr>
          <p:cNvPr id="105" name="DeckFooter105"/>
          <p:cNvSpPr txBox="1"/>
          <p:nvPr/>
        </p:nvSpPr>
        <p:spPr>
          <a:xfrm>
            <a:off x="533400" y="6458000"/>
            <a:ext cx="10325200" cy="30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US" sz="1000" dirty="0">
                <a:solidFill>
                  <a:srgbClr val="94A3B8"/>
                </a:solidFill>
                <a:latin typeface="Calibri"/>
                <a:ea typeface="Calibri"/>
                <a:cs typeface="Calibri"/>
              </a:rPr>
              <a:t>md2any</a:t>
            </a:r>
          </a:p>
        </p:txBody>
      </p:sp>
      <p:sp>
        <p:nvSpPr>
          <p:cNvPr id="106" name="PageNum106"/>
          <p:cNvSpPr txBox="1"/>
          <p:nvPr/>
        </p:nvSpPr>
        <p:spPr>
          <a:xfrm>
            <a:off x="10858600" y="6458000"/>
            <a:ext cx="800000" cy="30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buNone/>
            </a:pPr>
            <a:r>
              <a:rPr lang="en-US" sz="1000" dirty="0">
                <a:solidFill>
                  <a:srgbClr val="94A3B8"/>
                </a:solidFill>
                <a:latin typeface="Calibri"/>
                <a:ea typeface="Calibri"/>
                <a:cs typeface="Calibri"/>
              </a:rPr>
              <a:t>42 / 44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Marker100"/>
          <p:cNvSpPr/>
          <p:nvPr/>
        </p:nvSpPr>
        <p:spPr>
          <a:xfrm>
            <a:off x="5496000" y="2429000"/>
            <a:ext cx="1200000" cy="60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wrap="square" anchor="ctr"/>
          <a:lstStyle/>
          <a:p>
            <a:endParaRPr lang="en-US"/>
          </a:p>
        </p:txBody>
      </p:sp>
      <p:sp>
        <p:nvSpPr>
          <p:cNvPr id="101" name="SectionTitle101"/>
          <p:cNvSpPr txBox="1"/>
          <p:nvPr/>
        </p:nvSpPr>
        <p:spPr>
          <a:xfrm>
            <a:off x="800000" y="2729000"/>
            <a:ext cx="10592000" cy="150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</a:pPr>
            <a:r>
              <a:rPr lang="en-US" sz="5400" dirty="0" b="1">
                <a:solidFill>
                  <a:srgbClr val="F8FAFC"/>
                </a:solidFill>
                <a:latin typeface="Calibri Light"/>
                <a:ea typeface="Calibri Light"/>
                <a:cs typeface="Calibri Light"/>
              </a:rPr>
              <a:t>That's it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Title100"/>
          <p:cNvSpPr txBox="1"/>
          <p:nvPr/>
        </p:nvSpPr>
        <p:spPr>
          <a:xfrm>
            <a:off x="533400" y="360000"/>
            <a:ext cx="11125200" cy="72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US" sz="2800" dirty="0" b="1">
                <a:solidFill>
                  <a:srgbClr val="0F172A"/>
                </a:solidFill>
                <a:latin typeface="Calibri Light"/>
                <a:ea typeface="Calibri Light"/>
                <a:cs typeface="Calibri Light"/>
              </a:rPr>
              <a:t>That's it</a:t>
            </a:r>
          </a:p>
        </p:txBody>
      </p:sp>
      <p:sp>
        <p:nvSpPr>
          <p:cNvPr id="101" name="TitleAccent101"/>
          <p:cNvSpPr/>
          <p:nvPr/>
        </p:nvSpPr>
        <p:spPr>
          <a:xfrm>
            <a:off x="533400" y="1110000"/>
            <a:ext cx="400000" cy="5000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txBody>
          <a:bodyPr wrap="square" anchor="ctr"/>
          <a:lstStyle/>
          <a:p>
            <a:endParaRPr lang="en-US"/>
          </a:p>
        </p:txBody>
      </p:sp>
      <p:sp>
        <p:nvSpPr>
          <p:cNvPr id="102" name="TitleDivider102"/>
          <p:cNvSpPr/>
          <p:nvPr/>
        </p:nvSpPr>
        <p:spPr>
          <a:xfrm>
            <a:off x="953400" y="1128000"/>
            <a:ext cx="10705200" cy="140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wrap="square" anchor="ctr"/>
          <a:lstStyle/>
          <a:p>
            <a:endParaRPr lang="en-US"/>
          </a:p>
        </p:txBody>
      </p:sp>
      <p:sp>
        <p:nvSpPr>
          <p:cNvPr id="103" name="Para103"/>
          <p:cNvSpPr txBox="1"/>
          <p:nvPr/>
        </p:nvSpPr>
        <p:spPr>
          <a:xfrm>
            <a:off x="533400" y="1310000"/>
            <a:ext cx="11125200" cy="60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US" sz="1800" dirty="0">
                <a:solidFill>
                  <a:srgbClr val="334155"/>
                </a:solidFill>
                <a:latin typeface="Calibri"/>
                <a:ea typeface="Calibri"/>
                <a:cs typeface="Calibri"/>
              </a:rPr>
              <a:t>Write Markdown. Run one command. Open the </a:t>
            </a:r>
            <a:r>
              <a:rPr lang="en-US" sz="1800" dirty="0">
                <a:solidFill>
                  <a:srgbClr val="0369A1"/>
                </a:solidFill>
                <a:latin typeface="Consolas"/>
                <a:ea typeface="Consolas"/>
                <a:cs typeface="Consolas"/>
              </a:rPr>
              <a:t>.pptx</a:t>
            </a:r>
            <a:r>
              <a:rPr lang="en-US" sz="1800" dirty="0">
                <a:solidFill>
                  <a:srgbClr val="334155"/>
                </a:solidFill>
                <a:latin typeface="Calibri"/>
                <a:ea typeface="Calibri"/>
                <a:cs typeface="Calibri"/>
              </a:rPr>
              <a:t>. Present.</a:t>
            </a:r>
          </a:p>
        </p:txBody>
      </p:sp>
      <p:sp>
        <p:nvSpPr>
          <p:cNvPr id="104" name="DeckFooter104"/>
          <p:cNvSpPr txBox="1"/>
          <p:nvPr/>
        </p:nvSpPr>
        <p:spPr>
          <a:xfrm>
            <a:off x="533400" y="6458000"/>
            <a:ext cx="10325200" cy="30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US" sz="1000" dirty="0">
                <a:solidFill>
                  <a:srgbClr val="94A3B8"/>
                </a:solidFill>
                <a:latin typeface="Calibri"/>
                <a:ea typeface="Calibri"/>
                <a:cs typeface="Calibri"/>
              </a:rPr>
              <a:t>md2any</a:t>
            </a:r>
          </a:p>
        </p:txBody>
      </p:sp>
      <p:sp>
        <p:nvSpPr>
          <p:cNvPr id="105" name="PageNum105"/>
          <p:cNvSpPr txBox="1"/>
          <p:nvPr/>
        </p:nvSpPr>
        <p:spPr>
          <a:xfrm>
            <a:off x="10858600" y="6458000"/>
            <a:ext cx="800000" cy="30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buNone/>
            </a:pPr>
            <a:r>
              <a:rPr lang="en-US" sz="1000" dirty="0">
                <a:solidFill>
                  <a:srgbClr val="94A3B8"/>
                </a:solidFill>
                <a:latin typeface="Calibri"/>
                <a:ea typeface="Calibri"/>
                <a:cs typeface="Calibri"/>
              </a:rPr>
              <a:t>44 / 44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d2any">
  <a:themeElements>
    <a:clrScheme name="md2any">
      <a:dk1>
        <a:sysClr val="windowText" lastClr="000000"/>
      </a:dk1>
      <a:lt1>
        <a:sysClr val="window" lastClr="FFFFFF"/>
      </a:lt1>
      <a:dk2>
        <a:srgbClr val="0F172A"/>
      </a:dk2>
      <a:lt2>
        <a:srgbClr val="E2E8F0"/>
      </a:lt2>
      <a:accent1>
        <a:srgbClr val="0EA5E9"/>
      </a:accent1>
      <a:accent2>
        <a:srgbClr val="0F172A"/>
      </a:accent2>
      <a:accent3>
        <a:srgbClr val="334155"/>
      </a:accent3>
      <a:accent4>
        <a:srgbClr val="94A3B8"/>
      </a:accent4>
      <a:accent5>
        <a:srgbClr val="E2E8F0"/>
      </a:accent5>
      <a:accent6>
        <a:srgbClr val="E0F2FE"/>
      </a:accent6>
      <a:hlink>
        <a:srgbClr val="0EA5E9"/>
      </a:hlink>
      <a:folHlink>
        <a:srgbClr val="94A3B8"/>
      </a:folHlink>
    </a:clrScheme>
    <a:fontScheme name="md2any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md2any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md2any</Application>
  <Slides>44</Slides>
  <TitlesOfParts>
    <vt:vector size="1" baseType="lpstr">
      <vt:lpstr>md2any</vt:lpstr>
    </vt:vector>
  </TitlesOfParts>
  <Company/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md2any</dc:title>
  <dc:creator>Paul Anderson</dc:creator>
  <cp:lastModifiedBy>Paul Anderson</cp:lastModifiedBy>
  <cp:revision>1</cp:revision>
  <dcterms:created xsi:type="dcterms:W3CDTF">2026-01-01T00:00:00Z</dcterms:created>
  <dcterms:modified xsi:type="dcterms:W3CDTF">2026-01-01T00:00:00Z</dcterms:modified>
</cp:coreProperties>
</file>